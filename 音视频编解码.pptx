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2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3" r:id="rId19"/>
    <p:sldId id="274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818" autoAdjust="0"/>
    <p:restoredTop sz="94660"/>
  </p:normalViewPr>
  <p:slideViewPr>
    <p:cSldViewPr snapToGrid="0">
      <p:cViewPr>
        <p:scale>
          <a:sx n="150" d="100"/>
          <a:sy n="150" d="100"/>
        </p:scale>
        <p:origin x="-342" y="-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103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6327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359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5011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7707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3374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868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6373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680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596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2019/7/18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6865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80D996-CE9E-432A-86C4-A040E9078786}" type="datetimeFigureOut">
              <a:rPr lang="zh-CN" altLang="en-US" smtClean="0"/>
              <a:t>2019/7/18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105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457198" y="1180407"/>
            <a:ext cx="137991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AVFormatContext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AVInputFormat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AVStream[0]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AVStream[1]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312918" y="1741663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4312918" y="118040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57198" y="262636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792284" y="2628472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042552" y="346652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105100" y="3460271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034316" y="261444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肘形连接符 16"/>
          <p:cNvCxnSpPr>
            <a:stCxn id="5" idx="3"/>
            <a:endCxn id="6" idx="1"/>
          </p:cNvCxnSpPr>
          <p:nvPr/>
        </p:nvCxnSpPr>
        <p:spPr>
          <a:xfrm flipV="1">
            <a:off x="1837114" y="818768"/>
            <a:ext cx="577040" cy="5736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连接符 18"/>
          <p:cNvCxnSpPr>
            <a:stCxn id="5" idx="3"/>
            <a:endCxn id="8" idx="1"/>
          </p:cNvCxnSpPr>
          <p:nvPr/>
        </p:nvCxnSpPr>
        <p:spPr>
          <a:xfrm>
            <a:off x="1837114" y="1392382"/>
            <a:ext cx="577040" cy="55592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/>
        </p:nvCxnSpPr>
        <p:spPr>
          <a:xfrm>
            <a:off x="2057400" y="1392386"/>
            <a:ext cx="3567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7" idx="3"/>
            <a:endCxn id="10" idx="1"/>
          </p:cNvCxnSpPr>
          <p:nvPr/>
        </p:nvCxnSpPr>
        <p:spPr>
          <a:xfrm>
            <a:off x="3735878" y="1384073"/>
            <a:ext cx="577040" cy="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8" idx="3"/>
            <a:endCxn id="9" idx="1"/>
          </p:cNvCxnSpPr>
          <p:nvPr/>
        </p:nvCxnSpPr>
        <p:spPr>
          <a:xfrm>
            <a:off x="3735878" y="1948309"/>
            <a:ext cx="577040" cy="5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右箭头 28"/>
          <p:cNvSpPr/>
          <p:nvPr/>
        </p:nvSpPr>
        <p:spPr>
          <a:xfrm>
            <a:off x="1954874" y="2758346"/>
            <a:ext cx="1079442" cy="167174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2540228" y="3615622"/>
            <a:ext cx="1564872" cy="113247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1939371" y="2392547"/>
            <a:ext cx="1183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avcodec_parameters_to_context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8" name="直接箭头连接符 37"/>
          <p:cNvCxnSpPr>
            <a:stCxn id="15" idx="3"/>
            <a:endCxn id="12" idx="1"/>
          </p:cNvCxnSpPr>
          <p:nvPr/>
        </p:nvCxnSpPr>
        <p:spPr>
          <a:xfrm>
            <a:off x="4531992" y="2826423"/>
            <a:ext cx="260292" cy="1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2601320" y="3369400"/>
            <a:ext cx="14365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avcodec_send_packet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2586148" y="3672245"/>
            <a:ext cx="15189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avcodec_receive_frame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44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/>
          <p:cNvSpPr/>
          <p:nvPr/>
        </p:nvSpPr>
        <p:spPr>
          <a:xfrm>
            <a:off x="6847954" y="706947"/>
            <a:ext cx="1625486" cy="170097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232314" y="421340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4248494" y="1030742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 size</a:t>
            </a: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AVBufferRef* buf 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4423062" y="1159625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AVBuffer* buffer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4423062" y="175193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4423062" y="2331720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int* size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49886" y="780377"/>
            <a:ext cx="1225434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用户数据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7049885" y="1212635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引用计数值</a:t>
            </a:r>
            <a:endParaRPr lang="en-US" altLang="zh-CN" sz="1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275513" y="2778555"/>
            <a:ext cx="1693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</a:t>
            </a:r>
          </a:p>
          <a:p>
            <a:pPr algn="ctr"/>
            <a:r>
              <a:rPr lang="zh-CN" alt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（引用计数智能指针）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直接箭头连接符 15"/>
          <p:cNvCxnSpPr>
            <a:stCxn id="8" idx="3"/>
          </p:cNvCxnSpPr>
          <p:nvPr/>
        </p:nvCxnSpPr>
        <p:spPr>
          <a:xfrm flipV="1">
            <a:off x="3735878" y="1948308"/>
            <a:ext cx="53963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/>
          <p:cNvSpPr txBox="1"/>
          <p:nvPr/>
        </p:nvSpPr>
        <p:spPr>
          <a:xfrm>
            <a:off x="2321677" y="2239296"/>
            <a:ext cx="16937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7049883" y="1636584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直接箭头连接符 54"/>
          <p:cNvCxnSpPr/>
          <p:nvPr/>
        </p:nvCxnSpPr>
        <p:spPr>
          <a:xfrm>
            <a:off x="5744785" y="1367803"/>
            <a:ext cx="1103169" cy="3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任意多边形 58"/>
          <p:cNvSpPr/>
          <p:nvPr/>
        </p:nvSpPr>
        <p:spPr>
          <a:xfrm>
            <a:off x="3741420" y="182183"/>
            <a:ext cx="3299460" cy="739837"/>
          </a:xfrm>
          <a:custGeom>
            <a:avLst/>
            <a:gdLst>
              <a:gd name="connsiteX0" fmla="*/ 0 w 3299460"/>
              <a:gd name="connsiteY0" fmla="*/ 633157 h 739837"/>
              <a:gd name="connsiteX1" fmla="*/ 1143000 w 3299460"/>
              <a:gd name="connsiteY1" fmla="*/ 697 h 739837"/>
              <a:gd name="connsiteX2" fmla="*/ 3299460 w 3299460"/>
              <a:gd name="connsiteY2" fmla="*/ 739837 h 739837"/>
              <a:gd name="connsiteX3" fmla="*/ 3299460 w 3299460"/>
              <a:gd name="connsiteY3" fmla="*/ 739837 h 73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99460" h="739837">
                <a:moveTo>
                  <a:pt x="0" y="633157"/>
                </a:moveTo>
                <a:cubicBezTo>
                  <a:pt x="296545" y="308037"/>
                  <a:pt x="593090" y="-17083"/>
                  <a:pt x="1143000" y="697"/>
                </a:cubicBezTo>
                <a:cubicBezTo>
                  <a:pt x="1692910" y="18477"/>
                  <a:pt x="3299460" y="739837"/>
                  <a:pt x="3299460" y="739837"/>
                </a:cubicBezTo>
                <a:lnTo>
                  <a:pt x="3299460" y="739837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 63"/>
          <p:cNvSpPr/>
          <p:nvPr/>
        </p:nvSpPr>
        <p:spPr>
          <a:xfrm>
            <a:off x="5745480" y="1059180"/>
            <a:ext cx="1295400" cy="958326"/>
          </a:xfrm>
          <a:custGeom>
            <a:avLst/>
            <a:gdLst>
              <a:gd name="connsiteX0" fmla="*/ 0 w 1295400"/>
              <a:gd name="connsiteY0" fmla="*/ 914400 h 958326"/>
              <a:gd name="connsiteX1" fmla="*/ 845820 w 1295400"/>
              <a:gd name="connsiteY1" fmla="*/ 853440 h 958326"/>
              <a:gd name="connsiteX2" fmla="*/ 1295400 w 1295400"/>
              <a:gd name="connsiteY2" fmla="*/ 0 h 958326"/>
              <a:gd name="connsiteX3" fmla="*/ 1295400 w 1295400"/>
              <a:gd name="connsiteY3" fmla="*/ 0 h 958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5400" h="958326">
                <a:moveTo>
                  <a:pt x="0" y="914400"/>
                </a:moveTo>
                <a:cubicBezTo>
                  <a:pt x="314960" y="960120"/>
                  <a:pt x="629920" y="1005840"/>
                  <a:pt x="845820" y="853440"/>
                </a:cubicBezTo>
                <a:cubicBezTo>
                  <a:pt x="1061720" y="701040"/>
                  <a:pt x="1295400" y="0"/>
                  <a:pt x="1295400" y="0"/>
                </a:cubicBezTo>
                <a:lnTo>
                  <a:pt x="1295400" y="0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2126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6884321" y="32979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正常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未按下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046430" y="22261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正常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270622" y="1064356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暂停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270622" y="329799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暂停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未按下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884321" y="1064356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快进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6202462" y="3542674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曲线连接符 30"/>
          <p:cNvCxnSpPr>
            <a:stCxn id="5" idx="0"/>
            <a:endCxn id="8" idx="1"/>
          </p:cNvCxnSpPr>
          <p:nvPr/>
        </p:nvCxnSpPr>
        <p:spPr>
          <a:xfrm rot="5400000" flipH="1" flipV="1">
            <a:off x="5820873" y="1162751"/>
            <a:ext cx="949867" cy="117702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6161594" y="146803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曲线连接符 34"/>
          <p:cNvCxnSpPr>
            <a:stCxn id="8" idx="0"/>
            <a:endCxn id="8" idx="3"/>
          </p:cNvCxnSpPr>
          <p:nvPr/>
        </p:nvCxnSpPr>
        <p:spPr>
          <a:xfrm rot="16200000" flipH="1">
            <a:off x="7769626" y="839912"/>
            <a:ext cx="211975" cy="660862"/>
          </a:xfrm>
          <a:prstGeom prst="curvedConnector4">
            <a:avLst>
              <a:gd name="adj1" fmla="val -262420"/>
              <a:gd name="adj2" fmla="val 15188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8206045" y="293395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956789" y="222619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曲线连接符 42"/>
          <p:cNvCxnSpPr>
            <a:stCxn id="5" idx="0"/>
            <a:endCxn id="6" idx="3"/>
          </p:cNvCxnSpPr>
          <p:nvPr/>
        </p:nvCxnSpPr>
        <p:spPr>
          <a:xfrm rot="16200000" flipV="1">
            <a:off x="4674886" y="1193792"/>
            <a:ext cx="949867" cy="1114946"/>
          </a:xfrm>
          <a:prstGeom prst="curved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/>
          <p:cNvSpPr txBox="1"/>
          <p:nvPr/>
        </p:nvSpPr>
        <p:spPr>
          <a:xfrm>
            <a:off x="5057427" y="1489554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曲线连接符 45"/>
          <p:cNvCxnSpPr>
            <a:stCxn id="6" idx="1"/>
            <a:endCxn id="7" idx="1"/>
          </p:cNvCxnSpPr>
          <p:nvPr/>
        </p:nvCxnSpPr>
        <p:spPr>
          <a:xfrm rot="10800000" flipV="1">
            <a:off x="3270622" y="1276331"/>
            <a:ext cx="12700" cy="2233638"/>
          </a:xfrm>
          <a:prstGeom prst="curvedConnector3">
            <a:avLst>
              <a:gd name="adj1" fmla="val 756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>
            <a:off x="1965432" y="2226198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曲线连接符 48"/>
          <p:cNvCxnSpPr>
            <a:stCxn id="7" idx="3"/>
            <a:endCxn id="5" idx="2"/>
          </p:cNvCxnSpPr>
          <p:nvPr/>
        </p:nvCxnSpPr>
        <p:spPr>
          <a:xfrm flipV="1">
            <a:off x="4592346" y="2650147"/>
            <a:ext cx="1114946" cy="859822"/>
          </a:xfrm>
          <a:prstGeom prst="curved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/>
          <p:cNvSpPr txBox="1"/>
          <p:nvPr/>
        </p:nvSpPr>
        <p:spPr>
          <a:xfrm>
            <a:off x="5126313" y="350996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曲线连接符 56"/>
          <p:cNvCxnSpPr>
            <a:stCxn id="6" idx="0"/>
            <a:endCxn id="8" idx="0"/>
          </p:cNvCxnSpPr>
          <p:nvPr/>
        </p:nvCxnSpPr>
        <p:spPr>
          <a:xfrm rot="5400000" flipH="1" flipV="1">
            <a:off x="5738333" y="-742493"/>
            <a:ext cx="12700" cy="3613699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5510646" y="310952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曲线连接符 67"/>
          <p:cNvCxnSpPr>
            <a:stCxn id="8" idx="3"/>
            <a:endCxn id="4" idx="3"/>
          </p:cNvCxnSpPr>
          <p:nvPr/>
        </p:nvCxnSpPr>
        <p:spPr>
          <a:xfrm>
            <a:off x="8206045" y="1276331"/>
            <a:ext cx="12700" cy="2233637"/>
          </a:xfrm>
          <a:prstGeom prst="curvedConnector3">
            <a:avLst>
              <a:gd name="adj1" fmla="val 672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曲线连接符 75"/>
          <p:cNvCxnSpPr>
            <a:stCxn id="4" idx="1"/>
            <a:endCxn id="5" idx="2"/>
          </p:cNvCxnSpPr>
          <p:nvPr/>
        </p:nvCxnSpPr>
        <p:spPr>
          <a:xfrm rot="10800000">
            <a:off x="5707293" y="2650148"/>
            <a:ext cx="1177029" cy="85982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本框 80"/>
          <p:cNvSpPr txBox="1"/>
          <p:nvPr/>
        </p:nvSpPr>
        <p:spPr>
          <a:xfrm>
            <a:off x="213360" y="3939540"/>
            <a:ext cx="21412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暂停状态什么都不做</a:t>
            </a:r>
            <a:endParaRPr lang="en-US" altLang="zh-CN" dirty="0" smtClean="0"/>
          </a:p>
          <a:p>
            <a:r>
              <a:rPr lang="zh-CN" altLang="en-US" dirty="0" smtClean="0"/>
              <a:t>快进和正常状态 设置间隔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80810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5568790" y="3302183"/>
            <a:ext cx="2297556" cy="36390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3292440" y="4139737"/>
            <a:ext cx="1276461" cy="34082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638622" y="4705002"/>
            <a:ext cx="1276461" cy="34082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056966" y="5212078"/>
            <a:ext cx="558840" cy="282634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椭圆 7"/>
          <p:cNvSpPr/>
          <p:nvPr/>
        </p:nvSpPr>
        <p:spPr>
          <a:xfrm>
            <a:off x="1159624" y="5311832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/>
          <p:cNvSpPr/>
          <p:nvPr/>
        </p:nvSpPr>
        <p:spPr>
          <a:xfrm>
            <a:off x="1393858" y="5311832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/>
        </p:nvSpPr>
        <p:spPr>
          <a:xfrm>
            <a:off x="162809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/>
          <p:cNvSpPr/>
          <p:nvPr/>
        </p:nvSpPr>
        <p:spPr>
          <a:xfrm>
            <a:off x="186232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209656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233079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256502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279926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椭圆 15"/>
          <p:cNvSpPr/>
          <p:nvPr/>
        </p:nvSpPr>
        <p:spPr>
          <a:xfrm>
            <a:off x="303349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/>
          <p:cNvSpPr/>
          <p:nvPr/>
        </p:nvSpPr>
        <p:spPr>
          <a:xfrm>
            <a:off x="326773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椭圆 17"/>
          <p:cNvSpPr/>
          <p:nvPr/>
        </p:nvSpPr>
        <p:spPr>
          <a:xfrm>
            <a:off x="350196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椭圆 18"/>
          <p:cNvSpPr/>
          <p:nvPr/>
        </p:nvSpPr>
        <p:spPr>
          <a:xfrm>
            <a:off x="373619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/>
          <p:cNvSpPr/>
          <p:nvPr/>
        </p:nvSpPr>
        <p:spPr>
          <a:xfrm>
            <a:off x="397043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/>
          <p:cNvSpPr/>
          <p:nvPr/>
        </p:nvSpPr>
        <p:spPr>
          <a:xfrm>
            <a:off x="420466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443890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467313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490736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514160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537583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561007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椭圆 27"/>
          <p:cNvSpPr/>
          <p:nvPr/>
        </p:nvSpPr>
        <p:spPr>
          <a:xfrm>
            <a:off x="584430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椭圆 28"/>
          <p:cNvSpPr/>
          <p:nvPr/>
        </p:nvSpPr>
        <p:spPr>
          <a:xfrm>
            <a:off x="607853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椭圆 29"/>
          <p:cNvSpPr/>
          <p:nvPr/>
        </p:nvSpPr>
        <p:spPr>
          <a:xfrm>
            <a:off x="631277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椭圆 30"/>
          <p:cNvSpPr/>
          <p:nvPr/>
        </p:nvSpPr>
        <p:spPr>
          <a:xfrm>
            <a:off x="654700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/>
          <p:cNvSpPr/>
          <p:nvPr/>
        </p:nvSpPr>
        <p:spPr>
          <a:xfrm>
            <a:off x="678124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椭圆 32"/>
          <p:cNvSpPr/>
          <p:nvPr/>
        </p:nvSpPr>
        <p:spPr>
          <a:xfrm>
            <a:off x="701547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椭圆 33"/>
          <p:cNvSpPr/>
          <p:nvPr/>
        </p:nvSpPr>
        <p:spPr>
          <a:xfrm>
            <a:off x="724970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/>
          <p:cNvSpPr/>
          <p:nvPr/>
        </p:nvSpPr>
        <p:spPr>
          <a:xfrm>
            <a:off x="748394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/>
          <p:cNvSpPr/>
          <p:nvPr/>
        </p:nvSpPr>
        <p:spPr>
          <a:xfrm>
            <a:off x="771817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/>
          <p:cNvSpPr/>
          <p:nvPr/>
        </p:nvSpPr>
        <p:spPr>
          <a:xfrm>
            <a:off x="795241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/>
          <p:cNvSpPr/>
          <p:nvPr/>
        </p:nvSpPr>
        <p:spPr>
          <a:xfrm>
            <a:off x="818664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/>
          <p:cNvSpPr/>
          <p:nvPr/>
        </p:nvSpPr>
        <p:spPr>
          <a:xfrm>
            <a:off x="842089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/>
          <p:cNvSpPr/>
          <p:nvPr/>
        </p:nvSpPr>
        <p:spPr>
          <a:xfrm>
            <a:off x="1300941" y="479644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/>
          <p:cNvSpPr/>
          <p:nvPr/>
        </p:nvSpPr>
        <p:spPr>
          <a:xfrm flipH="1">
            <a:off x="1721009" y="4796444"/>
            <a:ext cx="141318" cy="141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/>
          <p:cNvSpPr/>
          <p:nvPr/>
        </p:nvSpPr>
        <p:spPr>
          <a:xfrm>
            <a:off x="2223929" y="479644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/>
          <p:cNvSpPr/>
          <p:nvPr/>
        </p:nvSpPr>
        <p:spPr>
          <a:xfrm flipH="1">
            <a:off x="2679879" y="4796443"/>
            <a:ext cx="141318" cy="141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/>
          <p:cNvSpPr/>
          <p:nvPr/>
        </p:nvSpPr>
        <p:spPr>
          <a:xfrm>
            <a:off x="3160865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/>
          <p:cNvSpPr/>
          <p:nvPr/>
        </p:nvSpPr>
        <p:spPr>
          <a:xfrm flipH="1">
            <a:off x="3616815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/>
          <p:cNvSpPr/>
          <p:nvPr/>
        </p:nvSpPr>
        <p:spPr>
          <a:xfrm>
            <a:off x="4072766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/>
          <p:cNvSpPr/>
          <p:nvPr/>
        </p:nvSpPr>
        <p:spPr>
          <a:xfrm flipH="1">
            <a:off x="4531816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/>
          <p:cNvSpPr/>
          <p:nvPr/>
        </p:nvSpPr>
        <p:spPr>
          <a:xfrm>
            <a:off x="5026427" y="4796443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/>
          <p:cNvSpPr/>
          <p:nvPr/>
        </p:nvSpPr>
        <p:spPr>
          <a:xfrm flipH="1">
            <a:off x="5446495" y="4796444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椭圆 49"/>
          <p:cNvSpPr/>
          <p:nvPr/>
        </p:nvSpPr>
        <p:spPr>
          <a:xfrm>
            <a:off x="5949415" y="4796443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/>
          <p:cNvSpPr/>
          <p:nvPr/>
        </p:nvSpPr>
        <p:spPr>
          <a:xfrm flipH="1">
            <a:off x="6405365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/>
          <p:cNvSpPr/>
          <p:nvPr/>
        </p:nvSpPr>
        <p:spPr>
          <a:xfrm>
            <a:off x="6886351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/>
          <p:cNvSpPr/>
          <p:nvPr/>
        </p:nvSpPr>
        <p:spPr>
          <a:xfrm flipH="1">
            <a:off x="7342301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/>
          <p:cNvSpPr/>
          <p:nvPr/>
        </p:nvSpPr>
        <p:spPr>
          <a:xfrm>
            <a:off x="7798252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/>
          <p:cNvSpPr/>
          <p:nvPr/>
        </p:nvSpPr>
        <p:spPr>
          <a:xfrm flipH="1">
            <a:off x="8257302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/>
          <p:cNvSpPr/>
          <p:nvPr/>
        </p:nvSpPr>
        <p:spPr>
          <a:xfrm>
            <a:off x="1491207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/>
          <p:cNvSpPr/>
          <p:nvPr/>
        </p:nvSpPr>
        <p:spPr>
          <a:xfrm>
            <a:off x="2445420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/>
          <p:cNvSpPr/>
          <p:nvPr/>
        </p:nvSpPr>
        <p:spPr>
          <a:xfrm>
            <a:off x="3398609" y="4272742"/>
            <a:ext cx="101050" cy="1080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/>
          <p:cNvSpPr/>
          <p:nvPr/>
        </p:nvSpPr>
        <p:spPr>
          <a:xfrm>
            <a:off x="4352821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/>
          <p:cNvSpPr/>
          <p:nvPr/>
        </p:nvSpPr>
        <p:spPr>
          <a:xfrm>
            <a:off x="5232113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/>
          <p:cNvSpPr/>
          <p:nvPr/>
        </p:nvSpPr>
        <p:spPr>
          <a:xfrm>
            <a:off x="6186326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/>
          <p:cNvSpPr/>
          <p:nvPr/>
        </p:nvSpPr>
        <p:spPr>
          <a:xfrm>
            <a:off x="7139514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/>
          <p:cNvSpPr/>
          <p:nvPr/>
        </p:nvSpPr>
        <p:spPr>
          <a:xfrm>
            <a:off x="8029988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/>
          <p:cNvSpPr/>
          <p:nvPr/>
        </p:nvSpPr>
        <p:spPr>
          <a:xfrm>
            <a:off x="1955243" y="3433156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/>
          <p:cNvSpPr/>
          <p:nvPr/>
        </p:nvSpPr>
        <p:spPr>
          <a:xfrm>
            <a:off x="4743792" y="2219497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椭圆 65"/>
          <p:cNvSpPr/>
          <p:nvPr/>
        </p:nvSpPr>
        <p:spPr>
          <a:xfrm>
            <a:off x="5658927" y="3433154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/>
          <p:cNvSpPr/>
          <p:nvPr/>
        </p:nvSpPr>
        <p:spPr>
          <a:xfrm>
            <a:off x="7554600" y="343315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/>
          <p:cNvSpPr/>
          <p:nvPr/>
        </p:nvSpPr>
        <p:spPr>
          <a:xfrm>
            <a:off x="2940579" y="2867889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/>
          <p:cNvSpPr/>
          <p:nvPr/>
        </p:nvSpPr>
        <p:spPr>
          <a:xfrm>
            <a:off x="6688323" y="2867889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箭头连接符 69"/>
          <p:cNvCxnSpPr>
            <a:stCxn id="65" idx="3"/>
            <a:endCxn id="68" idx="7"/>
          </p:cNvCxnSpPr>
          <p:nvPr/>
        </p:nvCxnSpPr>
        <p:spPr>
          <a:xfrm flipH="1">
            <a:off x="3061201" y="2340119"/>
            <a:ext cx="1703286" cy="548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/>
          <p:cNvCxnSpPr>
            <a:stCxn id="65" idx="5"/>
            <a:endCxn id="69" idx="1"/>
          </p:cNvCxnSpPr>
          <p:nvPr/>
        </p:nvCxnSpPr>
        <p:spPr>
          <a:xfrm>
            <a:off x="4864414" y="2340119"/>
            <a:ext cx="1844604" cy="548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/>
          <p:cNvCxnSpPr>
            <a:stCxn id="68" idx="3"/>
            <a:endCxn id="64" idx="0"/>
          </p:cNvCxnSpPr>
          <p:nvPr/>
        </p:nvCxnSpPr>
        <p:spPr>
          <a:xfrm flipH="1">
            <a:off x="2025902" y="2988511"/>
            <a:ext cx="935372" cy="44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/>
          <p:cNvSpPr/>
          <p:nvPr/>
        </p:nvSpPr>
        <p:spPr>
          <a:xfrm>
            <a:off x="3877515" y="3472597"/>
            <a:ext cx="101050" cy="1080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4" name="直接箭头连接符 73"/>
          <p:cNvCxnSpPr>
            <a:stCxn id="68" idx="4"/>
            <a:endCxn id="73" idx="0"/>
          </p:cNvCxnSpPr>
          <p:nvPr/>
        </p:nvCxnSpPr>
        <p:spPr>
          <a:xfrm>
            <a:off x="3011238" y="3009206"/>
            <a:ext cx="916802" cy="4633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/>
          <p:cNvCxnSpPr>
            <a:stCxn id="69" idx="3"/>
            <a:endCxn id="66" idx="7"/>
          </p:cNvCxnSpPr>
          <p:nvPr/>
        </p:nvCxnSpPr>
        <p:spPr>
          <a:xfrm flipH="1">
            <a:off x="5779549" y="2988511"/>
            <a:ext cx="929469" cy="4653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/>
          <p:cNvCxnSpPr>
            <a:stCxn id="69" idx="4"/>
            <a:endCxn id="67" idx="1"/>
          </p:cNvCxnSpPr>
          <p:nvPr/>
        </p:nvCxnSpPr>
        <p:spPr>
          <a:xfrm>
            <a:off x="6758982" y="3009206"/>
            <a:ext cx="816313" cy="4446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/>
          <p:cNvCxnSpPr>
            <a:stCxn id="64" idx="3"/>
            <a:endCxn id="56" idx="0"/>
          </p:cNvCxnSpPr>
          <p:nvPr/>
        </p:nvCxnSpPr>
        <p:spPr>
          <a:xfrm flipH="1">
            <a:off x="1561866" y="3553778"/>
            <a:ext cx="414072" cy="6857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64" idx="5"/>
            <a:endCxn id="57" idx="7"/>
          </p:cNvCxnSpPr>
          <p:nvPr/>
        </p:nvCxnSpPr>
        <p:spPr>
          <a:xfrm>
            <a:off x="2075865" y="3553778"/>
            <a:ext cx="490177" cy="706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>
            <a:stCxn id="73" idx="3"/>
            <a:endCxn id="58" idx="6"/>
          </p:cNvCxnSpPr>
          <p:nvPr/>
        </p:nvCxnSpPr>
        <p:spPr>
          <a:xfrm flipH="1">
            <a:off x="3499659" y="3564837"/>
            <a:ext cx="392654" cy="7619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73" idx="5"/>
            <a:endCxn id="59" idx="1"/>
          </p:cNvCxnSpPr>
          <p:nvPr/>
        </p:nvCxnSpPr>
        <p:spPr>
          <a:xfrm>
            <a:off x="3963767" y="3564837"/>
            <a:ext cx="409749" cy="695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/>
          <p:cNvCxnSpPr>
            <a:stCxn id="66" idx="3"/>
            <a:endCxn id="60" idx="0"/>
          </p:cNvCxnSpPr>
          <p:nvPr/>
        </p:nvCxnSpPr>
        <p:spPr>
          <a:xfrm flipH="1">
            <a:off x="5302772" y="3553776"/>
            <a:ext cx="376850" cy="685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/>
          <p:cNvCxnSpPr>
            <a:stCxn id="66" idx="4"/>
            <a:endCxn id="61" idx="1"/>
          </p:cNvCxnSpPr>
          <p:nvPr/>
        </p:nvCxnSpPr>
        <p:spPr>
          <a:xfrm>
            <a:off x="5729586" y="3574471"/>
            <a:ext cx="477435" cy="685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/>
          <p:cNvCxnSpPr>
            <a:stCxn id="67" idx="4"/>
            <a:endCxn id="62" idx="0"/>
          </p:cNvCxnSpPr>
          <p:nvPr/>
        </p:nvCxnSpPr>
        <p:spPr>
          <a:xfrm flipH="1">
            <a:off x="7210173" y="3574470"/>
            <a:ext cx="415086" cy="66502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>
            <a:stCxn id="67" idx="5"/>
            <a:endCxn id="63" idx="0"/>
          </p:cNvCxnSpPr>
          <p:nvPr/>
        </p:nvCxnSpPr>
        <p:spPr>
          <a:xfrm>
            <a:off x="7675222" y="3553775"/>
            <a:ext cx="425425" cy="68571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/>
          <p:cNvCxnSpPr>
            <a:stCxn id="56" idx="4"/>
            <a:endCxn id="40" idx="0"/>
          </p:cNvCxnSpPr>
          <p:nvPr/>
        </p:nvCxnSpPr>
        <p:spPr>
          <a:xfrm flipH="1">
            <a:off x="1371600" y="4380808"/>
            <a:ext cx="190266" cy="415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/>
          <p:cNvCxnSpPr>
            <a:stCxn id="56" idx="4"/>
            <a:endCxn id="41" idx="0"/>
          </p:cNvCxnSpPr>
          <p:nvPr/>
        </p:nvCxnSpPr>
        <p:spPr>
          <a:xfrm>
            <a:off x="1561866" y="4380808"/>
            <a:ext cx="229802" cy="4156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/>
          <p:cNvCxnSpPr>
            <a:stCxn id="57" idx="3"/>
            <a:endCxn id="42" idx="0"/>
          </p:cNvCxnSpPr>
          <p:nvPr/>
        </p:nvCxnSpPr>
        <p:spPr>
          <a:xfrm flipH="1">
            <a:off x="2294588" y="4360113"/>
            <a:ext cx="171527" cy="436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/>
          <p:cNvCxnSpPr>
            <a:stCxn id="57" idx="4"/>
            <a:endCxn id="43" idx="0"/>
          </p:cNvCxnSpPr>
          <p:nvPr/>
        </p:nvCxnSpPr>
        <p:spPr>
          <a:xfrm>
            <a:off x="2516079" y="4380808"/>
            <a:ext cx="234459" cy="415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/>
          <p:cNvCxnSpPr>
            <a:stCxn id="58" idx="3"/>
            <a:endCxn id="44" idx="0"/>
          </p:cNvCxnSpPr>
          <p:nvPr/>
        </p:nvCxnSpPr>
        <p:spPr>
          <a:xfrm flipH="1">
            <a:off x="3231524" y="4364982"/>
            <a:ext cx="181883" cy="4314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/>
          <p:cNvCxnSpPr>
            <a:stCxn id="58" idx="4"/>
            <a:endCxn id="45" idx="0"/>
          </p:cNvCxnSpPr>
          <p:nvPr/>
        </p:nvCxnSpPr>
        <p:spPr>
          <a:xfrm>
            <a:off x="3449134" y="4380808"/>
            <a:ext cx="238340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箭头连接符 90"/>
          <p:cNvCxnSpPr>
            <a:stCxn id="59" idx="4"/>
            <a:endCxn id="46" idx="7"/>
          </p:cNvCxnSpPr>
          <p:nvPr/>
        </p:nvCxnSpPr>
        <p:spPr>
          <a:xfrm flipH="1">
            <a:off x="4193388" y="4380808"/>
            <a:ext cx="230092" cy="43632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/>
          <p:cNvCxnSpPr>
            <a:stCxn id="59" idx="4"/>
            <a:endCxn id="47" idx="0"/>
          </p:cNvCxnSpPr>
          <p:nvPr/>
        </p:nvCxnSpPr>
        <p:spPr>
          <a:xfrm>
            <a:off x="4423480" y="4380808"/>
            <a:ext cx="178995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/>
          <p:cNvCxnSpPr>
            <a:stCxn id="60" idx="3"/>
            <a:endCxn id="48" idx="0"/>
          </p:cNvCxnSpPr>
          <p:nvPr/>
        </p:nvCxnSpPr>
        <p:spPr>
          <a:xfrm flipH="1">
            <a:off x="5097086" y="4360113"/>
            <a:ext cx="155722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60" idx="4"/>
            <a:endCxn id="49" idx="0"/>
          </p:cNvCxnSpPr>
          <p:nvPr/>
        </p:nvCxnSpPr>
        <p:spPr>
          <a:xfrm>
            <a:off x="5302772" y="4380808"/>
            <a:ext cx="214382" cy="4156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箭头连接符 94"/>
          <p:cNvCxnSpPr>
            <a:stCxn id="61" idx="3"/>
            <a:endCxn id="50" idx="0"/>
          </p:cNvCxnSpPr>
          <p:nvPr/>
        </p:nvCxnSpPr>
        <p:spPr>
          <a:xfrm flipH="1">
            <a:off x="6020074" y="4360113"/>
            <a:ext cx="186947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箭头连接符 95"/>
          <p:cNvCxnSpPr>
            <a:stCxn id="61" idx="4"/>
            <a:endCxn id="51" idx="1"/>
          </p:cNvCxnSpPr>
          <p:nvPr/>
        </p:nvCxnSpPr>
        <p:spPr>
          <a:xfrm>
            <a:off x="6256985" y="4380808"/>
            <a:ext cx="269002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/>
          <p:cNvCxnSpPr>
            <a:stCxn id="62" idx="4"/>
            <a:endCxn id="52" idx="0"/>
          </p:cNvCxnSpPr>
          <p:nvPr/>
        </p:nvCxnSpPr>
        <p:spPr>
          <a:xfrm flipH="1">
            <a:off x="6957010" y="4380808"/>
            <a:ext cx="253163" cy="4156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/>
          <p:cNvCxnSpPr>
            <a:stCxn id="62" idx="4"/>
            <a:endCxn id="53" idx="1"/>
          </p:cNvCxnSpPr>
          <p:nvPr/>
        </p:nvCxnSpPr>
        <p:spPr>
          <a:xfrm>
            <a:off x="7210173" y="4380808"/>
            <a:ext cx="252750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>
            <a:stCxn id="63" idx="4"/>
            <a:endCxn id="54" idx="0"/>
          </p:cNvCxnSpPr>
          <p:nvPr/>
        </p:nvCxnSpPr>
        <p:spPr>
          <a:xfrm flipH="1">
            <a:off x="7868911" y="4380808"/>
            <a:ext cx="231736" cy="4156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/>
          <p:cNvCxnSpPr>
            <a:stCxn id="63" idx="4"/>
            <a:endCxn id="55" idx="0"/>
          </p:cNvCxnSpPr>
          <p:nvPr/>
        </p:nvCxnSpPr>
        <p:spPr>
          <a:xfrm>
            <a:off x="8100647" y="4380808"/>
            <a:ext cx="227314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箭头连接符 100"/>
          <p:cNvCxnSpPr>
            <a:stCxn id="40" idx="3"/>
            <a:endCxn id="8" idx="0"/>
          </p:cNvCxnSpPr>
          <p:nvPr/>
        </p:nvCxnSpPr>
        <p:spPr>
          <a:xfrm flipH="1">
            <a:off x="1230283" y="4917065"/>
            <a:ext cx="91353" cy="3947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/>
          <p:cNvCxnSpPr/>
          <p:nvPr/>
        </p:nvCxnSpPr>
        <p:spPr>
          <a:xfrm flipH="1">
            <a:off x="1673006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/>
          <p:nvPr/>
        </p:nvCxnSpPr>
        <p:spPr>
          <a:xfrm flipH="1">
            <a:off x="2154701" y="4929534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/>
          <p:cNvCxnSpPr/>
          <p:nvPr/>
        </p:nvCxnSpPr>
        <p:spPr>
          <a:xfrm flipH="1">
            <a:off x="2611327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/>
          <p:nvPr/>
        </p:nvCxnSpPr>
        <p:spPr>
          <a:xfrm flipH="1">
            <a:off x="3095640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/>
          <p:cNvCxnSpPr/>
          <p:nvPr/>
        </p:nvCxnSpPr>
        <p:spPr>
          <a:xfrm flipH="1">
            <a:off x="3546158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H="1">
            <a:off x="4028573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H="1">
            <a:off x="4502638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箭头连接符 108"/>
          <p:cNvCxnSpPr/>
          <p:nvPr/>
        </p:nvCxnSpPr>
        <p:spPr>
          <a:xfrm flipH="1">
            <a:off x="4984185" y="4937758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H="1">
            <a:off x="5416059" y="4929533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H="1">
            <a:off x="5929720" y="4917064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H="1">
            <a:off x="6368527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H="1">
            <a:off x="6858580" y="49109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H="1">
            <a:off x="7309142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H="1">
            <a:off x="7774993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H="1">
            <a:off x="8231808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>
            <a:stCxn id="40" idx="4"/>
            <a:endCxn id="9" idx="0"/>
          </p:cNvCxnSpPr>
          <p:nvPr/>
        </p:nvCxnSpPr>
        <p:spPr>
          <a:xfrm>
            <a:off x="1371600" y="4937760"/>
            <a:ext cx="92917" cy="374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>
            <a:endCxn id="11" idx="0"/>
          </p:cNvCxnSpPr>
          <p:nvPr/>
        </p:nvCxnSpPr>
        <p:spPr>
          <a:xfrm>
            <a:off x="1804277" y="4906801"/>
            <a:ext cx="128708" cy="40503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>
            <a:off x="2303716" y="4925545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>
            <a:endCxn id="15" idx="0"/>
          </p:cNvCxnSpPr>
          <p:nvPr/>
        </p:nvCxnSpPr>
        <p:spPr>
          <a:xfrm>
            <a:off x="2726878" y="4906801"/>
            <a:ext cx="143043" cy="40503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>
            <a:off x="3202075" y="4941913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>
            <a:endCxn id="19" idx="0"/>
          </p:cNvCxnSpPr>
          <p:nvPr/>
        </p:nvCxnSpPr>
        <p:spPr>
          <a:xfrm>
            <a:off x="3683877" y="4908666"/>
            <a:ext cx="122980" cy="40316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/>
          <p:cNvCxnSpPr>
            <a:endCxn id="21" idx="1"/>
          </p:cNvCxnSpPr>
          <p:nvPr/>
        </p:nvCxnSpPr>
        <p:spPr>
          <a:xfrm>
            <a:off x="4149898" y="4896365"/>
            <a:ext cx="75463" cy="43616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>
            <a:endCxn id="23" idx="0"/>
          </p:cNvCxnSpPr>
          <p:nvPr/>
        </p:nvCxnSpPr>
        <p:spPr>
          <a:xfrm>
            <a:off x="4624427" y="4871255"/>
            <a:ext cx="119366" cy="44057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/>
          <p:cNvCxnSpPr>
            <a:endCxn id="25" idx="0"/>
          </p:cNvCxnSpPr>
          <p:nvPr/>
        </p:nvCxnSpPr>
        <p:spPr>
          <a:xfrm>
            <a:off x="5099405" y="4896365"/>
            <a:ext cx="112856" cy="4154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/>
          <p:nvPr/>
        </p:nvCxnSpPr>
        <p:spPr>
          <a:xfrm>
            <a:off x="5572852" y="4914940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接箭头连接符 126"/>
          <p:cNvCxnSpPr/>
          <p:nvPr/>
        </p:nvCxnSpPr>
        <p:spPr>
          <a:xfrm>
            <a:off x="6029829" y="4914940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127"/>
          <p:cNvCxnSpPr>
            <a:endCxn id="31" idx="0"/>
          </p:cNvCxnSpPr>
          <p:nvPr/>
        </p:nvCxnSpPr>
        <p:spPr>
          <a:xfrm>
            <a:off x="6472819" y="4888051"/>
            <a:ext cx="144846" cy="42378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箭头连接符 128"/>
          <p:cNvCxnSpPr>
            <a:endCxn id="33" idx="7"/>
          </p:cNvCxnSpPr>
          <p:nvPr/>
        </p:nvCxnSpPr>
        <p:spPr>
          <a:xfrm>
            <a:off x="6964436" y="4906801"/>
            <a:ext cx="171660" cy="4257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箭头连接符 129"/>
          <p:cNvCxnSpPr/>
          <p:nvPr/>
        </p:nvCxnSpPr>
        <p:spPr>
          <a:xfrm>
            <a:off x="7445659" y="4921306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>
            <a:endCxn id="37" idx="0"/>
          </p:cNvCxnSpPr>
          <p:nvPr/>
        </p:nvCxnSpPr>
        <p:spPr>
          <a:xfrm>
            <a:off x="7876704" y="4921306"/>
            <a:ext cx="146365" cy="3905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>
            <a:endCxn id="39" idx="1"/>
          </p:cNvCxnSpPr>
          <p:nvPr/>
        </p:nvCxnSpPr>
        <p:spPr>
          <a:xfrm>
            <a:off x="8352161" y="4902643"/>
            <a:ext cx="89424" cy="42988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382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c.biancheng.net/cpp/uploads/allimg/151020/1-151020132J32G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561" y="882793"/>
            <a:ext cx="4171950" cy="4410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本框 3"/>
          <p:cNvSpPr txBox="1"/>
          <p:nvPr/>
        </p:nvSpPr>
        <p:spPr>
          <a:xfrm>
            <a:off x="1737359" y="2327563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阻塞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670858" y="3933915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返回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660967" y="2019991"/>
            <a:ext cx="122197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accept()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阻塞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287645" y="3933914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accept()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返回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5370772" y="2181572"/>
            <a:ext cx="373322" cy="1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7620114" y="3526912"/>
            <a:ext cx="96427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</a:p>
        </p:txBody>
      </p:sp>
      <p:sp>
        <p:nvSpPr>
          <p:cNvPr id="3" name="圆角矩形 2"/>
          <p:cNvSpPr/>
          <p:nvPr/>
        </p:nvSpPr>
        <p:spPr>
          <a:xfrm>
            <a:off x="7620114" y="3788441"/>
            <a:ext cx="964277" cy="40732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Seq</a:t>
            </a:r>
            <a:r>
              <a:rPr lang="zh-CN" alt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1001</a:t>
            </a: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r>
              <a:rPr lang="zh-CN" alt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en-US" altLang="zh-CN" sz="12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2001</a:t>
            </a:r>
            <a:endParaRPr lang="en-US" altLang="zh-CN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5685" y="3597906"/>
            <a:ext cx="930844" cy="597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155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58" y="382125"/>
            <a:ext cx="5657850" cy="340042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08" y="382125"/>
            <a:ext cx="5657850" cy="340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283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655897" y="39250"/>
            <a:ext cx="2326906" cy="246221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分析</a:t>
            </a:r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doctor.mp4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的结果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956" y="558830"/>
            <a:ext cx="1339554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ftyp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type=0x66747970</a:t>
            </a: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size=0x00000020=32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655896" y="556597"/>
            <a:ext cx="176548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type=0x6D646174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size=0x000169C4A=1481802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555456" y="565522"/>
            <a:ext cx="154232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moov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type=0x6D6F6F76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size=0x000039C5=14789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04335" y="1355333"/>
            <a:ext cx="1443518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二级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mvhd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 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0x6D766864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size=0x0000006C=108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795241" y="1370984"/>
            <a:ext cx="1451565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 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0x7472616B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size=0x00001B62=7010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504758" y="1350031"/>
            <a:ext cx="1538292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type=0x7472616B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size=0x00001D8D=7565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48352" y="1352781"/>
            <a:ext cx="1308838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udat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type=0x75647461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size=0x00000062=98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848352" y="2215024"/>
            <a:ext cx="131985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meta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type=0x6D657461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size=0x0000005A=90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40138" y="2198219"/>
            <a:ext cx="132523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tkhd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type=0x746B6864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size=0x0000005C=92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538117" y="2216222"/>
            <a:ext cx="1554579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mdia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type=0x6D646961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size=0x00001ADA=6874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056501" y="2216222"/>
            <a:ext cx="1311386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edts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type=0x65647473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size=0x00000024=36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76874" y="3025454"/>
            <a:ext cx="131781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elst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type=0x656C7374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size=0x0000001C=28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352868" y="3047219"/>
            <a:ext cx="1333832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mdhd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size=0x00000020=32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3772960" y="3039771"/>
            <a:ext cx="1402056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hdlr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type=0x6D646C72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size=0x0000002D=45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274402" y="3039771"/>
            <a:ext cx="153729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minf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type=0x6D696E66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size=0x00001A85=6789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928847" y="3888498"/>
            <a:ext cx="1366285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vmhd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type=0x766D6864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size=0x00000014=20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705757" y="3887095"/>
            <a:ext cx="132290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dinf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type=0x64696E66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size=0x00000024=36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5789196" y="3927381"/>
            <a:ext cx="1553571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stbl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type=0x7374626C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size=0x00001A45=6725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174774" y="5469787"/>
            <a:ext cx="138068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六级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dref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type=0x64726566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type=0x0000001C=28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/>
          <p:cNvCxnSpPr>
            <a:stCxn id="4" idx="2"/>
            <a:endCxn id="5" idx="0"/>
          </p:cNvCxnSpPr>
          <p:nvPr/>
        </p:nvCxnSpPr>
        <p:spPr>
          <a:xfrm flipH="1">
            <a:off x="717733" y="285471"/>
            <a:ext cx="2101617" cy="2733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>
            <a:stCxn id="4" idx="2"/>
            <a:endCxn id="6" idx="0"/>
          </p:cNvCxnSpPr>
          <p:nvPr/>
        </p:nvCxnSpPr>
        <p:spPr>
          <a:xfrm flipH="1">
            <a:off x="2538638" y="285471"/>
            <a:ext cx="280712" cy="271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>
            <a:stCxn id="4" idx="2"/>
            <a:endCxn id="7" idx="0"/>
          </p:cNvCxnSpPr>
          <p:nvPr/>
        </p:nvCxnSpPr>
        <p:spPr>
          <a:xfrm>
            <a:off x="2819350" y="285471"/>
            <a:ext cx="1507268" cy="2800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/>
          <p:cNvCxnSpPr>
            <a:stCxn id="7" idx="2"/>
            <a:endCxn id="8" idx="0"/>
          </p:cNvCxnSpPr>
          <p:nvPr/>
        </p:nvCxnSpPr>
        <p:spPr>
          <a:xfrm flipH="1">
            <a:off x="1426094" y="1119520"/>
            <a:ext cx="2900524" cy="235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/>
          <p:cNvCxnSpPr>
            <a:stCxn id="7" idx="2"/>
            <a:endCxn id="9" idx="0"/>
          </p:cNvCxnSpPr>
          <p:nvPr/>
        </p:nvCxnSpPr>
        <p:spPr>
          <a:xfrm flipH="1">
            <a:off x="3521024" y="1119520"/>
            <a:ext cx="805594" cy="251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/>
          <p:cNvCxnSpPr>
            <a:stCxn id="7" idx="2"/>
            <a:endCxn id="10" idx="0"/>
          </p:cNvCxnSpPr>
          <p:nvPr/>
        </p:nvCxnSpPr>
        <p:spPr>
          <a:xfrm>
            <a:off x="4326618" y="1119520"/>
            <a:ext cx="947286" cy="2305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/>
          <p:cNvCxnSpPr>
            <a:stCxn id="7" idx="2"/>
            <a:endCxn id="11" idx="0"/>
          </p:cNvCxnSpPr>
          <p:nvPr/>
        </p:nvCxnSpPr>
        <p:spPr>
          <a:xfrm>
            <a:off x="4326618" y="1119520"/>
            <a:ext cx="3176153" cy="2332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/>
          <p:cNvCxnSpPr>
            <a:stCxn id="11" idx="2"/>
            <a:endCxn id="12" idx="0"/>
          </p:cNvCxnSpPr>
          <p:nvPr/>
        </p:nvCxnSpPr>
        <p:spPr>
          <a:xfrm>
            <a:off x="7502771" y="1906779"/>
            <a:ext cx="5508" cy="308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9" idx="2"/>
            <a:endCxn id="13" idx="0"/>
          </p:cNvCxnSpPr>
          <p:nvPr/>
        </p:nvCxnSpPr>
        <p:spPr>
          <a:xfrm flipH="1">
            <a:off x="1102753" y="1924982"/>
            <a:ext cx="2418271" cy="2732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/>
          <p:cNvCxnSpPr>
            <a:stCxn id="9" idx="2"/>
            <a:endCxn id="15" idx="0"/>
          </p:cNvCxnSpPr>
          <p:nvPr/>
        </p:nvCxnSpPr>
        <p:spPr>
          <a:xfrm flipH="1">
            <a:off x="2712194" y="1924982"/>
            <a:ext cx="808830" cy="291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>
            <a:stCxn id="9" idx="2"/>
            <a:endCxn id="14" idx="0"/>
          </p:cNvCxnSpPr>
          <p:nvPr/>
        </p:nvCxnSpPr>
        <p:spPr>
          <a:xfrm>
            <a:off x="3521024" y="1924982"/>
            <a:ext cx="794383" cy="291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/>
          <p:cNvCxnSpPr>
            <a:stCxn id="15" idx="2"/>
            <a:endCxn id="16" idx="0"/>
          </p:cNvCxnSpPr>
          <p:nvPr/>
        </p:nvCxnSpPr>
        <p:spPr>
          <a:xfrm flipH="1">
            <a:off x="1335779" y="2770220"/>
            <a:ext cx="1376415" cy="2552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/>
          <p:cNvCxnSpPr>
            <a:stCxn id="14" idx="2"/>
            <a:endCxn id="17" idx="0"/>
          </p:cNvCxnSpPr>
          <p:nvPr/>
        </p:nvCxnSpPr>
        <p:spPr>
          <a:xfrm flipH="1">
            <a:off x="3019784" y="2770220"/>
            <a:ext cx="1295623" cy="276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>
            <a:stCxn id="14" idx="2"/>
            <a:endCxn id="18" idx="0"/>
          </p:cNvCxnSpPr>
          <p:nvPr/>
        </p:nvCxnSpPr>
        <p:spPr>
          <a:xfrm>
            <a:off x="4315407" y="2770220"/>
            <a:ext cx="158581" cy="269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箭头连接符 100"/>
          <p:cNvCxnSpPr>
            <a:stCxn id="14" idx="2"/>
            <a:endCxn id="19" idx="0"/>
          </p:cNvCxnSpPr>
          <p:nvPr/>
        </p:nvCxnSpPr>
        <p:spPr>
          <a:xfrm>
            <a:off x="4315407" y="2770220"/>
            <a:ext cx="1727642" cy="269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>
            <a:stCxn id="19" idx="2"/>
            <a:endCxn id="20" idx="0"/>
          </p:cNvCxnSpPr>
          <p:nvPr/>
        </p:nvCxnSpPr>
        <p:spPr>
          <a:xfrm flipH="1">
            <a:off x="2611990" y="3593769"/>
            <a:ext cx="3431059" cy="2947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>
            <a:stCxn id="19" idx="2"/>
            <a:endCxn id="21" idx="0"/>
          </p:cNvCxnSpPr>
          <p:nvPr/>
        </p:nvCxnSpPr>
        <p:spPr>
          <a:xfrm flipH="1">
            <a:off x="4367207" y="3593769"/>
            <a:ext cx="1675842" cy="2933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>
            <a:stCxn id="19" idx="2"/>
            <a:endCxn id="22" idx="0"/>
          </p:cNvCxnSpPr>
          <p:nvPr/>
        </p:nvCxnSpPr>
        <p:spPr>
          <a:xfrm>
            <a:off x="6043049" y="3593769"/>
            <a:ext cx="522933" cy="333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2" name="组合 221"/>
          <p:cNvGrpSpPr/>
          <p:nvPr/>
        </p:nvGrpSpPr>
        <p:grpSpPr>
          <a:xfrm>
            <a:off x="3906540" y="4819255"/>
            <a:ext cx="4406880" cy="2006302"/>
            <a:chOff x="7789025" y="4677132"/>
            <a:chExt cx="4406880" cy="2006302"/>
          </a:xfrm>
        </p:grpSpPr>
        <p:sp>
          <p:nvSpPr>
            <p:cNvPr id="24" name="文本框 23"/>
            <p:cNvSpPr txBox="1"/>
            <p:nvPr/>
          </p:nvSpPr>
          <p:spPr>
            <a:xfrm>
              <a:off x="7867660" y="4773840"/>
              <a:ext cx="1421120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stsd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type=0x73747364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size=0x000000A9=169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9367415" y="4750736"/>
              <a:ext cx="1300635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stts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type=0x73747473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size=0x00000018=24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867659" y="5375569"/>
              <a:ext cx="1457983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ctts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type=0x63747473</a:t>
              </a:r>
            </a:p>
            <a:p>
              <a:r>
                <a:rPr lang="en-US" altLang="zh-CN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size=0x00000C88=3208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9367750" y="5365611"/>
              <a:ext cx="1299963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stsc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type=0x73747363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size=0x00000028=40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0694180" y="4737971"/>
              <a:ext cx="1361485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type=0x73747373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size=0x0000001C=28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0694181" y="5365611"/>
              <a:ext cx="1442946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stsz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type=0x7374737A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size=0x0000065C=1628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9243134" y="6047111"/>
              <a:ext cx="1465651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stco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type=0x7374636F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size=0x00000654=1620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5" name="矩形 114"/>
            <p:cNvSpPr/>
            <p:nvPr/>
          </p:nvSpPr>
          <p:spPr>
            <a:xfrm>
              <a:off x="7789025" y="4677132"/>
              <a:ext cx="4406880" cy="2006302"/>
            </a:xfrm>
            <a:prstGeom prst="rect">
              <a:avLst/>
            </a:prstGeom>
            <a:noFill/>
            <a:ln>
              <a:solidFill>
                <a:srgbClr val="0070C0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117" name="直接箭头连接符 116"/>
          <p:cNvCxnSpPr>
            <a:stCxn id="22" idx="2"/>
            <a:endCxn id="115" idx="0"/>
          </p:cNvCxnSpPr>
          <p:nvPr/>
        </p:nvCxnSpPr>
        <p:spPr>
          <a:xfrm flipH="1">
            <a:off x="6109980" y="4481379"/>
            <a:ext cx="456002" cy="337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箭头连接符 201"/>
          <p:cNvCxnSpPr>
            <a:stCxn id="21" idx="2"/>
            <a:endCxn id="23" idx="0"/>
          </p:cNvCxnSpPr>
          <p:nvPr/>
        </p:nvCxnSpPr>
        <p:spPr>
          <a:xfrm flipH="1">
            <a:off x="2865116" y="4441093"/>
            <a:ext cx="1502091" cy="10286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/>
          <p:cNvSpPr txBox="1"/>
          <p:nvPr/>
        </p:nvSpPr>
        <p:spPr>
          <a:xfrm>
            <a:off x="5289001" y="2209084"/>
            <a:ext cx="876844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这里省略对音频</a:t>
            </a:r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的继续分析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6" name="直接箭头连接符 55"/>
          <p:cNvCxnSpPr>
            <a:stCxn id="10" idx="2"/>
            <a:endCxn id="70" idx="0"/>
          </p:cNvCxnSpPr>
          <p:nvPr/>
        </p:nvCxnSpPr>
        <p:spPr>
          <a:xfrm>
            <a:off x="5273904" y="1904029"/>
            <a:ext cx="453519" cy="305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506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677886" y="1159375"/>
            <a:ext cx="461865" cy="3477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r>
              <a:rPr lang="zh-CN" altLang="en-US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包</a:t>
            </a:r>
            <a:endParaRPr lang="zh-CN" altLang="en-US"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2677886" y="1779601"/>
            <a:ext cx="1878022" cy="361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RTP Body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96751" y="2408992"/>
            <a:ext cx="2559157" cy="3503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UDP Body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996751" y="1779600"/>
            <a:ext cx="681135" cy="3613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RTP Header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315616" y="2408992"/>
            <a:ext cx="681135" cy="3503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UDP Header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下箭头 8"/>
          <p:cNvSpPr/>
          <p:nvPr/>
        </p:nvSpPr>
        <p:spPr>
          <a:xfrm>
            <a:off x="3313524" y="1518905"/>
            <a:ext cx="289248" cy="268041"/>
          </a:xfrm>
          <a:prstGeom prst="down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下箭头 9"/>
          <p:cNvSpPr/>
          <p:nvPr/>
        </p:nvSpPr>
        <p:spPr>
          <a:xfrm>
            <a:off x="3269138" y="2132626"/>
            <a:ext cx="289248" cy="254467"/>
          </a:xfrm>
          <a:prstGeom prst="down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1996751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239347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81943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724539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967135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209731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3452327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3694923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966868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209464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4452060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4694656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4937252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5179848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5422444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5665040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5936985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6179581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422177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664773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6907369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7149965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392561" y="387898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7635157" y="387898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7907102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8149698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8392294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8634890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8877486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9120082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9362678" y="387898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9605274" y="387898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903615" y="3507971"/>
            <a:ext cx="7148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低地址</a:t>
            </a:r>
            <a:endParaRPr lang="zh-CN" altLang="en-US" sz="1100"/>
          </a:p>
        </p:txBody>
      </p:sp>
      <p:sp>
        <p:nvSpPr>
          <p:cNvPr id="43" name="文本框 42"/>
          <p:cNvSpPr txBox="1"/>
          <p:nvPr/>
        </p:nvSpPr>
        <p:spPr>
          <a:xfrm>
            <a:off x="4048469" y="4795669"/>
            <a:ext cx="6178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高地址</a:t>
            </a:r>
            <a:endParaRPr lang="zh-CN" altLang="en-US" sz="1100"/>
          </a:p>
        </p:txBody>
      </p:sp>
      <p:sp>
        <p:nvSpPr>
          <p:cNvPr id="3" name="右箭头 2"/>
          <p:cNvSpPr/>
          <p:nvPr/>
        </p:nvSpPr>
        <p:spPr>
          <a:xfrm>
            <a:off x="2481942" y="3587366"/>
            <a:ext cx="6759437" cy="173038"/>
          </a:xfrm>
          <a:prstGeom prst="rightArrow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左大括号 43"/>
          <p:cNvSpPr/>
          <p:nvPr/>
        </p:nvSpPr>
        <p:spPr>
          <a:xfrm rot="16200000">
            <a:off x="2720807" y="3614000"/>
            <a:ext cx="242596" cy="1448111"/>
          </a:xfrm>
          <a:prstGeom prst="leftBrace">
            <a:avLst>
              <a:gd name="adj1" fmla="val 3660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/>
          <p:cNvSpPr txBox="1"/>
          <p:nvPr/>
        </p:nvSpPr>
        <p:spPr>
          <a:xfrm>
            <a:off x="2638769" y="4457656"/>
            <a:ext cx="406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/>
              <a:t>s.a</a:t>
            </a:r>
            <a:endParaRPr lang="zh-CN" altLang="en-US" sz="1100"/>
          </a:p>
        </p:txBody>
      </p:sp>
      <p:sp>
        <p:nvSpPr>
          <p:cNvPr id="46" name="左大括号 45"/>
          <p:cNvSpPr/>
          <p:nvPr/>
        </p:nvSpPr>
        <p:spPr>
          <a:xfrm rot="16200000">
            <a:off x="7028667" y="3240961"/>
            <a:ext cx="242596" cy="2194179"/>
          </a:xfrm>
          <a:prstGeom prst="leftBrace">
            <a:avLst>
              <a:gd name="adj1" fmla="val 3660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/>
          <p:cNvSpPr txBox="1"/>
          <p:nvPr/>
        </p:nvSpPr>
        <p:spPr>
          <a:xfrm>
            <a:off x="6985890" y="4457656"/>
            <a:ext cx="406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/>
              <a:t>s.b</a:t>
            </a:r>
            <a:endParaRPr lang="zh-CN" altLang="en-US" sz="1100"/>
          </a:p>
        </p:txBody>
      </p:sp>
      <p:sp>
        <p:nvSpPr>
          <p:cNvPr id="48" name="矩形 47"/>
          <p:cNvSpPr/>
          <p:nvPr/>
        </p:nvSpPr>
        <p:spPr>
          <a:xfrm>
            <a:off x="1926771" y="5074919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2169367" y="5074919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2411963" y="5074918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654559" y="5074918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897155" y="507491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3139751" y="507491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3382347" y="507491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矩形 54"/>
          <p:cNvSpPr/>
          <p:nvPr/>
        </p:nvSpPr>
        <p:spPr>
          <a:xfrm>
            <a:off x="3624943" y="507491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1340292" y="4810624"/>
            <a:ext cx="7148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低地址</a:t>
            </a:r>
            <a:endParaRPr lang="zh-CN" altLang="en-US" sz="1100"/>
          </a:p>
        </p:txBody>
      </p:sp>
      <p:sp>
        <p:nvSpPr>
          <p:cNvPr id="57" name="左大括号 56"/>
          <p:cNvSpPr/>
          <p:nvPr/>
        </p:nvSpPr>
        <p:spPr>
          <a:xfrm rot="16200000">
            <a:off x="3548120" y="5342002"/>
            <a:ext cx="153646" cy="304491"/>
          </a:xfrm>
          <a:prstGeom prst="leftBrace">
            <a:avLst>
              <a:gd name="adj1" fmla="val 36602"/>
              <a:gd name="adj2" fmla="val 47497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/>
          <p:cNvSpPr txBox="1"/>
          <p:nvPr/>
        </p:nvSpPr>
        <p:spPr>
          <a:xfrm>
            <a:off x="2197081" y="5571072"/>
            <a:ext cx="335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cc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右箭头 58"/>
          <p:cNvSpPr/>
          <p:nvPr/>
        </p:nvSpPr>
        <p:spPr>
          <a:xfrm>
            <a:off x="1858564" y="4841312"/>
            <a:ext cx="2238471" cy="194156"/>
          </a:xfrm>
          <a:prstGeom prst="rightArrow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/>
          <p:cNvSpPr txBox="1"/>
          <p:nvPr/>
        </p:nvSpPr>
        <p:spPr>
          <a:xfrm>
            <a:off x="2882624" y="5564302"/>
            <a:ext cx="2582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3124277" y="5556682"/>
            <a:ext cx="2891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左大括号 61"/>
          <p:cNvSpPr/>
          <p:nvPr/>
        </p:nvSpPr>
        <p:spPr>
          <a:xfrm rot="16200000">
            <a:off x="2300698" y="5113480"/>
            <a:ext cx="153644" cy="761537"/>
          </a:xfrm>
          <a:prstGeom prst="leftBrace">
            <a:avLst>
              <a:gd name="adj1" fmla="val 36602"/>
              <a:gd name="adj2" fmla="val 47497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/>
          <p:cNvSpPr txBox="1"/>
          <p:nvPr/>
        </p:nvSpPr>
        <p:spPr>
          <a:xfrm>
            <a:off x="3488024" y="5571072"/>
            <a:ext cx="2891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/>
          <p:nvPr/>
        </p:nvCxnSpPr>
        <p:spPr>
          <a:xfrm>
            <a:off x="3018453" y="5338722"/>
            <a:ext cx="0" cy="232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/>
          <p:nvPr/>
        </p:nvCxnSpPr>
        <p:spPr>
          <a:xfrm>
            <a:off x="3263226" y="5338722"/>
            <a:ext cx="0" cy="232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文本框 72"/>
          <p:cNvSpPr txBox="1"/>
          <p:nvPr/>
        </p:nvSpPr>
        <p:spPr>
          <a:xfrm>
            <a:off x="8056559" y="4945722"/>
            <a:ext cx="6178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高地址</a:t>
            </a:r>
            <a:endParaRPr lang="zh-CN" altLang="en-US" sz="1100"/>
          </a:p>
        </p:txBody>
      </p:sp>
      <p:sp>
        <p:nvSpPr>
          <p:cNvPr id="74" name="矩形 73"/>
          <p:cNvSpPr/>
          <p:nvPr/>
        </p:nvSpPr>
        <p:spPr>
          <a:xfrm>
            <a:off x="5934861" y="522497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6177457" y="522497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6420053" y="522497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6662649" y="522497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6905245" y="5224970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7147841" y="5224970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7390437" y="5224969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7633033" y="5224968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5348382" y="4960677"/>
            <a:ext cx="7148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低地址</a:t>
            </a:r>
            <a:endParaRPr lang="zh-CN" altLang="en-US" sz="1100"/>
          </a:p>
        </p:txBody>
      </p:sp>
      <p:sp>
        <p:nvSpPr>
          <p:cNvPr id="85" name="右箭头 84"/>
          <p:cNvSpPr/>
          <p:nvPr/>
        </p:nvSpPr>
        <p:spPr>
          <a:xfrm>
            <a:off x="5866654" y="4991365"/>
            <a:ext cx="2238471" cy="194156"/>
          </a:xfrm>
          <a:prstGeom prst="rightArrow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/>
          <p:cNvSpPr/>
          <p:nvPr/>
        </p:nvSpPr>
        <p:spPr>
          <a:xfrm>
            <a:off x="3139752" y="1159376"/>
            <a:ext cx="485192" cy="34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r>
              <a:rPr lang="zh-CN" altLang="en-US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包</a:t>
            </a:r>
            <a:endParaRPr lang="zh-CN" altLang="en-US"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3625462" y="1159376"/>
            <a:ext cx="465223" cy="34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r>
              <a:rPr lang="zh-CN" altLang="en-US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包</a:t>
            </a:r>
            <a:endParaRPr lang="zh-CN" altLang="en-US"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4090685" y="1159376"/>
            <a:ext cx="465223" cy="34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r>
              <a:rPr lang="zh-CN" altLang="en-US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包</a:t>
            </a:r>
            <a:endParaRPr lang="zh-CN" altLang="en-US"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9619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587549"/>
              </p:ext>
            </p:extLst>
          </p:nvPr>
        </p:nvGraphicFramePr>
        <p:xfrm>
          <a:off x="1239520" y="727286"/>
          <a:ext cx="4033520" cy="1688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0001 1110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0110 1010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0010 1100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0100 1000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1495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0100 1000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0010 1100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0110 1010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0001 1110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113822"/>
                  </a:ext>
                </a:extLst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1239520" y="57872"/>
            <a:ext cx="4033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发送方：小端字节序</a:t>
            </a:r>
            <a:r>
              <a:rPr lang="en-US" altLang="zh-CN" sz="1200" smtClean="0"/>
              <a:t>/</a:t>
            </a:r>
            <a:r>
              <a:rPr lang="zh-CN" altLang="en-US" sz="1200" smtClean="0"/>
              <a:t>比特序，发送</a:t>
            </a:r>
            <a:r>
              <a:rPr lang="en-US" altLang="zh-CN" sz="1200" smtClean="0"/>
              <a:t>int</a:t>
            </a:r>
            <a:r>
              <a:rPr lang="zh-CN" altLang="en-US" sz="1200" smtClean="0"/>
              <a:t>型整数</a:t>
            </a:r>
            <a:r>
              <a:rPr lang="en-US" altLang="zh-CN" sz="1200" smtClean="0"/>
              <a:t>305419896</a:t>
            </a:r>
            <a:endParaRPr lang="en-US" altLang="zh-CN" sz="1200"/>
          </a:p>
          <a:p>
            <a:r>
              <a:rPr lang="en-US" altLang="zh-CN" sz="1200" smtClean="0"/>
              <a:t>305419896=0x12345678</a:t>
            </a:r>
          </a:p>
          <a:p>
            <a:r>
              <a:rPr lang="en-US" altLang="zh-CN" sz="1200" smtClean="0"/>
              <a:t>    =0001 0010 0011 0100 0101 0110 0111 1000</a:t>
            </a:r>
            <a:r>
              <a:rPr lang="zh-CN" altLang="en-US" sz="1200" smtClean="0"/>
              <a:t>（二进制）</a:t>
            </a:r>
            <a:endParaRPr lang="zh-CN" altLang="en-US" sz="1200"/>
          </a:p>
        </p:txBody>
      </p:sp>
      <p:sp>
        <p:nvSpPr>
          <p:cNvPr id="7" name="文本框 6"/>
          <p:cNvSpPr txBox="1"/>
          <p:nvPr/>
        </p:nvSpPr>
        <p:spPr>
          <a:xfrm>
            <a:off x="426720" y="727286"/>
            <a:ext cx="812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smtClean="0"/>
              <a:t>内存地址</a:t>
            </a:r>
            <a:endParaRPr lang="zh-CN" altLang="en-US" sz="1200"/>
          </a:p>
        </p:txBody>
      </p:sp>
      <p:sp>
        <p:nvSpPr>
          <p:cNvPr id="8" name="文本框 7"/>
          <p:cNvSpPr txBox="1"/>
          <p:nvPr/>
        </p:nvSpPr>
        <p:spPr>
          <a:xfrm>
            <a:off x="609600" y="1050451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9" name="文本框 8"/>
          <p:cNvSpPr txBox="1"/>
          <p:nvPr/>
        </p:nvSpPr>
        <p:spPr>
          <a:xfrm>
            <a:off x="609600" y="1432913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10" name="文本框 9"/>
          <p:cNvSpPr txBox="1"/>
          <p:nvPr/>
        </p:nvSpPr>
        <p:spPr>
          <a:xfrm>
            <a:off x="144780" y="1776907"/>
            <a:ext cx="10947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200" smtClean="0"/>
              <a:t>htonl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11" name="文本框 10"/>
          <p:cNvSpPr txBox="1"/>
          <p:nvPr/>
        </p:nvSpPr>
        <p:spPr>
          <a:xfrm>
            <a:off x="198120" y="2096224"/>
            <a:ext cx="1041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htonl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12" name="下箭头 11"/>
          <p:cNvSpPr/>
          <p:nvPr/>
        </p:nvSpPr>
        <p:spPr>
          <a:xfrm>
            <a:off x="3009900" y="2415541"/>
            <a:ext cx="236220" cy="70103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088428"/>
              </p:ext>
            </p:extLst>
          </p:nvPr>
        </p:nvGraphicFramePr>
        <p:xfrm>
          <a:off x="1170940" y="3116580"/>
          <a:ext cx="4033520" cy="10129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0100 1000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0010 1100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0110 1010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0001 1110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</a:tbl>
          </a:graphicData>
        </a:graphic>
      </p:graphicFrame>
      <p:sp>
        <p:nvSpPr>
          <p:cNvPr id="14" name="文本框 13"/>
          <p:cNvSpPr txBox="1"/>
          <p:nvPr/>
        </p:nvSpPr>
        <p:spPr>
          <a:xfrm>
            <a:off x="438150" y="3772624"/>
            <a:ext cx="732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发送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15" name="下箭头 14"/>
          <p:cNvSpPr/>
          <p:nvPr/>
        </p:nvSpPr>
        <p:spPr>
          <a:xfrm rot="10800000">
            <a:off x="8328660" y="2391466"/>
            <a:ext cx="236220" cy="70103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6" name="表格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088428"/>
              </p:ext>
            </p:extLst>
          </p:nvPr>
        </p:nvGraphicFramePr>
        <p:xfrm>
          <a:off x="6489700" y="3092505"/>
          <a:ext cx="4033520" cy="10129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0100 1000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0010 1100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0110 1010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0001 1110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</a:tbl>
          </a:graphicData>
        </a:graphic>
      </p:graphicFrame>
      <p:sp>
        <p:nvSpPr>
          <p:cNvPr id="17" name="文本框 16"/>
          <p:cNvSpPr txBox="1"/>
          <p:nvPr/>
        </p:nvSpPr>
        <p:spPr>
          <a:xfrm>
            <a:off x="5756910" y="3748549"/>
            <a:ext cx="732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接收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graphicFrame>
        <p:nvGraphicFramePr>
          <p:cNvPr id="18" name="表格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287583"/>
              </p:ext>
            </p:extLst>
          </p:nvPr>
        </p:nvGraphicFramePr>
        <p:xfrm>
          <a:off x="6489700" y="727287"/>
          <a:ext cx="4033520" cy="1688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0001 0010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0011</a:t>
                      </a:r>
                      <a:r>
                        <a:rPr lang="en-US" altLang="zh-CN" sz="1200" baseline="0" smtClean="0"/>
                        <a:t> 0100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0101</a:t>
                      </a:r>
                      <a:r>
                        <a:rPr lang="en-US" altLang="zh-CN" sz="1200" baseline="0" smtClean="0"/>
                        <a:t> 0110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0111 1000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0x12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0001 0010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0011</a:t>
                      </a:r>
                      <a:r>
                        <a:rPr lang="en-US" altLang="zh-CN" sz="1200" baseline="0" smtClean="0"/>
                        <a:t> 0100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0101</a:t>
                      </a:r>
                      <a:r>
                        <a:rPr lang="en-US" altLang="zh-CN" sz="1200" baseline="0" smtClean="0"/>
                        <a:t> 0110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0111 1000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1495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0x12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0x34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0x56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0x78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113822"/>
                  </a:ext>
                </a:extLst>
              </a:tr>
            </a:tbl>
          </a:graphicData>
        </a:graphic>
      </p:graphicFrame>
      <p:sp>
        <p:nvSpPr>
          <p:cNvPr id="19" name="文本框 18"/>
          <p:cNvSpPr txBox="1"/>
          <p:nvPr/>
        </p:nvSpPr>
        <p:spPr>
          <a:xfrm>
            <a:off x="5676900" y="727287"/>
            <a:ext cx="812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smtClean="0"/>
              <a:t>内存地址</a:t>
            </a:r>
            <a:endParaRPr lang="zh-CN" altLang="en-US" sz="1200"/>
          </a:p>
        </p:txBody>
      </p:sp>
      <p:sp>
        <p:nvSpPr>
          <p:cNvPr id="20" name="文本框 19"/>
          <p:cNvSpPr txBox="1"/>
          <p:nvPr/>
        </p:nvSpPr>
        <p:spPr>
          <a:xfrm>
            <a:off x="5859780" y="2082908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21" name="文本框 20"/>
          <p:cNvSpPr txBox="1"/>
          <p:nvPr/>
        </p:nvSpPr>
        <p:spPr>
          <a:xfrm>
            <a:off x="5859780" y="1780817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22" name="文本框 21"/>
          <p:cNvSpPr txBox="1"/>
          <p:nvPr/>
        </p:nvSpPr>
        <p:spPr>
          <a:xfrm>
            <a:off x="5471160" y="1414742"/>
            <a:ext cx="10947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200" smtClean="0"/>
              <a:t>ntohl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23" name="文本框 22"/>
          <p:cNvSpPr txBox="1"/>
          <p:nvPr/>
        </p:nvSpPr>
        <p:spPr>
          <a:xfrm>
            <a:off x="5497830" y="1112651"/>
            <a:ext cx="10680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ntohl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24" name="左弧形箭头 23"/>
          <p:cNvSpPr/>
          <p:nvPr/>
        </p:nvSpPr>
        <p:spPr>
          <a:xfrm rot="16200000">
            <a:off x="5356614" y="1775206"/>
            <a:ext cx="815592" cy="5722875"/>
          </a:xfrm>
          <a:prstGeom prst="curv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5048250" y="4752711"/>
            <a:ext cx="1160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cable network</a:t>
            </a:r>
            <a:endParaRPr lang="zh-CN" altLang="en-US" sz="1200"/>
          </a:p>
        </p:txBody>
      </p:sp>
      <p:sp>
        <p:nvSpPr>
          <p:cNvPr id="26" name="文本框 25"/>
          <p:cNvSpPr txBox="1"/>
          <p:nvPr/>
        </p:nvSpPr>
        <p:spPr>
          <a:xfrm>
            <a:off x="3187700" y="2560253"/>
            <a:ext cx="15671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网络接口适配器</a:t>
            </a:r>
            <a:r>
              <a:rPr lang="en-US" altLang="zh-CN" sz="1200" smtClean="0"/>
              <a:t>NIC</a:t>
            </a:r>
            <a:endParaRPr lang="zh-CN" altLang="en-US" sz="1200"/>
          </a:p>
        </p:txBody>
      </p:sp>
      <p:sp>
        <p:nvSpPr>
          <p:cNvPr id="28" name="文本框 27"/>
          <p:cNvSpPr txBox="1"/>
          <p:nvPr/>
        </p:nvSpPr>
        <p:spPr>
          <a:xfrm>
            <a:off x="7381240" y="335549"/>
            <a:ext cx="21894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接收方：大端字节序</a:t>
            </a:r>
            <a:r>
              <a:rPr lang="en-US" altLang="zh-CN" sz="1200" smtClean="0"/>
              <a:t>/</a:t>
            </a:r>
            <a:r>
              <a:rPr lang="zh-CN" altLang="en-US" sz="1200" smtClean="0"/>
              <a:t>比特序</a:t>
            </a:r>
            <a:endParaRPr lang="en-US" altLang="zh-CN" sz="1200"/>
          </a:p>
        </p:txBody>
      </p:sp>
    </p:spTree>
    <p:extLst>
      <p:ext uri="{BB962C8B-B14F-4D97-AF65-F5344CB8AC3E}">
        <p14:creationId xmlns:p14="http://schemas.microsoft.com/office/powerpoint/2010/main" val="561520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2"/>
          <a:stretch>
            <a:fillRect/>
          </a:stretch>
        </p:blipFill>
        <p:spPr>
          <a:xfrm>
            <a:off x="3458845" y="1429702"/>
            <a:ext cx="5274310" cy="3998595"/>
          </a:xfrm>
          <a:prstGeom prst="rect">
            <a:avLst/>
          </a:prstGeom>
        </p:spPr>
      </p:pic>
      <p:cxnSp>
        <p:nvCxnSpPr>
          <p:cNvPr id="7" name="直接连接符 6"/>
          <p:cNvCxnSpPr/>
          <p:nvPr/>
        </p:nvCxnSpPr>
        <p:spPr>
          <a:xfrm>
            <a:off x="8030095" y="2277687"/>
            <a:ext cx="703060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8088285" y="2075503"/>
            <a:ext cx="7030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>
                <a:latin typeface="Times New Roman" panose="02020603050405020304" pitchFamily="18" charset="0"/>
                <a:cs typeface="Times New Roman" panose="02020603050405020304" pitchFamily="18" charset="0"/>
              </a:rPr>
              <a:t>x bytes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5968538" y="1512917"/>
            <a:ext cx="931026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5913308" y="1251307"/>
            <a:ext cx="1041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188-4-x bytes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555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>
            <a:spLocks noChangeArrowheads="1"/>
          </p:cNvSpPr>
          <p:nvPr/>
        </p:nvSpPr>
        <p:spPr bwMode="auto">
          <a:xfrm>
            <a:off x="2718594" y="1825466"/>
            <a:ext cx="4053681" cy="246221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2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2">
                  <a:lumMod val="60000"/>
                  <a:lumOff val="40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逻辑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SIP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实体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包括</a:t>
            </a:r>
            <a:endParaRPr lang="en-US" altLang="zh-CN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" name="上下箭头 5"/>
          <p:cNvSpPr>
            <a:spLocks noChangeArrowheads="1"/>
          </p:cNvSpPr>
          <p:nvPr/>
        </p:nvSpPr>
        <p:spPr bwMode="auto">
          <a:xfrm>
            <a:off x="3257550" y="2076450"/>
            <a:ext cx="144463" cy="498475"/>
          </a:xfrm>
          <a:prstGeom prst="upDownArrow">
            <a:avLst>
              <a:gd name="adj1" fmla="val 50000"/>
              <a:gd name="adj2" fmla="val 49985"/>
            </a:avLst>
          </a:prstGeom>
          <a:solidFill>
            <a:schemeClr val="accent1"/>
          </a:solidFill>
          <a:ln w="9525" algn="ctr">
            <a:noFill/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上下箭头 6"/>
          <p:cNvSpPr>
            <a:spLocks noChangeArrowheads="1"/>
          </p:cNvSpPr>
          <p:nvPr/>
        </p:nvSpPr>
        <p:spPr bwMode="auto">
          <a:xfrm>
            <a:off x="6057105" y="2076450"/>
            <a:ext cx="144463" cy="498475"/>
          </a:xfrm>
          <a:prstGeom prst="upDownArrow">
            <a:avLst>
              <a:gd name="adj1" fmla="val 50000"/>
              <a:gd name="adj2" fmla="val 49985"/>
            </a:avLst>
          </a:prstGeom>
          <a:solidFill>
            <a:schemeClr val="accent1"/>
          </a:solidFill>
          <a:ln w="9525" algn="ctr">
            <a:noFill/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TextBox 7"/>
          <p:cNvSpPr txBox="1">
            <a:spLocks noChangeArrowheads="1"/>
          </p:cNvSpPr>
          <p:nvPr/>
        </p:nvSpPr>
        <p:spPr bwMode="auto">
          <a:xfrm>
            <a:off x="2057400" y="2574925"/>
            <a:ext cx="2660649" cy="246221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2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2">
                  <a:lumMod val="60000"/>
                  <a:lumOff val="40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defRPr sz="11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sz="1000"/>
              <a:t>用户代理（</a:t>
            </a:r>
            <a:r>
              <a:rPr lang="en-US" altLang="zh-CN" sz="1000"/>
              <a:t>UA</a:t>
            </a:r>
            <a:r>
              <a:rPr lang="zh-CN" altLang="en-US" sz="1000"/>
              <a:t>）</a:t>
            </a:r>
          </a:p>
        </p:txBody>
      </p:sp>
      <p:sp>
        <p:nvSpPr>
          <p:cNvPr id="8" name="TextBox 8"/>
          <p:cNvSpPr txBox="1">
            <a:spLocks noChangeArrowheads="1"/>
          </p:cNvSpPr>
          <p:nvPr/>
        </p:nvSpPr>
        <p:spPr bwMode="auto">
          <a:xfrm>
            <a:off x="4914900" y="2574925"/>
            <a:ext cx="2857499" cy="246221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2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2">
                  <a:lumMod val="60000"/>
                  <a:lumOff val="40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defRPr sz="11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sz="1000"/>
              <a:t>网络服务器</a:t>
            </a:r>
          </a:p>
        </p:txBody>
      </p:sp>
      <p:sp>
        <p:nvSpPr>
          <p:cNvPr id="11" name="TextBox 11"/>
          <p:cNvSpPr txBox="1">
            <a:spLocks noChangeArrowheads="1"/>
          </p:cNvSpPr>
          <p:nvPr/>
        </p:nvSpPr>
        <p:spPr bwMode="auto">
          <a:xfrm>
            <a:off x="2057400" y="2821146"/>
            <a:ext cx="2660649" cy="120032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UAC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User Agent Client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，用户代理客户端，发送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SIP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请求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UAS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User Agent Server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，用户代理服务器，返回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SIP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响应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</a:pP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一个实体可以既是客户端，又是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服务器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UAC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和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UAS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都能终止一个呼叫</a:t>
            </a:r>
            <a:endParaRPr lang="zh-CN" altLang="en-US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2" name="TextBox 12"/>
          <p:cNvSpPr txBox="1">
            <a:spLocks noChangeArrowheads="1"/>
          </p:cNvSpPr>
          <p:nvPr/>
        </p:nvSpPr>
        <p:spPr bwMode="auto">
          <a:xfrm>
            <a:off x="4914900" y="2821146"/>
            <a:ext cx="2857499" cy="267765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Proxy Server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，代理服务器，为客户端转发请求或响应，可以同时做为服务器端和客户端，决定下一跳转发请求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消息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Registrar Server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，注册服务器。接受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REGISTER 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请求完成用户地址的注册，更新用户位置信息；可以支持鉴权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功能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Redirect Server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，重定向服务器，将请求中的地址映射为零个或多个新的地址，将用户新的位置返回给呼叫方。呼叫方可根据得到的新位置重新呼叫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。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Location 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Server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，位置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服务器，是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一个数据库，用于存放终端用户当前的位置信息，为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SIP 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重定向服务器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(Redirect Server)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或代理服务器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(proxy server) 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提供被叫用户可能的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位置信息</a:t>
            </a:r>
            <a:endParaRPr lang="zh-CN" altLang="en-US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559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3588" y="4273550"/>
            <a:ext cx="847725" cy="5334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938" y="4230688"/>
            <a:ext cx="962025" cy="600075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5613" y="2547938"/>
            <a:ext cx="1085850" cy="62865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</p:pic>
      <p:cxnSp>
        <p:nvCxnSpPr>
          <p:cNvPr id="7" name="直接箭头连接符 17"/>
          <p:cNvCxnSpPr>
            <a:cxnSpLocks noChangeShapeType="1"/>
          </p:cNvCxnSpPr>
          <p:nvPr/>
        </p:nvCxnSpPr>
        <p:spPr bwMode="auto">
          <a:xfrm flipV="1">
            <a:off x="2393950" y="2862263"/>
            <a:ext cx="2016125" cy="136842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" name="直接连接符 20"/>
          <p:cNvCxnSpPr>
            <a:cxnSpLocks noChangeShapeType="1"/>
          </p:cNvCxnSpPr>
          <p:nvPr/>
        </p:nvCxnSpPr>
        <p:spPr bwMode="auto">
          <a:xfrm>
            <a:off x="2906713" y="4578350"/>
            <a:ext cx="4240212" cy="1270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直接箭头连接符 22"/>
          <p:cNvCxnSpPr>
            <a:cxnSpLocks noChangeShapeType="1"/>
          </p:cNvCxnSpPr>
          <p:nvPr/>
        </p:nvCxnSpPr>
        <p:spPr bwMode="auto">
          <a:xfrm>
            <a:off x="5273675" y="2933700"/>
            <a:ext cx="2011363" cy="136842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直接箭头连接符 24"/>
          <p:cNvCxnSpPr>
            <a:cxnSpLocks noChangeShapeType="1"/>
          </p:cNvCxnSpPr>
          <p:nvPr/>
        </p:nvCxnSpPr>
        <p:spPr bwMode="auto">
          <a:xfrm flipH="1" flipV="1">
            <a:off x="5227638" y="3092450"/>
            <a:ext cx="1990725" cy="1354138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prstDash val="sysDash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直接箭头连接符 28"/>
          <p:cNvCxnSpPr>
            <a:cxnSpLocks noChangeShapeType="1"/>
          </p:cNvCxnSpPr>
          <p:nvPr/>
        </p:nvCxnSpPr>
        <p:spPr bwMode="auto">
          <a:xfrm flipH="1">
            <a:off x="2609850" y="3092450"/>
            <a:ext cx="1800225" cy="11811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prstDash val="sysDash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" name="TextBox 31"/>
          <p:cNvSpPr txBox="1">
            <a:spLocks noChangeArrowheads="1"/>
          </p:cNvSpPr>
          <p:nvPr/>
        </p:nvSpPr>
        <p:spPr bwMode="auto">
          <a:xfrm>
            <a:off x="3452813" y="3725863"/>
            <a:ext cx="741362" cy="277812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SIP</a:t>
            </a:r>
            <a:r>
              <a:rPr lang="zh-CN" altLang="en-US" sz="1200"/>
              <a:t>响应</a:t>
            </a:r>
          </a:p>
        </p:txBody>
      </p:sp>
      <p:sp>
        <p:nvSpPr>
          <p:cNvPr id="13" name="TextBox 32"/>
          <p:cNvSpPr txBox="1">
            <a:spLocks noChangeArrowheads="1"/>
          </p:cNvSpPr>
          <p:nvPr/>
        </p:nvSpPr>
        <p:spPr bwMode="auto">
          <a:xfrm>
            <a:off x="2589213" y="3222625"/>
            <a:ext cx="741362" cy="276225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SIP</a:t>
            </a:r>
            <a:r>
              <a:rPr lang="zh-CN" altLang="en-US" sz="1200"/>
              <a:t>请求</a:t>
            </a:r>
          </a:p>
        </p:txBody>
      </p:sp>
      <p:sp>
        <p:nvSpPr>
          <p:cNvPr id="14" name="TextBox 33"/>
          <p:cNvSpPr txBox="1">
            <a:spLocks noChangeArrowheads="1"/>
          </p:cNvSpPr>
          <p:nvPr/>
        </p:nvSpPr>
        <p:spPr bwMode="auto">
          <a:xfrm>
            <a:off x="6189663" y="3222625"/>
            <a:ext cx="739775" cy="276225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SIP</a:t>
            </a:r>
            <a:r>
              <a:rPr lang="zh-CN" altLang="en-US" sz="1200"/>
              <a:t>请求</a:t>
            </a:r>
          </a:p>
        </p:txBody>
      </p:sp>
      <p:sp>
        <p:nvSpPr>
          <p:cNvPr id="15" name="TextBox 34"/>
          <p:cNvSpPr txBox="1">
            <a:spLocks noChangeArrowheads="1"/>
          </p:cNvSpPr>
          <p:nvPr/>
        </p:nvSpPr>
        <p:spPr bwMode="auto">
          <a:xfrm>
            <a:off x="5541963" y="3725863"/>
            <a:ext cx="739775" cy="277812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SIP</a:t>
            </a:r>
            <a:r>
              <a:rPr lang="zh-CN" altLang="en-US" sz="1200"/>
              <a:t>响应</a:t>
            </a:r>
          </a:p>
        </p:txBody>
      </p:sp>
      <p:sp>
        <p:nvSpPr>
          <p:cNvPr id="16" name="圆角矩形标注 35"/>
          <p:cNvSpPr>
            <a:spLocks noChangeArrowheads="1"/>
          </p:cNvSpPr>
          <p:nvPr/>
        </p:nvSpPr>
        <p:spPr bwMode="auto">
          <a:xfrm>
            <a:off x="738188" y="3798888"/>
            <a:ext cx="1439862" cy="442912"/>
          </a:xfrm>
          <a:prstGeom prst="wedgeRoundRectCallout">
            <a:avLst>
              <a:gd name="adj1" fmla="val 45796"/>
              <a:gd name="adj2" fmla="val 79699"/>
              <a:gd name="adj3" fmla="val 16667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UAC</a:t>
            </a:r>
            <a:r>
              <a:rPr lang="zh-CN" altLang="en-US" sz="1200"/>
              <a:t>发送</a:t>
            </a:r>
            <a:r>
              <a:rPr lang="en-US" altLang="zh-CN" sz="1200"/>
              <a:t>SIP</a:t>
            </a:r>
            <a:r>
              <a:rPr lang="zh-CN" altLang="en-US" sz="1200"/>
              <a:t>请求</a:t>
            </a:r>
          </a:p>
        </p:txBody>
      </p:sp>
      <p:sp>
        <p:nvSpPr>
          <p:cNvPr id="17" name="圆角矩形标注 36"/>
          <p:cNvSpPr>
            <a:spLocks noChangeArrowheads="1"/>
          </p:cNvSpPr>
          <p:nvPr/>
        </p:nvSpPr>
        <p:spPr bwMode="auto">
          <a:xfrm>
            <a:off x="7650163" y="3787775"/>
            <a:ext cx="1439862" cy="442913"/>
          </a:xfrm>
          <a:prstGeom prst="wedgeRoundRectCallout">
            <a:avLst>
              <a:gd name="adj1" fmla="val -37491"/>
              <a:gd name="adj2" fmla="val 88296"/>
              <a:gd name="adj3" fmla="val 16667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UAS</a:t>
            </a:r>
            <a:r>
              <a:rPr lang="zh-CN" altLang="en-US" sz="1200"/>
              <a:t>接受</a:t>
            </a:r>
            <a:r>
              <a:rPr lang="en-US" altLang="zh-CN" sz="1200"/>
              <a:t>SIP</a:t>
            </a:r>
            <a:r>
              <a:rPr lang="zh-CN" altLang="en-US" sz="1200"/>
              <a:t>请求</a:t>
            </a:r>
          </a:p>
        </p:txBody>
      </p:sp>
      <p:sp>
        <p:nvSpPr>
          <p:cNvPr id="18" name="TextBox 37"/>
          <p:cNvSpPr txBox="1">
            <a:spLocks noChangeArrowheads="1"/>
          </p:cNvSpPr>
          <p:nvPr/>
        </p:nvSpPr>
        <p:spPr bwMode="auto">
          <a:xfrm>
            <a:off x="4481513" y="4662488"/>
            <a:ext cx="1157287" cy="276225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/>
              <a:t>媒体流（</a:t>
            </a:r>
            <a:r>
              <a:rPr lang="en-US" altLang="zh-CN" sz="1200"/>
              <a:t>RTP)</a:t>
            </a:r>
            <a:endParaRPr lang="zh-CN" altLang="en-US" sz="1200"/>
          </a:p>
        </p:txBody>
      </p:sp>
      <p:sp>
        <p:nvSpPr>
          <p:cNvPr id="19" name="圆角矩形标注 39"/>
          <p:cNvSpPr>
            <a:spLocks noChangeArrowheads="1"/>
          </p:cNvSpPr>
          <p:nvPr/>
        </p:nvSpPr>
        <p:spPr bwMode="auto">
          <a:xfrm>
            <a:off x="4338638" y="1709738"/>
            <a:ext cx="1851025" cy="731837"/>
          </a:xfrm>
          <a:prstGeom prst="wedgeRoundRectCallout">
            <a:avLst>
              <a:gd name="adj1" fmla="val 1704"/>
              <a:gd name="adj2" fmla="val 91162"/>
              <a:gd name="adj3" fmla="val 16667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Request  Proxy Server</a:t>
            </a:r>
          </a:p>
          <a:p>
            <a:pPr eaLnBrk="1" hangingPunct="1"/>
            <a:r>
              <a:rPr lang="zh-CN" altLang="en-US" sz="1200"/>
              <a:t>决定把请求消息送到何处</a:t>
            </a:r>
          </a:p>
        </p:txBody>
      </p:sp>
    </p:spTree>
    <p:extLst>
      <p:ext uri="{BB962C8B-B14F-4D97-AF65-F5344CB8AC3E}">
        <p14:creationId xmlns:p14="http://schemas.microsoft.com/office/powerpoint/2010/main" val="324871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763" y="1287463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2713" y="1190625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7404" y="3967516"/>
            <a:ext cx="495300" cy="542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直接连接符 8"/>
          <p:cNvCxnSpPr>
            <a:cxnSpLocks noChangeShapeType="1"/>
          </p:cNvCxnSpPr>
          <p:nvPr/>
        </p:nvCxnSpPr>
        <p:spPr bwMode="auto">
          <a:xfrm>
            <a:off x="1096963" y="1935163"/>
            <a:ext cx="0" cy="2459037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" name="直接连接符 9"/>
          <p:cNvCxnSpPr>
            <a:cxnSpLocks noChangeShapeType="1"/>
          </p:cNvCxnSpPr>
          <p:nvPr/>
        </p:nvCxnSpPr>
        <p:spPr bwMode="auto">
          <a:xfrm>
            <a:off x="3444875" y="1838325"/>
            <a:ext cx="0" cy="250507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" name="TextBox 10"/>
          <p:cNvSpPr txBox="1">
            <a:spLocks noChangeArrowheads="1"/>
          </p:cNvSpPr>
          <p:nvPr/>
        </p:nvSpPr>
        <p:spPr bwMode="auto">
          <a:xfrm>
            <a:off x="1646238" y="1422400"/>
            <a:ext cx="428322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UAC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8" name="TextBox 11"/>
          <p:cNvSpPr txBox="1">
            <a:spLocks noChangeArrowheads="1"/>
          </p:cNvSpPr>
          <p:nvPr/>
        </p:nvSpPr>
        <p:spPr bwMode="auto">
          <a:xfrm>
            <a:off x="3721100" y="1306984"/>
            <a:ext cx="415498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UAS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13"/>
          <p:cNvCxnSpPr>
            <a:cxnSpLocks noChangeShapeType="1"/>
          </p:cNvCxnSpPr>
          <p:nvPr/>
        </p:nvCxnSpPr>
        <p:spPr bwMode="auto">
          <a:xfrm>
            <a:off x="1096963" y="2150120"/>
            <a:ext cx="2347912" cy="7937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TextBox 14"/>
          <p:cNvSpPr txBox="1">
            <a:spLocks noChangeArrowheads="1"/>
          </p:cNvSpPr>
          <p:nvPr/>
        </p:nvSpPr>
        <p:spPr bwMode="auto">
          <a:xfrm>
            <a:off x="1921993" y="1921026"/>
            <a:ext cx="569387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INVITE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cxnSp>
        <p:nvCxnSpPr>
          <p:cNvPr id="11" name="直接箭头连接符 16"/>
          <p:cNvCxnSpPr>
            <a:cxnSpLocks noChangeShapeType="1"/>
          </p:cNvCxnSpPr>
          <p:nvPr/>
        </p:nvCxnSpPr>
        <p:spPr bwMode="auto">
          <a:xfrm flipH="1">
            <a:off x="1106185" y="2491164"/>
            <a:ext cx="23479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直接箭头连接符 18"/>
          <p:cNvCxnSpPr>
            <a:cxnSpLocks noChangeShapeType="1"/>
          </p:cNvCxnSpPr>
          <p:nvPr/>
        </p:nvCxnSpPr>
        <p:spPr bwMode="auto">
          <a:xfrm flipH="1">
            <a:off x="1106185" y="2867586"/>
            <a:ext cx="23479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直接箭头连接符 19"/>
          <p:cNvCxnSpPr>
            <a:cxnSpLocks noChangeShapeType="1"/>
          </p:cNvCxnSpPr>
          <p:nvPr/>
        </p:nvCxnSpPr>
        <p:spPr bwMode="auto">
          <a:xfrm flipH="1">
            <a:off x="1106185" y="3243030"/>
            <a:ext cx="23479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直接箭头连接符 20"/>
          <p:cNvCxnSpPr>
            <a:cxnSpLocks noChangeShapeType="1"/>
          </p:cNvCxnSpPr>
          <p:nvPr/>
        </p:nvCxnSpPr>
        <p:spPr bwMode="auto">
          <a:xfrm>
            <a:off x="1136348" y="3625236"/>
            <a:ext cx="2317749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" name="TextBox 21"/>
          <p:cNvSpPr txBox="1">
            <a:spLocks noChangeArrowheads="1"/>
          </p:cNvSpPr>
          <p:nvPr/>
        </p:nvSpPr>
        <p:spPr bwMode="auto">
          <a:xfrm>
            <a:off x="1893602" y="2260332"/>
            <a:ext cx="70083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100 Trying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6" name="TextBox 22"/>
          <p:cNvSpPr txBox="1">
            <a:spLocks noChangeArrowheads="1"/>
          </p:cNvSpPr>
          <p:nvPr/>
        </p:nvSpPr>
        <p:spPr bwMode="auto">
          <a:xfrm>
            <a:off x="1907565" y="2628935"/>
            <a:ext cx="61106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180 Ring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7" name="TextBox 23"/>
          <p:cNvSpPr txBox="1">
            <a:spLocks noChangeArrowheads="1"/>
          </p:cNvSpPr>
          <p:nvPr/>
        </p:nvSpPr>
        <p:spPr bwMode="auto">
          <a:xfrm>
            <a:off x="1921993" y="3023633"/>
            <a:ext cx="582211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200  OK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8" name="TextBox 24"/>
          <p:cNvSpPr txBox="1">
            <a:spLocks noChangeArrowheads="1"/>
          </p:cNvSpPr>
          <p:nvPr/>
        </p:nvSpPr>
        <p:spPr bwMode="auto">
          <a:xfrm>
            <a:off x="1947404" y="3394404"/>
            <a:ext cx="428322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ACK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9" name="TextBox 25"/>
          <p:cNvSpPr txBox="1">
            <a:spLocks noChangeArrowheads="1"/>
          </p:cNvSpPr>
          <p:nvPr/>
        </p:nvSpPr>
        <p:spPr bwMode="auto">
          <a:xfrm>
            <a:off x="1848254" y="3798544"/>
            <a:ext cx="71686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RTP/RTCP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5755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1304925"/>
            <a:ext cx="189706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5314" y="1295402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3500" y="1304925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7" name="直接连接符 7"/>
          <p:cNvCxnSpPr>
            <a:cxnSpLocks noChangeShapeType="1"/>
          </p:cNvCxnSpPr>
          <p:nvPr/>
        </p:nvCxnSpPr>
        <p:spPr bwMode="auto">
          <a:xfrm>
            <a:off x="2842051" y="1943102"/>
            <a:ext cx="0" cy="3270248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" name="直接连接符 8"/>
          <p:cNvCxnSpPr>
            <a:cxnSpLocks noChangeShapeType="1"/>
          </p:cNvCxnSpPr>
          <p:nvPr/>
        </p:nvCxnSpPr>
        <p:spPr bwMode="auto">
          <a:xfrm>
            <a:off x="5056188" y="1954213"/>
            <a:ext cx="0" cy="2770187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直接连接符 9"/>
          <p:cNvCxnSpPr>
            <a:cxnSpLocks noChangeShapeType="1"/>
          </p:cNvCxnSpPr>
          <p:nvPr/>
        </p:nvCxnSpPr>
        <p:spPr bwMode="auto">
          <a:xfrm>
            <a:off x="7052886" y="1954213"/>
            <a:ext cx="8411" cy="3259137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直接箭头连接符 9"/>
          <p:cNvCxnSpPr>
            <a:cxnSpLocks noChangeShapeType="1"/>
          </p:cNvCxnSpPr>
          <p:nvPr/>
        </p:nvCxnSpPr>
        <p:spPr bwMode="auto">
          <a:xfrm>
            <a:off x="2842051" y="2163292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直接箭头连接符 10"/>
          <p:cNvCxnSpPr>
            <a:cxnSpLocks noChangeShapeType="1"/>
          </p:cNvCxnSpPr>
          <p:nvPr/>
        </p:nvCxnSpPr>
        <p:spPr bwMode="auto">
          <a:xfrm flipH="1">
            <a:off x="2842051" y="2513336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直接箭头连接符 11"/>
          <p:cNvCxnSpPr>
            <a:cxnSpLocks noChangeShapeType="1"/>
          </p:cNvCxnSpPr>
          <p:nvPr/>
        </p:nvCxnSpPr>
        <p:spPr bwMode="auto">
          <a:xfrm>
            <a:off x="5063520" y="2723760"/>
            <a:ext cx="200146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直接箭头连接符 12"/>
          <p:cNvCxnSpPr>
            <a:cxnSpLocks noChangeShapeType="1"/>
          </p:cNvCxnSpPr>
          <p:nvPr/>
        </p:nvCxnSpPr>
        <p:spPr bwMode="auto">
          <a:xfrm flipH="1">
            <a:off x="5056188" y="3077691"/>
            <a:ext cx="2001459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直接箭头连接符 13"/>
          <p:cNvCxnSpPr>
            <a:cxnSpLocks noChangeShapeType="1"/>
          </p:cNvCxnSpPr>
          <p:nvPr/>
        </p:nvCxnSpPr>
        <p:spPr bwMode="auto">
          <a:xfrm flipH="1">
            <a:off x="2834641" y="3375961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" name="直接箭头连接符 14"/>
          <p:cNvCxnSpPr>
            <a:cxnSpLocks noChangeShapeType="1"/>
          </p:cNvCxnSpPr>
          <p:nvPr/>
        </p:nvCxnSpPr>
        <p:spPr bwMode="auto">
          <a:xfrm flipH="1">
            <a:off x="5048778" y="3652366"/>
            <a:ext cx="1994048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6" name="直接箭头连接符 15"/>
          <p:cNvCxnSpPr>
            <a:cxnSpLocks noChangeShapeType="1"/>
          </p:cNvCxnSpPr>
          <p:nvPr/>
        </p:nvCxnSpPr>
        <p:spPr bwMode="auto">
          <a:xfrm flipH="1">
            <a:off x="2834640" y="3962875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直接箭头连接符 16"/>
          <p:cNvCxnSpPr>
            <a:cxnSpLocks noChangeShapeType="1"/>
          </p:cNvCxnSpPr>
          <p:nvPr/>
        </p:nvCxnSpPr>
        <p:spPr bwMode="auto">
          <a:xfrm>
            <a:off x="2867082" y="4324276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8" name="直接箭头连接符 17"/>
          <p:cNvCxnSpPr>
            <a:cxnSpLocks noChangeShapeType="1"/>
          </p:cNvCxnSpPr>
          <p:nvPr/>
        </p:nvCxnSpPr>
        <p:spPr bwMode="auto">
          <a:xfrm>
            <a:off x="5048777" y="4592674"/>
            <a:ext cx="2013634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" name="TextBox 21"/>
          <p:cNvSpPr txBox="1">
            <a:spLocks noChangeArrowheads="1"/>
          </p:cNvSpPr>
          <p:nvPr/>
        </p:nvSpPr>
        <p:spPr bwMode="auto">
          <a:xfrm>
            <a:off x="3524626" y="1926110"/>
            <a:ext cx="6976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INVITE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0" name="TextBox 22"/>
          <p:cNvSpPr txBox="1">
            <a:spLocks noChangeArrowheads="1"/>
          </p:cNvSpPr>
          <p:nvPr/>
        </p:nvSpPr>
        <p:spPr bwMode="auto">
          <a:xfrm>
            <a:off x="5636682" y="2492928"/>
            <a:ext cx="6976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INVITE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1" name="TextBox 23"/>
          <p:cNvSpPr txBox="1">
            <a:spLocks noChangeArrowheads="1"/>
          </p:cNvSpPr>
          <p:nvPr/>
        </p:nvSpPr>
        <p:spPr bwMode="auto">
          <a:xfrm>
            <a:off x="3471911" y="2282504"/>
            <a:ext cx="86581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100 Trying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2" name="TextBox 24"/>
          <p:cNvSpPr txBox="1">
            <a:spLocks noChangeArrowheads="1"/>
          </p:cNvSpPr>
          <p:nvPr/>
        </p:nvSpPr>
        <p:spPr bwMode="auto">
          <a:xfrm>
            <a:off x="5625575" y="2846859"/>
            <a:ext cx="75373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180 Ring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3" name="TextBox 25"/>
          <p:cNvSpPr txBox="1">
            <a:spLocks noChangeArrowheads="1"/>
          </p:cNvSpPr>
          <p:nvPr/>
        </p:nvSpPr>
        <p:spPr bwMode="auto">
          <a:xfrm>
            <a:off x="3546987" y="3145129"/>
            <a:ext cx="75373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180 Ring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4" name="TextBox 26"/>
          <p:cNvSpPr txBox="1">
            <a:spLocks noChangeArrowheads="1"/>
          </p:cNvSpPr>
          <p:nvPr/>
        </p:nvSpPr>
        <p:spPr bwMode="auto">
          <a:xfrm>
            <a:off x="5644696" y="3421534"/>
            <a:ext cx="67518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200 OK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5" name="TextBox 27"/>
          <p:cNvSpPr txBox="1">
            <a:spLocks noChangeArrowheads="1"/>
          </p:cNvSpPr>
          <p:nvPr/>
        </p:nvSpPr>
        <p:spPr bwMode="auto">
          <a:xfrm>
            <a:off x="3558692" y="3732043"/>
            <a:ext cx="67518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200 OK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6" name="TextBox 28"/>
          <p:cNvSpPr txBox="1">
            <a:spLocks noChangeArrowheads="1"/>
          </p:cNvSpPr>
          <p:nvPr/>
        </p:nvSpPr>
        <p:spPr bwMode="auto">
          <a:xfrm>
            <a:off x="3590066" y="4093444"/>
            <a:ext cx="5084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ACK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7" name="TextBox 29"/>
          <p:cNvSpPr txBox="1">
            <a:spLocks noChangeArrowheads="1"/>
          </p:cNvSpPr>
          <p:nvPr/>
        </p:nvSpPr>
        <p:spPr bwMode="auto">
          <a:xfrm>
            <a:off x="5707213" y="4361842"/>
            <a:ext cx="5084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ACK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8" name="左右箭头 27"/>
          <p:cNvSpPr>
            <a:spLocks noChangeArrowheads="1"/>
          </p:cNvSpPr>
          <p:nvPr/>
        </p:nvSpPr>
        <p:spPr bwMode="auto">
          <a:xfrm>
            <a:off x="2842051" y="4742563"/>
            <a:ext cx="4210835" cy="215900"/>
          </a:xfrm>
          <a:prstGeom prst="leftRightArrow">
            <a:avLst>
              <a:gd name="adj1" fmla="val 50000"/>
              <a:gd name="adj2" fmla="val 50017"/>
            </a:avLst>
          </a:prstGeom>
          <a:solidFill>
            <a:schemeClr val="accent1"/>
          </a:solidFill>
          <a:ln w="9525" algn="ctr">
            <a:noFill/>
            <a:round/>
            <a:headEnd/>
            <a:tailEnd/>
          </a:ln>
        </p:spPr>
        <p:txBody>
          <a:bodyPr/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9" name="TextBox 36"/>
          <p:cNvSpPr txBox="1">
            <a:spLocks noChangeArrowheads="1"/>
          </p:cNvSpPr>
          <p:nvPr/>
        </p:nvSpPr>
        <p:spPr bwMode="auto">
          <a:xfrm>
            <a:off x="4472986" y="4917037"/>
            <a:ext cx="87633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RTP/RTCP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0" name="TextBox 39"/>
          <p:cNvSpPr txBox="1">
            <a:spLocks noChangeArrowheads="1"/>
          </p:cNvSpPr>
          <p:nvPr/>
        </p:nvSpPr>
        <p:spPr bwMode="auto">
          <a:xfrm>
            <a:off x="2006274" y="1414465"/>
            <a:ext cx="5084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UAC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1" name="TextBox 40"/>
          <p:cNvSpPr txBox="1">
            <a:spLocks noChangeArrowheads="1"/>
          </p:cNvSpPr>
          <p:nvPr/>
        </p:nvSpPr>
        <p:spPr bwMode="auto">
          <a:xfrm>
            <a:off x="7596914" y="1439306"/>
            <a:ext cx="49084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UAS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7632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 animBg="1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7513" y="917575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094" y="860268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4" name="直接连接符 5"/>
          <p:cNvCxnSpPr>
            <a:cxnSpLocks noChangeShapeType="1"/>
          </p:cNvCxnSpPr>
          <p:nvPr/>
        </p:nvCxnSpPr>
        <p:spPr bwMode="auto">
          <a:xfrm>
            <a:off x="2254250" y="1565275"/>
            <a:ext cx="0" cy="336486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" name="直接连接符 6"/>
          <p:cNvCxnSpPr>
            <a:cxnSpLocks noChangeShapeType="1"/>
          </p:cNvCxnSpPr>
          <p:nvPr/>
        </p:nvCxnSpPr>
        <p:spPr bwMode="auto">
          <a:xfrm>
            <a:off x="4499955" y="1565275"/>
            <a:ext cx="0" cy="121602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" name="直接连接符 7"/>
          <p:cNvCxnSpPr>
            <a:cxnSpLocks noChangeShapeType="1"/>
          </p:cNvCxnSpPr>
          <p:nvPr/>
        </p:nvCxnSpPr>
        <p:spPr bwMode="auto">
          <a:xfrm>
            <a:off x="6446462" y="1566863"/>
            <a:ext cx="8460" cy="3278441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" name="直接箭头连接符 6"/>
          <p:cNvCxnSpPr>
            <a:cxnSpLocks noChangeShapeType="1"/>
          </p:cNvCxnSpPr>
          <p:nvPr/>
        </p:nvCxnSpPr>
        <p:spPr bwMode="auto">
          <a:xfrm>
            <a:off x="2263775" y="1854200"/>
            <a:ext cx="223618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" name="直接箭头连接符 7"/>
          <p:cNvCxnSpPr>
            <a:cxnSpLocks noChangeShapeType="1"/>
          </p:cNvCxnSpPr>
          <p:nvPr/>
        </p:nvCxnSpPr>
        <p:spPr bwMode="auto">
          <a:xfrm flipH="1">
            <a:off x="2254250" y="2318196"/>
            <a:ext cx="223618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直接箭头连接符 8"/>
          <p:cNvCxnSpPr>
            <a:cxnSpLocks noChangeShapeType="1"/>
          </p:cNvCxnSpPr>
          <p:nvPr/>
        </p:nvCxnSpPr>
        <p:spPr bwMode="auto">
          <a:xfrm>
            <a:off x="2263775" y="2684193"/>
            <a:ext cx="223618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TextBox 11"/>
          <p:cNvSpPr txBox="1">
            <a:spLocks noChangeArrowheads="1"/>
          </p:cNvSpPr>
          <p:nvPr/>
        </p:nvSpPr>
        <p:spPr bwMode="auto">
          <a:xfrm>
            <a:off x="3113219" y="1588135"/>
            <a:ext cx="68159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INVITE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1" name="TextBox 12"/>
          <p:cNvSpPr txBox="1">
            <a:spLocks noChangeArrowheads="1"/>
          </p:cNvSpPr>
          <p:nvPr/>
        </p:nvSpPr>
        <p:spPr bwMode="auto">
          <a:xfrm>
            <a:off x="3039428" y="1918086"/>
            <a:ext cx="94288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301 Moved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Permanent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2" name="TextBox 13"/>
          <p:cNvSpPr txBox="1">
            <a:spLocks noChangeArrowheads="1"/>
          </p:cNvSpPr>
          <p:nvPr/>
        </p:nvSpPr>
        <p:spPr bwMode="auto">
          <a:xfrm>
            <a:off x="3165476" y="2437972"/>
            <a:ext cx="50045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ACK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3" name="左右箭头 12"/>
          <p:cNvSpPr>
            <a:spLocks noChangeArrowheads="1"/>
          </p:cNvSpPr>
          <p:nvPr/>
        </p:nvSpPr>
        <p:spPr bwMode="auto">
          <a:xfrm>
            <a:off x="2254249" y="4435775"/>
            <a:ext cx="4192212" cy="215900"/>
          </a:xfrm>
          <a:prstGeom prst="leftRightArrow">
            <a:avLst>
              <a:gd name="adj1" fmla="val 50000"/>
              <a:gd name="adj2" fmla="val 50017"/>
            </a:avLst>
          </a:prstGeom>
          <a:solidFill>
            <a:schemeClr val="accent1"/>
          </a:solidFill>
          <a:ln w="9525" algn="ctr">
            <a:noFill/>
            <a:round/>
            <a:headEnd/>
            <a:tailEnd/>
          </a:ln>
        </p:spPr>
        <p:txBody>
          <a:bodyPr/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4" name="TextBox 15"/>
          <p:cNvSpPr txBox="1">
            <a:spLocks noChangeArrowheads="1"/>
          </p:cNvSpPr>
          <p:nvPr/>
        </p:nvSpPr>
        <p:spPr bwMode="auto">
          <a:xfrm>
            <a:off x="4044956" y="4599083"/>
            <a:ext cx="94859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RTP/RTCP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5" name="TextBox 16"/>
          <p:cNvSpPr txBox="1">
            <a:spLocks noChangeArrowheads="1"/>
          </p:cNvSpPr>
          <p:nvPr/>
        </p:nvSpPr>
        <p:spPr bwMode="auto">
          <a:xfrm>
            <a:off x="1522413" y="1036638"/>
            <a:ext cx="5084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UAC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6" name="TextBox 17"/>
          <p:cNvSpPr txBox="1">
            <a:spLocks noChangeArrowheads="1"/>
          </p:cNvSpPr>
          <p:nvPr/>
        </p:nvSpPr>
        <p:spPr bwMode="auto">
          <a:xfrm>
            <a:off x="6869430" y="997903"/>
            <a:ext cx="50045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UAS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pic>
        <p:nvPicPr>
          <p:cNvPr id="17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3481" y="895193"/>
            <a:ext cx="1998663" cy="612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8" name="直接箭头连接符 17"/>
          <p:cNvCxnSpPr>
            <a:cxnSpLocks noChangeShapeType="1"/>
          </p:cNvCxnSpPr>
          <p:nvPr/>
        </p:nvCxnSpPr>
        <p:spPr bwMode="auto">
          <a:xfrm>
            <a:off x="2254249" y="3123092"/>
            <a:ext cx="41922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" name="TextBox 20"/>
          <p:cNvSpPr txBox="1">
            <a:spLocks noChangeArrowheads="1"/>
          </p:cNvSpPr>
          <p:nvPr/>
        </p:nvSpPr>
        <p:spPr bwMode="auto">
          <a:xfrm>
            <a:off x="4200757" y="2877775"/>
            <a:ext cx="68159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INVITE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cxnSp>
        <p:nvCxnSpPr>
          <p:cNvPr id="20" name="直接箭头连接符 19"/>
          <p:cNvCxnSpPr>
            <a:cxnSpLocks noChangeShapeType="1"/>
          </p:cNvCxnSpPr>
          <p:nvPr/>
        </p:nvCxnSpPr>
        <p:spPr bwMode="auto">
          <a:xfrm flipH="1">
            <a:off x="2254250" y="3514476"/>
            <a:ext cx="4192211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" name="TextBox 22"/>
          <p:cNvSpPr txBox="1">
            <a:spLocks noChangeArrowheads="1"/>
          </p:cNvSpPr>
          <p:nvPr/>
        </p:nvSpPr>
        <p:spPr bwMode="auto">
          <a:xfrm>
            <a:off x="4057288" y="3268255"/>
            <a:ext cx="100059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180 Ringing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cxnSp>
        <p:nvCxnSpPr>
          <p:cNvPr id="22" name="直接箭头连接符 21"/>
          <p:cNvCxnSpPr>
            <a:cxnSpLocks noChangeShapeType="1"/>
          </p:cNvCxnSpPr>
          <p:nvPr/>
        </p:nvCxnSpPr>
        <p:spPr bwMode="auto">
          <a:xfrm flipH="1">
            <a:off x="2263776" y="3905964"/>
            <a:ext cx="4192211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" name="TextBox 24"/>
          <p:cNvSpPr txBox="1">
            <a:spLocks noChangeArrowheads="1"/>
          </p:cNvSpPr>
          <p:nvPr/>
        </p:nvSpPr>
        <p:spPr bwMode="auto">
          <a:xfrm>
            <a:off x="4181521" y="3668490"/>
            <a:ext cx="7056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200 OK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cxnSp>
        <p:nvCxnSpPr>
          <p:cNvPr id="24" name="直接箭头连接符 23"/>
          <p:cNvCxnSpPr>
            <a:cxnSpLocks noChangeShapeType="1"/>
          </p:cNvCxnSpPr>
          <p:nvPr/>
        </p:nvCxnSpPr>
        <p:spPr bwMode="auto">
          <a:xfrm>
            <a:off x="2254249" y="4273264"/>
            <a:ext cx="41922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" name="TextBox 26"/>
          <p:cNvSpPr txBox="1">
            <a:spLocks noChangeArrowheads="1"/>
          </p:cNvSpPr>
          <p:nvPr/>
        </p:nvSpPr>
        <p:spPr bwMode="auto">
          <a:xfrm>
            <a:off x="4234111" y="4038155"/>
            <a:ext cx="50045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ACK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8055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 animBg="1"/>
      <p:bldP spid="14" grpId="0"/>
      <p:bldP spid="19" grpId="0"/>
      <p:bldP spid="21" grpId="0"/>
      <p:bldP spid="23" grpId="0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769435" y="1155080"/>
            <a:ext cx="1815016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1050" smtClean="0"/>
              <a:t>这个</a:t>
            </a:r>
            <a:r>
              <a:rPr lang="en-US" altLang="zh-CN" sz="1050" smtClean="0"/>
              <a:t>XML</a:t>
            </a:r>
            <a:r>
              <a:rPr lang="zh-CN" altLang="en-US" sz="1050" smtClean="0"/>
              <a:t>携带某个表格信息</a:t>
            </a:r>
            <a:endParaRPr lang="zh-CN" altLang="en-US" sz="1050"/>
          </a:p>
        </p:txBody>
      </p:sp>
      <p:sp>
        <p:nvSpPr>
          <p:cNvPr id="5" name="文本框 4"/>
          <p:cNvSpPr txBox="1"/>
          <p:nvPr/>
        </p:nvSpPr>
        <p:spPr>
          <a:xfrm>
            <a:off x="769435" y="1408996"/>
            <a:ext cx="1815016" cy="1061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&lt;table&gt;</a:t>
            </a:r>
          </a:p>
          <a:p>
            <a:r>
              <a:rPr lang="en-US" altLang="zh-CN" sz="1050" smtClean="0"/>
              <a:t>   &lt;tr&gt;</a:t>
            </a:r>
          </a:p>
          <a:p>
            <a:r>
              <a:rPr lang="en-US" altLang="zh-CN" sz="1050" smtClean="0"/>
              <a:t>   &lt;td&gt;Apples&lt;/td&gt;</a:t>
            </a:r>
          </a:p>
          <a:p>
            <a:r>
              <a:rPr lang="en-US" altLang="zh-CN" sz="1050" smtClean="0"/>
              <a:t>   &lt;td&gt;Bananas&lt;/td&gt;</a:t>
            </a:r>
          </a:p>
          <a:p>
            <a:r>
              <a:rPr lang="en-US" altLang="zh-CN" sz="1050" smtClean="0"/>
              <a:t>   &lt;/tr&gt;</a:t>
            </a:r>
          </a:p>
          <a:p>
            <a:r>
              <a:rPr lang="en-US" altLang="zh-CN" sz="1050" smtClean="0"/>
              <a:t>&lt;/table&gt;</a:t>
            </a:r>
            <a:endParaRPr lang="zh-CN" altLang="en-US" sz="1050"/>
          </a:p>
        </p:txBody>
      </p:sp>
      <p:sp>
        <p:nvSpPr>
          <p:cNvPr id="7" name="文本框 6"/>
          <p:cNvSpPr txBox="1"/>
          <p:nvPr/>
        </p:nvSpPr>
        <p:spPr>
          <a:xfrm>
            <a:off x="2972884" y="1160810"/>
            <a:ext cx="1986465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/>
              <a:t>这个</a:t>
            </a:r>
            <a:r>
              <a:rPr lang="en-US" altLang="zh-CN"/>
              <a:t>XML</a:t>
            </a:r>
            <a:r>
              <a:rPr lang="zh-CN" altLang="en-US"/>
              <a:t>携带有关桌子信息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2972885" y="1408995"/>
            <a:ext cx="1986464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&lt;table&gt;</a:t>
            </a:r>
          </a:p>
          <a:p>
            <a:r>
              <a:rPr lang="en-US" altLang="zh-CN" sz="1050" smtClean="0"/>
              <a:t>   &lt;name&gt;Tea Table&lt;/name&gt;</a:t>
            </a:r>
          </a:p>
          <a:p>
            <a:r>
              <a:rPr lang="en-US" altLang="zh-CN" sz="1050" smtClean="0"/>
              <a:t>   &lt;width&gt;80&lt;/width&gt;</a:t>
            </a:r>
          </a:p>
          <a:p>
            <a:r>
              <a:rPr lang="en-US" altLang="zh-CN" sz="1050" smtClean="0"/>
              <a:t>   &lt;length&gt;120&lt;/length&gt;</a:t>
            </a:r>
          </a:p>
          <a:p>
            <a:r>
              <a:rPr lang="en-US" altLang="zh-CN" sz="1050" smtClean="0"/>
              <a:t>&lt;/table&gt;</a:t>
            </a:r>
            <a:endParaRPr lang="zh-CN" altLang="en-US" sz="1050"/>
          </a:p>
        </p:txBody>
      </p:sp>
      <p:sp>
        <p:nvSpPr>
          <p:cNvPr id="9" name="上弧形箭头 8"/>
          <p:cNvSpPr/>
          <p:nvPr/>
        </p:nvSpPr>
        <p:spPr>
          <a:xfrm>
            <a:off x="1727200" y="787667"/>
            <a:ext cx="2190750" cy="329580"/>
          </a:xfrm>
          <a:prstGeom prst="curved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506034" y="350388"/>
            <a:ext cx="2762250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/>
              <a:t>命名冲突，如果两个这</a:t>
            </a:r>
            <a:r>
              <a:rPr lang="en-US" altLang="zh-CN"/>
              <a:t>XML</a:t>
            </a:r>
            <a:r>
              <a:rPr lang="zh-CN" altLang="en-US"/>
              <a:t>文档一起使用，</a:t>
            </a:r>
            <a:r>
              <a:rPr lang="en-US" altLang="zh-CN"/>
              <a:t>XML</a:t>
            </a:r>
            <a:r>
              <a:rPr lang="zh-CN" altLang="en-US"/>
              <a:t>解析器无法处理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990601" y="3460130"/>
            <a:ext cx="1815016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1050" smtClean="0"/>
              <a:t>这个</a:t>
            </a:r>
            <a:r>
              <a:rPr lang="en-US" altLang="zh-CN" sz="1050" smtClean="0"/>
              <a:t>XML</a:t>
            </a:r>
            <a:r>
              <a:rPr lang="zh-CN" altLang="en-US" sz="1050" smtClean="0"/>
              <a:t>携带某个表格信息</a:t>
            </a:r>
            <a:endParaRPr lang="zh-CN" altLang="en-US" sz="1050"/>
          </a:p>
        </p:txBody>
      </p:sp>
      <p:sp>
        <p:nvSpPr>
          <p:cNvPr id="12" name="文本框 11"/>
          <p:cNvSpPr txBox="1"/>
          <p:nvPr/>
        </p:nvSpPr>
        <p:spPr>
          <a:xfrm>
            <a:off x="990601" y="3714046"/>
            <a:ext cx="1815016" cy="1061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&lt;h:table&gt;</a:t>
            </a:r>
          </a:p>
          <a:p>
            <a:r>
              <a:rPr lang="en-US" altLang="zh-CN" sz="1050" smtClean="0"/>
              <a:t>   &lt;h:tr&gt;</a:t>
            </a:r>
          </a:p>
          <a:p>
            <a:r>
              <a:rPr lang="en-US" altLang="zh-CN" sz="1050" smtClean="0"/>
              <a:t>   &lt;h:td&gt;Apples&lt;/h:td&gt;</a:t>
            </a:r>
          </a:p>
          <a:p>
            <a:r>
              <a:rPr lang="en-US" altLang="zh-CN" sz="1050" smtClean="0"/>
              <a:t>   &lt;h:td&gt;Bananas&lt;/h:td&gt;</a:t>
            </a:r>
          </a:p>
          <a:p>
            <a:r>
              <a:rPr lang="en-US" altLang="zh-CN" sz="1050" smtClean="0"/>
              <a:t>   &lt;/h:tr&gt;</a:t>
            </a:r>
          </a:p>
          <a:p>
            <a:r>
              <a:rPr lang="en-US" altLang="zh-CN" sz="1050" smtClean="0"/>
              <a:t>&lt;/h:table&gt;</a:t>
            </a:r>
            <a:endParaRPr lang="zh-CN" altLang="en-US" sz="1050"/>
          </a:p>
        </p:txBody>
      </p:sp>
      <p:sp>
        <p:nvSpPr>
          <p:cNvPr id="13" name="文本框 12"/>
          <p:cNvSpPr txBox="1"/>
          <p:nvPr/>
        </p:nvSpPr>
        <p:spPr>
          <a:xfrm>
            <a:off x="3194050" y="3465860"/>
            <a:ext cx="2032001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/>
              <a:t>这个</a:t>
            </a:r>
            <a:r>
              <a:rPr lang="en-US" altLang="zh-CN"/>
              <a:t>XML</a:t>
            </a:r>
            <a:r>
              <a:rPr lang="zh-CN" altLang="en-US"/>
              <a:t>携带有关桌子信息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3194051" y="3714045"/>
            <a:ext cx="2032000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&lt;f:table&gt;</a:t>
            </a:r>
          </a:p>
          <a:p>
            <a:r>
              <a:rPr lang="en-US" altLang="zh-CN" sz="1050" smtClean="0"/>
              <a:t>   &lt;f:name&gt;Tea Table&lt;/f:name&gt;</a:t>
            </a:r>
          </a:p>
          <a:p>
            <a:r>
              <a:rPr lang="en-US" altLang="zh-CN" sz="1050" smtClean="0"/>
              <a:t>   &lt;f:width&gt;80&lt;/f:width&gt;</a:t>
            </a:r>
          </a:p>
          <a:p>
            <a:r>
              <a:rPr lang="en-US" altLang="zh-CN" sz="1050" smtClean="0"/>
              <a:t>   &lt;f:length&gt;120&lt;/f:length&gt;</a:t>
            </a:r>
          </a:p>
          <a:p>
            <a:r>
              <a:rPr lang="en-US" altLang="zh-CN" sz="1050" smtClean="0"/>
              <a:t>&lt;/f:table&gt;</a:t>
            </a:r>
            <a:endParaRPr lang="zh-CN" altLang="en-US" sz="1050"/>
          </a:p>
        </p:txBody>
      </p:sp>
      <p:sp>
        <p:nvSpPr>
          <p:cNvPr id="15" name="上弧形箭头 14"/>
          <p:cNvSpPr/>
          <p:nvPr/>
        </p:nvSpPr>
        <p:spPr>
          <a:xfrm>
            <a:off x="1948366" y="3092717"/>
            <a:ext cx="2190750" cy="329580"/>
          </a:xfrm>
          <a:prstGeom prst="curved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676943" y="2655438"/>
            <a:ext cx="2844800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使用了前缀，避免命名冲突，此时</a:t>
            </a:r>
            <a:r>
              <a:rPr lang="en-US" altLang="zh-CN" smtClean="0"/>
              <a:t>&lt;table&gt;</a:t>
            </a:r>
            <a:r>
              <a:rPr lang="zh-CN" altLang="en-US" smtClean="0"/>
              <a:t>元素的名称已经不同（</a:t>
            </a:r>
            <a:r>
              <a:rPr lang="en-US" altLang="zh-CN" smtClean="0"/>
              <a:t>&lt;h:table&gt; ≠</a:t>
            </a:r>
            <a:r>
              <a:rPr lang="zh-CN" altLang="en-US" smtClean="0"/>
              <a:t> </a:t>
            </a:r>
            <a:r>
              <a:rPr lang="en-US" altLang="zh-CN" smtClean="0"/>
              <a:t>&lt;f:table&gt;</a:t>
            </a:r>
            <a:r>
              <a:rPr lang="zh-CN" altLang="en-US" smtClean="0"/>
              <a:t>）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0145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177800" y="1561479"/>
            <a:ext cx="2851150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50" smtClean="0"/>
              <a:t>这个</a:t>
            </a:r>
            <a:r>
              <a:rPr lang="en-US" altLang="zh-CN" sz="1050" smtClean="0"/>
              <a:t>XML</a:t>
            </a:r>
            <a:r>
              <a:rPr lang="zh-CN" altLang="en-US" sz="1050" smtClean="0"/>
              <a:t>携带某个表格信息</a:t>
            </a:r>
            <a:endParaRPr lang="zh-CN" altLang="en-US" sz="1050"/>
          </a:p>
        </p:txBody>
      </p:sp>
      <p:sp>
        <p:nvSpPr>
          <p:cNvPr id="12" name="文本框 11"/>
          <p:cNvSpPr txBox="1"/>
          <p:nvPr/>
        </p:nvSpPr>
        <p:spPr>
          <a:xfrm>
            <a:off x="177800" y="1815395"/>
            <a:ext cx="2851150" cy="1061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&lt;h:table xmlns:h=“https://www.baidu.com/”&gt;</a:t>
            </a:r>
          </a:p>
          <a:p>
            <a:r>
              <a:rPr lang="en-US" altLang="zh-CN" sz="1050" smtClean="0"/>
              <a:t>   &lt;h:tr&gt;</a:t>
            </a:r>
          </a:p>
          <a:p>
            <a:r>
              <a:rPr lang="en-US" altLang="zh-CN" sz="1050" smtClean="0"/>
              <a:t>   &lt;h:td&gt;Apples&lt;/h:td&gt;</a:t>
            </a:r>
          </a:p>
          <a:p>
            <a:r>
              <a:rPr lang="en-US" altLang="zh-CN" sz="1050" smtClean="0"/>
              <a:t>   &lt;h:td&gt;Bananas&lt;/h:td&gt;</a:t>
            </a:r>
          </a:p>
          <a:p>
            <a:r>
              <a:rPr lang="en-US" altLang="zh-CN" sz="1050" smtClean="0"/>
              <a:t>   &lt;/h:tr&gt;</a:t>
            </a:r>
          </a:p>
          <a:p>
            <a:r>
              <a:rPr lang="en-US" altLang="zh-CN" sz="1050" smtClean="0"/>
              <a:t>&lt;/h:table&gt;</a:t>
            </a:r>
            <a:endParaRPr lang="zh-CN" altLang="en-US" sz="1050"/>
          </a:p>
        </p:txBody>
      </p:sp>
      <p:sp>
        <p:nvSpPr>
          <p:cNvPr id="13" name="文本框 12"/>
          <p:cNvSpPr txBox="1"/>
          <p:nvPr/>
        </p:nvSpPr>
        <p:spPr>
          <a:xfrm>
            <a:off x="3092450" y="1567210"/>
            <a:ext cx="2857500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pPr algn="ctr"/>
            <a:r>
              <a:rPr lang="zh-CN" altLang="en-US"/>
              <a:t>这个</a:t>
            </a:r>
            <a:r>
              <a:rPr lang="en-US" altLang="zh-CN"/>
              <a:t>XML</a:t>
            </a:r>
            <a:r>
              <a:rPr lang="zh-CN" altLang="en-US"/>
              <a:t>携带有关桌子信息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3092450" y="1815395"/>
            <a:ext cx="2857500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&lt;f:table xmlns:f=“https://www.google.com/”&gt;</a:t>
            </a:r>
          </a:p>
          <a:p>
            <a:r>
              <a:rPr lang="en-US" altLang="zh-CN" sz="1050" smtClean="0"/>
              <a:t>   &lt;f:name&gt;Tea Table&lt;/f:name&gt;</a:t>
            </a:r>
          </a:p>
          <a:p>
            <a:r>
              <a:rPr lang="en-US" altLang="zh-CN" sz="1050" smtClean="0"/>
              <a:t>   &lt;f:width&gt;80&lt;/f:width&gt;</a:t>
            </a:r>
          </a:p>
          <a:p>
            <a:r>
              <a:rPr lang="en-US" altLang="zh-CN" sz="1050" smtClean="0"/>
              <a:t>   &lt;f:length&gt;120&lt;/f:length&gt;</a:t>
            </a:r>
          </a:p>
          <a:p>
            <a:r>
              <a:rPr lang="en-US" altLang="zh-CN" sz="1050" smtClean="0"/>
              <a:t>&lt;/f:table&gt;</a:t>
            </a:r>
            <a:endParaRPr lang="zh-CN" altLang="en-US" sz="1050"/>
          </a:p>
        </p:txBody>
      </p:sp>
      <p:sp>
        <p:nvSpPr>
          <p:cNvPr id="15" name="上弧形箭头 14"/>
          <p:cNvSpPr/>
          <p:nvPr/>
        </p:nvSpPr>
        <p:spPr>
          <a:xfrm>
            <a:off x="1339849" y="1194067"/>
            <a:ext cx="3126019" cy="367412"/>
          </a:xfrm>
          <a:prstGeom prst="curved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359170" y="778569"/>
            <a:ext cx="3047457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不仅使用了前缀，两个</a:t>
            </a:r>
            <a:r>
              <a:rPr lang="en-US" altLang="zh-CN" smtClean="0"/>
              <a:t>table</a:t>
            </a:r>
            <a:r>
              <a:rPr lang="zh-CN" altLang="en-US" smtClean="0"/>
              <a:t>元素还都使用了</a:t>
            </a:r>
            <a:r>
              <a:rPr lang="en-US" altLang="zh-CN" smtClean="0"/>
              <a:t>xmlns</a:t>
            </a:r>
            <a:r>
              <a:rPr lang="zh-CN" altLang="en-US" smtClean="0"/>
              <a:t>属性，使元素和不同的命名空间相关联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23900" y="3974479"/>
            <a:ext cx="2616200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50" smtClean="0"/>
              <a:t>这个</a:t>
            </a:r>
            <a:r>
              <a:rPr lang="en-US" altLang="zh-CN" sz="1050" smtClean="0"/>
              <a:t>XML</a:t>
            </a:r>
            <a:r>
              <a:rPr lang="zh-CN" altLang="en-US" sz="1050" smtClean="0"/>
              <a:t>携带某个表格信息</a:t>
            </a:r>
            <a:endParaRPr lang="zh-CN" altLang="en-US" sz="1050"/>
          </a:p>
        </p:txBody>
      </p:sp>
      <p:sp>
        <p:nvSpPr>
          <p:cNvPr id="18" name="文本框 17"/>
          <p:cNvSpPr txBox="1"/>
          <p:nvPr/>
        </p:nvSpPr>
        <p:spPr>
          <a:xfrm>
            <a:off x="723900" y="4228395"/>
            <a:ext cx="2616200" cy="1061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&lt;table xmlns=“https://www.baidu.com/”&gt;</a:t>
            </a:r>
          </a:p>
          <a:p>
            <a:r>
              <a:rPr lang="en-US" altLang="zh-CN" sz="1050" smtClean="0"/>
              <a:t>   &lt;tr&gt;</a:t>
            </a:r>
          </a:p>
          <a:p>
            <a:r>
              <a:rPr lang="en-US" altLang="zh-CN" sz="1050" smtClean="0"/>
              <a:t>   &lt;td&gt;Apples&lt;/td&gt;</a:t>
            </a:r>
          </a:p>
          <a:p>
            <a:r>
              <a:rPr lang="en-US" altLang="zh-CN" sz="1050" smtClean="0"/>
              <a:t>   &lt;td&gt;Bananas&lt;/td&gt;</a:t>
            </a:r>
          </a:p>
          <a:p>
            <a:r>
              <a:rPr lang="en-US" altLang="zh-CN" sz="1050" smtClean="0"/>
              <a:t>   &lt;/tr&gt;</a:t>
            </a:r>
          </a:p>
          <a:p>
            <a:r>
              <a:rPr lang="en-US" altLang="zh-CN" sz="1050" smtClean="0"/>
              <a:t>&lt;/table&gt;</a:t>
            </a:r>
            <a:endParaRPr lang="zh-CN" altLang="en-US" sz="1050"/>
          </a:p>
        </p:txBody>
      </p:sp>
      <p:sp>
        <p:nvSpPr>
          <p:cNvPr id="19" name="文本框 18"/>
          <p:cNvSpPr txBox="1"/>
          <p:nvPr/>
        </p:nvSpPr>
        <p:spPr>
          <a:xfrm>
            <a:off x="3638550" y="3980210"/>
            <a:ext cx="2717800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pPr algn="ctr"/>
            <a:r>
              <a:rPr lang="zh-CN" altLang="en-US"/>
              <a:t>这个</a:t>
            </a:r>
            <a:r>
              <a:rPr lang="en-US" altLang="zh-CN"/>
              <a:t>XML</a:t>
            </a:r>
            <a:r>
              <a:rPr lang="zh-CN" altLang="en-US"/>
              <a:t>携带有关桌子信息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3638550" y="4228395"/>
            <a:ext cx="2717800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&lt;table xmlns=“https://www.google.com/”&gt;</a:t>
            </a:r>
          </a:p>
          <a:p>
            <a:r>
              <a:rPr lang="en-US" altLang="zh-CN" sz="1050" smtClean="0"/>
              <a:t>   &lt;name&gt;Tea Table&lt;/name&gt;</a:t>
            </a:r>
          </a:p>
          <a:p>
            <a:r>
              <a:rPr lang="en-US" altLang="zh-CN" sz="1050" smtClean="0"/>
              <a:t>   &lt;width&gt;80&lt;/width&gt;</a:t>
            </a:r>
          </a:p>
          <a:p>
            <a:r>
              <a:rPr lang="en-US" altLang="zh-CN" sz="1050" smtClean="0"/>
              <a:t>   &lt;length&gt;120&lt;/length&gt;</a:t>
            </a:r>
          </a:p>
          <a:p>
            <a:r>
              <a:rPr lang="en-US" altLang="zh-CN" sz="1050" smtClean="0"/>
              <a:t>&lt;/table&gt;</a:t>
            </a:r>
            <a:endParaRPr lang="zh-CN" altLang="en-US" sz="1050"/>
          </a:p>
        </p:txBody>
      </p:sp>
      <p:sp>
        <p:nvSpPr>
          <p:cNvPr id="21" name="上弧形箭头 20"/>
          <p:cNvSpPr/>
          <p:nvPr/>
        </p:nvSpPr>
        <p:spPr>
          <a:xfrm>
            <a:off x="1885949" y="3607067"/>
            <a:ext cx="3126019" cy="367412"/>
          </a:xfrm>
          <a:prstGeom prst="curved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905270" y="3191569"/>
            <a:ext cx="3047457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默认命名空间，省去在所有的子元素中使用前缀的工作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85351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5328211" y="2512844"/>
            <a:ext cx="788948" cy="415498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pPr algn="ctr"/>
            <a:r>
              <a:rPr lang="zh-CN" altLang="en-US" smtClean="0"/>
              <a:t>虚拟内存系统</a:t>
            </a:r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2712853" y="2666732"/>
            <a:ext cx="875757" cy="26161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文件映射</a:t>
            </a:r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3512820" y="2257782"/>
            <a:ext cx="1783080" cy="13540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shade val="30000"/>
                  <a:satMod val="115000"/>
                </a:schemeClr>
              </a:gs>
              <a:gs pos="50000">
                <a:schemeClr val="accent1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accent1">
                  <a:lumMod val="20000"/>
                  <a:lumOff val="80000"/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3674673" y="2655436"/>
            <a:ext cx="1480459" cy="57708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pPr algn="ctr"/>
            <a:r>
              <a:rPr lang="zh-CN" altLang="en-US" smtClean="0"/>
              <a:t>文件视图</a:t>
            </a:r>
            <a:endParaRPr lang="en-US" altLang="zh-CN" smtClean="0"/>
          </a:p>
          <a:p>
            <a:pPr algn="ctr"/>
            <a:r>
              <a:rPr lang="zh-CN" altLang="en-US" smtClean="0"/>
              <a:t>（文件视图即进程虚拟内存空间的一部分）</a:t>
            </a:r>
            <a:endParaRPr lang="zh-CN" altLang="en-US"/>
          </a:p>
        </p:txBody>
      </p:sp>
      <p:cxnSp>
        <p:nvCxnSpPr>
          <p:cNvPr id="7" name="直接箭头连接符 6"/>
          <p:cNvCxnSpPr>
            <a:endCxn id="5" idx="1"/>
          </p:cNvCxnSpPr>
          <p:nvPr/>
        </p:nvCxnSpPr>
        <p:spPr>
          <a:xfrm flipV="1">
            <a:off x="2552699" y="2943977"/>
            <a:ext cx="1121974" cy="1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矩形 14"/>
          <p:cNvSpPr/>
          <p:nvPr/>
        </p:nvSpPr>
        <p:spPr>
          <a:xfrm>
            <a:off x="6095867" y="2387322"/>
            <a:ext cx="1642519" cy="108204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shade val="30000"/>
                  <a:satMod val="115000"/>
                </a:schemeClr>
              </a:gs>
              <a:gs pos="50000">
                <a:schemeClr val="accent1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accent1">
                  <a:lumMod val="20000"/>
                  <a:lumOff val="80000"/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>
                <a:solidFill>
                  <a:schemeClr val="tx1"/>
                </a:solidFill>
              </a:rPr>
              <a:t>物理内存</a:t>
            </a:r>
          </a:p>
        </p:txBody>
      </p:sp>
      <p:cxnSp>
        <p:nvCxnSpPr>
          <p:cNvPr id="19" name="直接箭头连接符 18"/>
          <p:cNvCxnSpPr>
            <a:stCxn id="12" idx="3"/>
            <a:endCxn id="15" idx="1"/>
          </p:cNvCxnSpPr>
          <p:nvPr/>
        </p:nvCxnSpPr>
        <p:spPr>
          <a:xfrm flipV="1">
            <a:off x="5295900" y="2928342"/>
            <a:ext cx="799967" cy="648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3750192" y="3295240"/>
            <a:ext cx="1329419" cy="253916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进程虚拟内存空间</a:t>
            </a:r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1091626" y="2666732"/>
            <a:ext cx="1480459" cy="577081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shade val="30000"/>
                  <a:satMod val="115000"/>
                </a:schemeClr>
              </a:gs>
              <a:gs pos="50000">
                <a:schemeClr val="accent1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accent1">
                  <a:lumMod val="20000"/>
                  <a:lumOff val="80000"/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algn="ctr">
              <a:defRPr sz="105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endParaRPr lang="en-US" altLang="zh-CN"/>
          </a:p>
          <a:p>
            <a:r>
              <a:rPr lang="zh-CN" altLang="en-US">
                <a:solidFill>
                  <a:schemeClr val="tx1"/>
                </a:solidFill>
              </a:rPr>
              <a:t>磁盘文件</a:t>
            </a:r>
            <a:endParaRPr lang="en-US" altLang="zh-CN">
              <a:solidFill>
                <a:schemeClr val="tx1"/>
              </a:solidFill>
            </a:endParaRP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8361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133274"/>
              </p:ext>
            </p:extLst>
          </p:nvPr>
        </p:nvGraphicFramePr>
        <p:xfrm>
          <a:off x="1472276" y="731780"/>
          <a:ext cx="4503074" cy="27543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4787">
                  <a:extLst>
                    <a:ext uri="{9D8B030D-6E8A-4147-A177-3AD203B41FA5}">
                      <a16:colId xmlns:a16="http://schemas.microsoft.com/office/drawing/2014/main" val="2672957971"/>
                    </a:ext>
                  </a:extLst>
                </a:gridCol>
                <a:gridCol w="2768287">
                  <a:extLst>
                    <a:ext uri="{9D8B030D-6E8A-4147-A177-3AD203B41FA5}">
                      <a16:colId xmlns:a16="http://schemas.microsoft.com/office/drawing/2014/main" val="425931253"/>
                    </a:ext>
                  </a:extLst>
                </a:gridCol>
              </a:tblGrid>
              <a:tr h="342212"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内存地址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页面状态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89628359"/>
                  </a:ext>
                </a:extLst>
              </a:tr>
              <a:tr h="342212"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第一个页面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4KB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（栈顶）已缓存页面 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PAGE_READWRITE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16113316"/>
                  </a:ext>
                </a:extLst>
              </a:tr>
              <a:tr h="34221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第二个页面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4KB</a:t>
                      </a:r>
                      <a:endParaRPr lang="zh-CN" altLang="en-US" sz="110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已分配页面 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PAGE_GUARD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18997161"/>
                  </a:ext>
                </a:extLst>
              </a:tr>
              <a:tr h="34221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第三个页面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4KB</a:t>
                      </a:r>
                      <a:endParaRPr lang="zh-CN" altLang="en-US" sz="110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已分配页面 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PAGE_GUARD</a:t>
                      </a:r>
                      <a:endParaRPr lang="zh-CN" altLang="en-US" sz="110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948322033"/>
                  </a:ext>
                </a:extLst>
              </a:tr>
              <a:tr h="669349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40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……</a:t>
                      </a:r>
                      <a:endParaRPr lang="zh-CN" altLang="en-US" sz="4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946313"/>
                  </a:ext>
                </a:extLst>
              </a:tr>
              <a:tr h="342212"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倒数第二个页面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4KB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已分配页面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PAGE_GUARD</a:t>
                      </a:r>
                      <a:endParaRPr lang="zh-CN" altLang="en-US" sz="110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24714129"/>
                  </a:ext>
                </a:extLst>
              </a:tr>
              <a:tr h="342212"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倒数第一个页面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4KB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（栈底）已分配页面 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PAGE_GUARD</a:t>
                      </a:r>
                      <a:endParaRPr lang="zh-CN" altLang="en-US" sz="110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53440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1369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2245</TotalTime>
  <Words>1183</Words>
  <Application>Microsoft Office PowerPoint</Application>
  <PresentationFormat>宽屏</PresentationFormat>
  <Paragraphs>407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5" baseType="lpstr">
      <vt:lpstr>等线</vt:lpstr>
      <vt:lpstr>等线 Light</vt:lpstr>
      <vt:lpstr>宋体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Myth</dc:creator>
  <cp:lastModifiedBy>Myth</cp:lastModifiedBy>
  <cp:revision>66</cp:revision>
  <dcterms:created xsi:type="dcterms:W3CDTF">2019-01-14T11:49:30Z</dcterms:created>
  <dcterms:modified xsi:type="dcterms:W3CDTF">2019-07-18T12:45:15Z</dcterms:modified>
</cp:coreProperties>
</file>