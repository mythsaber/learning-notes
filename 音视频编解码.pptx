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2019/7/25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7620114" y="3526912"/>
            <a:ext cx="96427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7620114" y="3788441"/>
            <a:ext cx="964277" cy="40732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1001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2001</a:t>
            </a:r>
            <a:endParaRPr lang="en-US" altLang="zh-CN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685" y="3597906"/>
            <a:ext cx="930844" cy="59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58" y="382125"/>
            <a:ext cx="5657850" cy="34004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08" y="382125"/>
            <a:ext cx="5657850" cy="340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8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77886" y="1159375"/>
            <a:ext cx="461865" cy="3477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677886" y="1779601"/>
            <a:ext cx="1878022" cy="361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96751" y="2408992"/>
            <a:ext cx="2559157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996751" y="1779600"/>
            <a:ext cx="681135" cy="3613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15616" y="2408992"/>
            <a:ext cx="68113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下箭头 8"/>
          <p:cNvSpPr/>
          <p:nvPr/>
        </p:nvSpPr>
        <p:spPr>
          <a:xfrm>
            <a:off x="3313524" y="1518905"/>
            <a:ext cx="289248" cy="268041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下箭头 9"/>
          <p:cNvSpPr/>
          <p:nvPr/>
        </p:nvSpPr>
        <p:spPr>
          <a:xfrm>
            <a:off x="3269138" y="2132626"/>
            <a:ext cx="289248" cy="254467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996751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39347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81943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24539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6713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0973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5232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94923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966868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209464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52060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94656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93725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17984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42244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5665040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3698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7958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42217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664773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907369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7149965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392561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635157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90710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814969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39229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8634890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877486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120082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362678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605274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03615" y="3507971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4048469" y="4795669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3" name="右箭头 2"/>
          <p:cNvSpPr/>
          <p:nvPr/>
        </p:nvSpPr>
        <p:spPr>
          <a:xfrm>
            <a:off x="2481942" y="3587366"/>
            <a:ext cx="6759437" cy="173038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大括号 43"/>
          <p:cNvSpPr/>
          <p:nvPr/>
        </p:nvSpPr>
        <p:spPr>
          <a:xfrm rot="16200000">
            <a:off x="2720807" y="3614000"/>
            <a:ext cx="242596" cy="1448111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638769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s.a</a:t>
            </a:r>
            <a:endParaRPr lang="zh-CN" altLang="en-US" sz="1100"/>
          </a:p>
        </p:txBody>
      </p:sp>
      <p:sp>
        <p:nvSpPr>
          <p:cNvPr id="46" name="左大括号 45"/>
          <p:cNvSpPr/>
          <p:nvPr/>
        </p:nvSpPr>
        <p:spPr>
          <a:xfrm rot="16200000">
            <a:off x="7028667" y="3240961"/>
            <a:ext cx="242596" cy="2194179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6985890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s.b</a:t>
            </a:r>
            <a:endParaRPr lang="zh-CN" altLang="en-US" sz="1100"/>
          </a:p>
        </p:txBody>
      </p:sp>
      <p:sp>
        <p:nvSpPr>
          <p:cNvPr id="48" name="矩形 47"/>
          <p:cNvSpPr/>
          <p:nvPr/>
        </p:nvSpPr>
        <p:spPr>
          <a:xfrm>
            <a:off x="1926771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169367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411963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654559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897155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139751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382347" y="507491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3624943" y="507491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340292" y="4810624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57" name="左大括号 56"/>
          <p:cNvSpPr/>
          <p:nvPr/>
        </p:nvSpPr>
        <p:spPr>
          <a:xfrm rot="16200000">
            <a:off x="3548120" y="5342002"/>
            <a:ext cx="153646" cy="304491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2197081" y="5571072"/>
            <a:ext cx="335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右箭头 58"/>
          <p:cNvSpPr/>
          <p:nvPr/>
        </p:nvSpPr>
        <p:spPr>
          <a:xfrm>
            <a:off x="1858564" y="4841312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2882624" y="5564302"/>
            <a:ext cx="2582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124277" y="555668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左大括号 61"/>
          <p:cNvSpPr/>
          <p:nvPr/>
        </p:nvSpPr>
        <p:spPr>
          <a:xfrm rot="16200000">
            <a:off x="2300698" y="5113480"/>
            <a:ext cx="153644" cy="761537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3488024" y="557107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3018453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263226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056559" y="4945722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74" name="矩形 73"/>
          <p:cNvSpPr/>
          <p:nvPr/>
        </p:nvSpPr>
        <p:spPr>
          <a:xfrm>
            <a:off x="5934861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77457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420053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662649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905245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7147841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7390437" y="522496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7633033" y="522496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348382" y="4960677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85" name="右箭头 84"/>
          <p:cNvSpPr/>
          <p:nvPr/>
        </p:nvSpPr>
        <p:spPr>
          <a:xfrm>
            <a:off x="5866654" y="4991365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/>
          <p:cNvSpPr/>
          <p:nvPr/>
        </p:nvSpPr>
        <p:spPr>
          <a:xfrm>
            <a:off x="3139752" y="1159376"/>
            <a:ext cx="485192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3625462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4090685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619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587549"/>
              </p:ext>
            </p:extLst>
          </p:nvPr>
        </p:nvGraphicFramePr>
        <p:xfrm>
          <a:off x="1239520" y="727286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0001 1110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0110 1010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0010 1100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0100 1000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239520" y="57872"/>
            <a:ext cx="4033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发送方：小端字节序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比特序，发送</a:t>
            </a:r>
            <a:r>
              <a:rPr lang="en-US" altLang="zh-CN" sz="1200" smtClean="0"/>
              <a:t>int</a:t>
            </a:r>
            <a:r>
              <a:rPr lang="zh-CN" altLang="en-US" sz="1200" smtClean="0"/>
              <a:t>型整数</a:t>
            </a:r>
            <a:r>
              <a:rPr lang="en-US" altLang="zh-CN" sz="1200" smtClean="0"/>
              <a:t>305419896</a:t>
            </a:r>
            <a:endParaRPr lang="en-US" altLang="zh-CN" sz="1200"/>
          </a:p>
          <a:p>
            <a:r>
              <a:rPr lang="en-US" altLang="zh-CN" sz="1200" smtClean="0"/>
              <a:t>305419896=0x12345678</a:t>
            </a:r>
          </a:p>
          <a:p>
            <a:r>
              <a:rPr lang="en-US" altLang="zh-CN" sz="1200" smtClean="0"/>
              <a:t>    =0001 0010 0011 0100 0101 0110 0111 1000</a:t>
            </a:r>
            <a:r>
              <a:rPr lang="zh-CN" altLang="en-US" sz="1200" smtClean="0"/>
              <a:t>（二进制）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426720" y="72728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8" name="文本框 7"/>
          <p:cNvSpPr txBox="1"/>
          <p:nvPr/>
        </p:nvSpPr>
        <p:spPr>
          <a:xfrm>
            <a:off x="609600" y="1050451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609600" y="1432913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0" name="文本框 9"/>
          <p:cNvSpPr txBox="1"/>
          <p:nvPr/>
        </p:nvSpPr>
        <p:spPr>
          <a:xfrm>
            <a:off x="144780" y="1776907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11" name="文本框 10"/>
          <p:cNvSpPr txBox="1"/>
          <p:nvPr/>
        </p:nvSpPr>
        <p:spPr>
          <a:xfrm>
            <a:off x="198120" y="2096224"/>
            <a:ext cx="1041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2" name="下箭头 11"/>
          <p:cNvSpPr/>
          <p:nvPr/>
        </p:nvSpPr>
        <p:spPr>
          <a:xfrm>
            <a:off x="3009900" y="2415541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1170940" y="3116580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38150" y="3772624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5" name="下箭头 14"/>
          <p:cNvSpPr/>
          <p:nvPr/>
        </p:nvSpPr>
        <p:spPr>
          <a:xfrm rot="10800000">
            <a:off x="8328660" y="2391466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6489700" y="3092505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5756910" y="3748549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87583"/>
              </p:ext>
            </p:extLst>
          </p:nvPr>
        </p:nvGraphicFramePr>
        <p:xfrm>
          <a:off x="6489700" y="727287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0x34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0x56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0x78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676900" y="727287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5859780" y="2082908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1" name="文本框 20"/>
          <p:cNvSpPr txBox="1"/>
          <p:nvPr/>
        </p:nvSpPr>
        <p:spPr>
          <a:xfrm>
            <a:off x="5859780" y="1780817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2" name="文本框 21"/>
          <p:cNvSpPr txBox="1"/>
          <p:nvPr/>
        </p:nvSpPr>
        <p:spPr>
          <a:xfrm>
            <a:off x="5471160" y="1414742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3" name="文本框 22"/>
          <p:cNvSpPr txBox="1"/>
          <p:nvPr/>
        </p:nvSpPr>
        <p:spPr>
          <a:xfrm>
            <a:off x="5497830" y="1112651"/>
            <a:ext cx="10680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4" name="左弧形箭头 23"/>
          <p:cNvSpPr/>
          <p:nvPr/>
        </p:nvSpPr>
        <p:spPr>
          <a:xfrm rot="16200000">
            <a:off x="5356614" y="1775206"/>
            <a:ext cx="815592" cy="5722875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48250" y="4752711"/>
            <a:ext cx="1160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cable network</a:t>
            </a:r>
            <a:endParaRPr lang="zh-CN" altLang="en-US" sz="1200"/>
          </a:p>
        </p:txBody>
      </p:sp>
      <p:sp>
        <p:nvSpPr>
          <p:cNvPr id="26" name="文本框 25"/>
          <p:cNvSpPr txBox="1"/>
          <p:nvPr/>
        </p:nvSpPr>
        <p:spPr>
          <a:xfrm>
            <a:off x="3187700" y="2560253"/>
            <a:ext cx="1567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网络接口适配器</a:t>
            </a:r>
            <a:r>
              <a:rPr lang="en-US" altLang="zh-CN" sz="1200" smtClean="0"/>
              <a:t>NIC</a:t>
            </a:r>
            <a:endParaRPr lang="zh-CN" altLang="en-US" sz="1200"/>
          </a:p>
        </p:txBody>
      </p:sp>
      <p:sp>
        <p:nvSpPr>
          <p:cNvPr id="28" name="文本框 27"/>
          <p:cNvSpPr txBox="1"/>
          <p:nvPr/>
        </p:nvSpPr>
        <p:spPr>
          <a:xfrm>
            <a:off x="7381240" y="335549"/>
            <a:ext cx="2189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接收方：大端字节序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</a:t>
            </a:r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561520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3458845" y="1429702"/>
            <a:ext cx="5274310" cy="3998595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>
            <a:off x="8030095" y="2277687"/>
            <a:ext cx="703060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8088285" y="2075503"/>
            <a:ext cx="703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Times New Roman" panose="02020603050405020304" pitchFamily="18" charset="0"/>
                <a:cs typeface="Times New Roman" panose="02020603050405020304" pitchFamily="18" charset="0"/>
              </a:rPr>
              <a:t>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968538" y="1512917"/>
            <a:ext cx="931026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913308" y="1251307"/>
            <a:ext cx="1041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188-4-x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55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>
            <a:spLocks noChangeArrowheads="1"/>
          </p:cNvSpPr>
          <p:nvPr/>
        </p:nvSpPr>
        <p:spPr bwMode="auto">
          <a:xfrm>
            <a:off x="2718594" y="1825466"/>
            <a:ext cx="4053681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逻辑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实体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包括</a:t>
            </a:r>
            <a:endParaRPr lang="en-US" altLang="zh-CN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上下箭头 5"/>
          <p:cNvSpPr>
            <a:spLocks noChangeArrowheads="1"/>
          </p:cNvSpPr>
          <p:nvPr/>
        </p:nvSpPr>
        <p:spPr bwMode="auto">
          <a:xfrm>
            <a:off x="3257550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上下箭头 6"/>
          <p:cNvSpPr>
            <a:spLocks noChangeArrowheads="1"/>
          </p:cNvSpPr>
          <p:nvPr/>
        </p:nvSpPr>
        <p:spPr bwMode="auto">
          <a:xfrm>
            <a:off x="6057105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2057400" y="2574925"/>
            <a:ext cx="266064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用户代理（</a:t>
            </a:r>
            <a:r>
              <a:rPr lang="en-US" altLang="zh-CN" sz="1000"/>
              <a:t>UA</a:t>
            </a:r>
            <a:r>
              <a:rPr lang="zh-CN" altLang="en-US" sz="1000"/>
              <a:t>）</a:t>
            </a:r>
          </a:p>
        </p:txBody>
      </p:sp>
      <p:sp>
        <p:nvSpPr>
          <p:cNvPr id="8" name="TextBox 8"/>
          <p:cNvSpPr txBox="1">
            <a:spLocks noChangeArrowheads="1"/>
          </p:cNvSpPr>
          <p:nvPr/>
        </p:nvSpPr>
        <p:spPr bwMode="auto">
          <a:xfrm>
            <a:off x="4914900" y="2574925"/>
            <a:ext cx="285749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网络服务器</a:t>
            </a:r>
          </a:p>
        </p:txBody>
      </p:sp>
      <p:sp>
        <p:nvSpPr>
          <p:cNvPr id="11" name="TextBox 11"/>
          <p:cNvSpPr txBox="1">
            <a:spLocks noChangeArrowheads="1"/>
          </p:cNvSpPr>
          <p:nvPr/>
        </p:nvSpPr>
        <p:spPr bwMode="auto">
          <a:xfrm>
            <a:off x="2057400" y="2821146"/>
            <a:ext cx="2660649" cy="120032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User Agent Client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，用户代理客户端，发送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User Agent Server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，用户代理服务器，返回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响应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一个实体可以既是客户端，又是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都能终止一个呼叫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2" name="TextBox 12"/>
          <p:cNvSpPr txBox="1">
            <a:spLocks noChangeArrowheads="1"/>
          </p:cNvSpPr>
          <p:nvPr/>
        </p:nvSpPr>
        <p:spPr bwMode="auto">
          <a:xfrm>
            <a:off x="4914900" y="2821146"/>
            <a:ext cx="28574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Proxy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，代理服务器，为客户端转发请求或响应，可以同时做为服务器端和客户端，决定下一跳转发请求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消息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Registrar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，注册服务器。接受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REGISTER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请求完成用户地址的注册，更新用户位置信息；可以支持鉴权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功能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Redirect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，重定向服务器，将请求中的地址映射为零个或多个新的地址，将用户新的位置返回给呼叫方。呼叫方可根据得到的新位置重新呼叫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Location 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，位置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服务器，是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一个数据库，用于存放终端用户当前的位置信息，为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重定向服务器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(Redirect Server)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或代理服务器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(proxy server)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提供被叫用户可能的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位置信息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559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3588" y="4273550"/>
            <a:ext cx="847725" cy="5334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938" y="4230688"/>
            <a:ext cx="962025" cy="60007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613" y="2547938"/>
            <a:ext cx="1085850" cy="62865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cxnSp>
        <p:nvCxnSpPr>
          <p:cNvPr id="7" name="直接箭头连接符 17"/>
          <p:cNvCxnSpPr>
            <a:cxnSpLocks noChangeShapeType="1"/>
          </p:cNvCxnSpPr>
          <p:nvPr/>
        </p:nvCxnSpPr>
        <p:spPr bwMode="auto">
          <a:xfrm flipV="1">
            <a:off x="2393950" y="2862263"/>
            <a:ext cx="2016125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20"/>
          <p:cNvCxnSpPr>
            <a:cxnSpLocks noChangeShapeType="1"/>
          </p:cNvCxnSpPr>
          <p:nvPr/>
        </p:nvCxnSpPr>
        <p:spPr bwMode="auto">
          <a:xfrm>
            <a:off x="2906713" y="4578350"/>
            <a:ext cx="4240212" cy="1270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22"/>
          <p:cNvCxnSpPr>
            <a:cxnSpLocks noChangeShapeType="1"/>
          </p:cNvCxnSpPr>
          <p:nvPr/>
        </p:nvCxnSpPr>
        <p:spPr bwMode="auto">
          <a:xfrm>
            <a:off x="5273675" y="2933700"/>
            <a:ext cx="2011363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24"/>
          <p:cNvCxnSpPr>
            <a:cxnSpLocks noChangeShapeType="1"/>
          </p:cNvCxnSpPr>
          <p:nvPr/>
        </p:nvCxnSpPr>
        <p:spPr bwMode="auto">
          <a:xfrm flipH="1" flipV="1">
            <a:off x="5227638" y="3092450"/>
            <a:ext cx="1990725" cy="135413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28"/>
          <p:cNvCxnSpPr>
            <a:cxnSpLocks noChangeShapeType="1"/>
          </p:cNvCxnSpPr>
          <p:nvPr/>
        </p:nvCxnSpPr>
        <p:spPr bwMode="auto">
          <a:xfrm flipH="1">
            <a:off x="2609850" y="3092450"/>
            <a:ext cx="1800225" cy="1181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TextBox 31"/>
          <p:cNvSpPr txBox="1">
            <a:spLocks noChangeArrowheads="1"/>
          </p:cNvSpPr>
          <p:nvPr/>
        </p:nvSpPr>
        <p:spPr bwMode="auto">
          <a:xfrm>
            <a:off x="3452813" y="3725863"/>
            <a:ext cx="741362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3" name="TextBox 32"/>
          <p:cNvSpPr txBox="1">
            <a:spLocks noChangeArrowheads="1"/>
          </p:cNvSpPr>
          <p:nvPr/>
        </p:nvSpPr>
        <p:spPr bwMode="auto">
          <a:xfrm>
            <a:off x="2589213" y="3222625"/>
            <a:ext cx="741362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4" name="TextBox 33"/>
          <p:cNvSpPr txBox="1">
            <a:spLocks noChangeArrowheads="1"/>
          </p:cNvSpPr>
          <p:nvPr/>
        </p:nvSpPr>
        <p:spPr bwMode="auto">
          <a:xfrm>
            <a:off x="6189663" y="3222625"/>
            <a:ext cx="739775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5" name="TextBox 34"/>
          <p:cNvSpPr txBox="1">
            <a:spLocks noChangeArrowheads="1"/>
          </p:cNvSpPr>
          <p:nvPr/>
        </p:nvSpPr>
        <p:spPr bwMode="auto">
          <a:xfrm>
            <a:off x="5541963" y="3725863"/>
            <a:ext cx="739775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6" name="圆角矩形标注 35"/>
          <p:cNvSpPr>
            <a:spLocks noChangeArrowheads="1"/>
          </p:cNvSpPr>
          <p:nvPr/>
        </p:nvSpPr>
        <p:spPr bwMode="auto">
          <a:xfrm>
            <a:off x="738188" y="3798888"/>
            <a:ext cx="1439862" cy="442912"/>
          </a:xfrm>
          <a:prstGeom prst="wedgeRoundRectCallout">
            <a:avLst>
              <a:gd name="adj1" fmla="val 45796"/>
              <a:gd name="adj2" fmla="val 79699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UAC</a:t>
            </a:r>
            <a:r>
              <a:rPr lang="zh-CN" altLang="en-US" sz="1200"/>
              <a:t>发送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7" name="圆角矩形标注 36"/>
          <p:cNvSpPr>
            <a:spLocks noChangeArrowheads="1"/>
          </p:cNvSpPr>
          <p:nvPr/>
        </p:nvSpPr>
        <p:spPr bwMode="auto">
          <a:xfrm>
            <a:off x="7650163" y="3787775"/>
            <a:ext cx="1439862" cy="442913"/>
          </a:xfrm>
          <a:prstGeom prst="wedgeRoundRectCallout">
            <a:avLst>
              <a:gd name="adj1" fmla="val -37491"/>
              <a:gd name="adj2" fmla="val 88296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UAS</a:t>
            </a:r>
            <a:r>
              <a:rPr lang="zh-CN" altLang="en-US" sz="1200"/>
              <a:t>接受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8" name="TextBox 37"/>
          <p:cNvSpPr txBox="1">
            <a:spLocks noChangeArrowheads="1"/>
          </p:cNvSpPr>
          <p:nvPr/>
        </p:nvSpPr>
        <p:spPr bwMode="auto">
          <a:xfrm>
            <a:off x="4481513" y="4662488"/>
            <a:ext cx="1157287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/>
              <a:t>媒体流（</a:t>
            </a:r>
            <a:r>
              <a:rPr lang="en-US" altLang="zh-CN" sz="1200"/>
              <a:t>RTP)</a:t>
            </a:r>
            <a:endParaRPr lang="zh-CN" altLang="en-US" sz="1200"/>
          </a:p>
        </p:txBody>
      </p:sp>
      <p:sp>
        <p:nvSpPr>
          <p:cNvPr id="19" name="圆角矩形标注 39"/>
          <p:cNvSpPr>
            <a:spLocks noChangeArrowheads="1"/>
          </p:cNvSpPr>
          <p:nvPr/>
        </p:nvSpPr>
        <p:spPr bwMode="auto">
          <a:xfrm>
            <a:off x="4338638" y="1709738"/>
            <a:ext cx="1851025" cy="731837"/>
          </a:xfrm>
          <a:prstGeom prst="wedgeRoundRectCallout">
            <a:avLst>
              <a:gd name="adj1" fmla="val 1704"/>
              <a:gd name="adj2" fmla="val 91162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Request  Proxy Server</a:t>
            </a:r>
          </a:p>
          <a:p>
            <a:pPr eaLnBrk="1" hangingPunct="1"/>
            <a:r>
              <a:rPr lang="zh-CN" altLang="en-US" sz="1200"/>
              <a:t>决定把请求消息送到何处</a:t>
            </a:r>
          </a:p>
        </p:txBody>
      </p:sp>
    </p:spTree>
    <p:extLst>
      <p:ext uri="{BB962C8B-B14F-4D97-AF65-F5344CB8AC3E}">
        <p14:creationId xmlns:p14="http://schemas.microsoft.com/office/powerpoint/2010/main" val="324871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3" y="1287463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3" y="11906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404" y="3967516"/>
            <a:ext cx="495300" cy="542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直接连接符 8"/>
          <p:cNvCxnSpPr>
            <a:cxnSpLocks noChangeShapeType="1"/>
          </p:cNvCxnSpPr>
          <p:nvPr/>
        </p:nvCxnSpPr>
        <p:spPr bwMode="auto">
          <a:xfrm>
            <a:off x="1096963" y="1935163"/>
            <a:ext cx="0" cy="24590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9"/>
          <p:cNvCxnSpPr>
            <a:cxnSpLocks noChangeShapeType="1"/>
          </p:cNvCxnSpPr>
          <p:nvPr/>
        </p:nvCxnSpPr>
        <p:spPr bwMode="auto">
          <a:xfrm>
            <a:off x="3444875" y="1838325"/>
            <a:ext cx="0" cy="25050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" name="TextBox 10"/>
          <p:cNvSpPr txBox="1">
            <a:spLocks noChangeArrowheads="1"/>
          </p:cNvSpPr>
          <p:nvPr/>
        </p:nvSpPr>
        <p:spPr bwMode="auto">
          <a:xfrm>
            <a:off x="1646238" y="1422400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TextBox 11"/>
          <p:cNvSpPr txBox="1">
            <a:spLocks noChangeArrowheads="1"/>
          </p:cNvSpPr>
          <p:nvPr/>
        </p:nvSpPr>
        <p:spPr bwMode="auto">
          <a:xfrm>
            <a:off x="3721100" y="1306984"/>
            <a:ext cx="41549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13"/>
          <p:cNvCxnSpPr>
            <a:cxnSpLocks noChangeShapeType="1"/>
          </p:cNvCxnSpPr>
          <p:nvPr/>
        </p:nvCxnSpPr>
        <p:spPr bwMode="auto">
          <a:xfrm>
            <a:off x="1096963" y="2150120"/>
            <a:ext cx="2347912" cy="79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4"/>
          <p:cNvSpPr txBox="1">
            <a:spLocks noChangeArrowheads="1"/>
          </p:cNvSpPr>
          <p:nvPr/>
        </p:nvSpPr>
        <p:spPr bwMode="auto">
          <a:xfrm>
            <a:off x="1921993" y="1921026"/>
            <a:ext cx="569387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6"/>
          <p:cNvCxnSpPr>
            <a:cxnSpLocks noChangeShapeType="1"/>
          </p:cNvCxnSpPr>
          <p:nvPr/>
        </p:nvCxnSpPr>
        <p:spPr bwMode="auto">
          <a:xfrm flipH="1">
            <a:off x="1106185" y="2491164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8"/>
          <p:cNvCxnSpPr>
            <a:cxnSpLocks noChangeShapeType="1"/>
          </p:cNvCxnSpPr>
          <p:nvPr/>
        </p:nvCxnSpPr>
        <p:spPr bwMode="auto">
          <a:xfrm flipH="1">
            <a:off x="1106185" y="2867586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9"/>
          <p:cNvCxnSpPr>
            <a:cxnSpLocks noChangeShapeType="1"/>
          </p:cNvCxnSpPr>
          <p:nvPr/>
        </p:nvCxnSpPr>
        <p:spPr bwMode="auto">
          <a:xfrm flipH="1">
            <a:off x="1106185" y="3243030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20"/>
          <p:cNvCxnSpPr>
            <a:cxnSpLocks noChangeShapeType="1"/>
          </p:cNvCxnSpPr>
          <p:nvPr/>
        </p:nvCxnSpPr>
        <p:spPr bwMode="auto">
          <a:xfrm>
            <a:off x="1136348" y="3625236"/>
            <a:ext cx="231774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" name="TextBox 21"/>
          <p:cNvSpPr txBox="1">
            <a:spLocks noChangeArrowheads="1"/>
          </p:cNvSpPr>
          <p:nvPr/>
        </p:nvSpPr>
        <p:spPr bwMode="auto">
          <a:xfrm>
            <a:off x="1893602" y="2260332"/>
            <a:ext cx="70083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6" name="TextBox 22"/>
          <p:cNvSpPr txBox="1">
            <a:spLocks noChangeArrowheads="1"/>
          </p:cNvSpPr>
          <p:nvPr/>
        </p:nvSpPr>
        <p:spPr bwMode="auto">
          <a:xfrm>
            <a:off x="1907565" y="2628935"/>
            <a:ext cx="61106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TextBox 23"/>
          <p:cNvSpPr txBox="1">
            <a:spLocks noChangeArrowheads="1"/>
          </p:cNvSpPr>
          <p:nvPr/>
        </p:nvSpPr>
        <p:spPr bwMode="auto">
          <a:xfrm>
            <a:off x="1921993" y="3023633"/>
            <a:ext cx="58221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 OK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TextBox 24"/>
          <p:cNvSpPr txBox="1">
            <a:spLocks noChangeArrowheads="1"/>
          </p:cNvSpPr>
          <p:nvPr/>
        </p:nvSpPr>
        <p:spPr bwMode="auto">
          <a:xfrm>
            <a:off x="1947404" y="3394404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9" name="TextBox 25"/>
          <p:cNvSpPr txBox="1">
            <a:spLocks noChangeArrowheads="1"/>
          </p:cNvSpPr>
          <p:nvPr/>
        </p:nvSpPr>
        <p:spPr bwMode="auto">
          <a:xfrm>
            <a:off x="1848254" y="3798544"/>
            <a:ext cx="7168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755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304925"/>
            <a:ext cx="189706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314" y="1295402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500" y="13049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直接连接符 7"/>
          <p:cNvCxnSpPr>
            <a:cxnSpLocks noChangeShapeType="1"/>
          </p:cNvCxnSpPr>
          <p:nvPr/>
        </p:nvCxnSpPr>
        <p:spPr bwMode="auto">
          <a:xfrm>
            <a:off x="2842051" y="1943102"/>
            <a:ext cx="0" cy="327024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8"/>
          <p:cNvCxnSpPr>
            <a:cxnSpLocks noChangeShapeType="1"/>
          </p:cNvCxnSpPr>
          <p:nvPr/>
        </p:nvCxnSpPr>
        <p:spPr bwMode="auto">
          <a:xfrm>
            <a:off x="5056188" y="1954213"/>
            <a:ext cx="0" cy="27701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连接符 9"/>
          <p:cNvCxnSpPr>
            <a:cxnSpLocks noChangeShapeType="1"/>
          </p:cNvCxnSpPr>
          <p:nvPr/>
        </p:nvCxnSpPr>
        <p:spPr bwMode="auto">
          <a:xfrm>
            <a:off x="7052886" y="1954213"/>
            <a:ext cx="8411" cy="32591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9"/>
          <p:cNvCxnSpPr>
            <a:cxnSpLocks noChangeShapeType="1"/>
          </p:cNvCxnSpPr>
          <p:nvPr/>
        </p:nvCxnSpPr>
        <p:spPr bwMode="auto">
          <a:xfrm>
            <a:off x="2842051" y="2163292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10"/>
          <p:cNvCxnSpPr>
            <a:cxnSpLocks noChangeShapeType="1"/>
          </p:cNvCxnSpPr>
          <p:nvPr/>
        </p:nvCxnSpPr>
        <p:spPr bwMode="auto">
          <a:xfrm flipH="1">
            <a:off x="2842051" y="251333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1"/>
          <p:cNvCxnSpPr>
            <a:cxnSpLocks noChangeShapeType="1"/>
          </p:cNvCxnSpPr>
          <p:nvPr/>
        </p:nvCxnSpPr>
        <p:spPr bwMode="auto">
          <a:xfrm>
            <a:off x="5063520" y="2723760"/>
            <a:ext cx="200146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2"/>
          <p:cNvCxnSpPr>
            <a:cxnSpLocks noChangeShapeType="1"/>
          </p:cNvCxnSpPr>
          <p:nvPr/>
        </p:nvCxnSpPr>
        <p:spPr bwMode="auto">
          <a:xfrm flipH="1">
            <a:off x="5056188" y="3077691"/>
            <a:ext cx="200145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13"/>
          <p:cNvCxnSpPr>
            <a:cxnSpLocks noChangeShapeType="1"/>
          </p:cNvCxnSpPr>
          <p:nvPr/>
        </p:nvCxnSpPr>
        <p:spPr bwMode="auto">
          <a:xfrm flipH="1">
            <a:off x="2834641" y="3375961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" name="直接箭头连接符 14"/>
          <p:cNvCxnSpPr>
            <a:cxnSpLocks noChangeShapeType="1"/>
          </p:cNvCxnSpPr>
          <p:nvPr/>
        </p:nvCxnSpPr>
        <p:spPr bwMode="auto">
          <a:xfrm flipH="1">
            <a:off x="5048778" y="3652366"/>
            <a:ext cx="1994048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" name="直接箭头连接符 15"/>
          <p:cNvCxnSpPr>
            <a:cxnSpLocks noChangeShapeType="1"/>
          </p:cNvCxnSpPr>
          <p:nvPr/>
        </p:nvCxnSpPr>
        <p:spPr bwMode="auto">
          <a:xfrm flipH="1">
            <a:off x="2834640" y="3962875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直接箭头连接符 16"/>
          <p:cNvCxnSpPr>
            <a:cxnSpLocks noChangeShapeType="1"/>
          </p:cNvCxnSpPr>
          <p:nvPr/>
        </p:nvCxnSpPr>
        <p:spPr bwMode="auto">
          <a:xfrm>
            <a:off x="2867082" y="432427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5048777" y="4592674"/>
            <a:ext cx="2013634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1"/>
          <p:cNvSpPr txBox="1">
            <a:spLocks noChangeArrowheads="1"/>
          </p:cNvSpPr>
          <p:nvPr/>
        </p:nvSpPr>
        <p:spPr bwMode="auto">
          <a:xfrm>
            <a:off x="3524626" y="1926110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TextBox 22"/>
          <p:cNvSpPr txBox="1">
            <a:spLocks noChangeArrowheads="1"/>
          </p:cNvSpPr>
          <p:nvPr/>
        </p:nvSpPr>
        <p:spPr bwMode="auto">
          <a:xfrm>
            <a:off x="5636682" y="2492928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1" name="TextBox 23"/>
          <p:cNvSpPr txBox="1">
            <a:spLocks noChangeArrowheads="1"/>
          </p:cNvSpPr>
          <p:nvPr/>
        </p:nvSpPr>
        <p:spPr bwMode="auto">
          <a:xfrm>
            <a:off x="3471911" y="2282504"/>
            <a:ext cx="8658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2" name="TextBox 24"/>
          <p:cNvSpPr txBox="1">
            <a:spLocks noChangeArrowheads="1"/>
          </p:cNvSpPr>
          <p:nvPr/>
        </p:nvSpPr>
        <p:spPr bwMode="auto">
          <a:xfrm>
            <a:off x="5625575" y="284685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3" name="TextBox 25"/>
          <p:cNvSpPr txBox="1">
            <a:spLocks noChangeArrowheads="1"/>
          </p:cNvSpPr>
          <p:nvPr/>
        </p:nvSpPr>
        <p:spPr bwMode="auto">
          <a:xfrm>
            <a:off x="3546987" y="314512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4" name="TextBox 26"/>
          <p:cNvSpPr txBox="1">
            <a:spLocks noChangeArrowheads="1"/>
          </p:cNvSpPr>
          <p:nvPr/>
        </p:nvSpPr>
        <p:spPr bwMode="auto">
          <a:xfrm>
            <a:off x="5644696" y="3421534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5" name="TextBox 27"/>
          <p:cNvSpPr txBox="1">
            <a:spLocks noChangeArrowheads="1"/>
          </p:cNvSpPr>
          <p:nvPr/>
        </p:nvSpPr>
        <p:spPr bwMode="auto">
          <a:xfrm>
            <a:off x="3558692" y="3732043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6" name="TextBox 28"/>
          <p:cNvSpPr txBox="1">
            <a:spLocks noChangeArrowheads="1"/>
          </p:cNvSpPr>
          <p:nvPr/>
        </p:nvSpPr>
        <p:spPr bwMode="auto">
          <a:xfrm>
            <a:off x="3590066" y="4093444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7" name="TextBox 29"/>
          <p:cNvSpPr txBox="1">
            <a:spLocks noChangeArrowheads="1"/>
          </p:cNvSpPr>
          <p:nvPr/>
        </p:nvSpPr>
        <p:spPr bwMode="auto">
          <a:xfrm>
            <a:off x="5707213" y="4361842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8" name="左右箭头 27"/>
          <p:cNvSpPr>
            <a:spLocks noChangeArrowheads="1"/>
          </p:cNvSpPr>
          <p:nvPr/>
        </p:nvSpPr>
        <p:spPr bwMode="auto">
          <a:xfrm>
            <a:off x="2842051" y="4742563"/>
            <a:ext cx="4210835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9" name="TextBox 36"/>
          <p:cNvSpPr txBox="1">
            <a:spLocks noChangeArrowheads="1"/>
          </p:cNvSpPr>
          <p:nvPr/>
        </p:nvSpPr>
        <p:spPr bwMode="auto">
          <a:xfrm>
            <a:off x="4472986" y="4917037"/>
            <a:ext cx="8763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0" name="TextBox 39"/>
          <p:cNvSpPr txBox="1">
            <a:spLocks noChangeArrowheads="1"/>
          </p:cNvSpPr>
          <p:nvPr/>
        </p:nvSpPr>
        <p:spPr bwMode="auto">
          <a:xfrm>
            <a:off x="2006274" y="1414465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1" name="TextBox 40"/>
          <p:cNvSpPr txBox="1">
            <a:spLocks noChangeArrowheads="1"/>
          </p:cNvSpPr>
          <p:nvPr/>
        </p:nvSpPr>
        <p:spPr bwMode="auto">
          <a:xfrm>
            <a:off x="7596914" y="1439306"/>
            <a:ext cx="49084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632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513" y="91757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094" y="860268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5"/>
          <p:cNvCxnSpPr>
            <a:cxnSpLocks noChangeShapeType="1"/>
          </p:cNvCxnSpPr>
          <p:nvPr/>
        </p:nvCxnSpPr>
        <p:spPr bwMode="auto">
          <a:xfrm>
            <a:off x="2254250" y="1565275"/>
            <a:ext cx="0" cy="336486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连接符 6"/>
          <p:cNvCxnSpPr>
            <a:cxnSpLocks noChangeShapeType="1"/>
          </p:cNvCxnSpPr>
          <p:nvPr/>
        </p:nvCxnSpPr>
        <p:spPr bwMode="auto">
          <a:xfrm>
            <a:off x="4499955" y="1565275"/>
            <a:ext cx="0" cy="12160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7"/>
          <p:cNvCxnSpPr>
            <a:cxnSpLocks noChangeShapeType="1"/>
          </p:cNvCxnSpPr>
          <p:nvPr/>
        </p:nvCxnSpPr>
        <p:spPr bwMode="auto">
          <a:xfrm>
            <a:off x="6446462" y="1566863"/>
            <a:ext cx="8460" cy="3278441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" name="直接箭头连接符 6"/>
          <p:cNvCxnSpPr>
            <a:cxnSpLocks noChangeShapeType="1"/>
          </p:cNvCxnSpPr>
          <p:nvPr/>
        </p:nvCxnSpPr>
        <p:spPr bwMode="auto">
          <a:xfrm>
            <a:off x="2263775" y="1854200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箭头连接符 7"/>
          <p:cNvCxnSpPr>
            <a:cxnSpLocks noChangeShapeType="1"/>
          </p:cNvCxnSpPr>
          <p:nvPr/>
        </p:nvCxnSpPr>
        <p:spPr bwMode="auto">
          <a:xfrm flipH="1">
            <a:off x="2254250" y="2318196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8"/>
          <p:cNvCxnSpPr>
            <a:cxnSpLocks noChangeShapeType="1"/>
          </p:cNvCxnSpPr>
          <p:nvPr/>
        </p:nvCxnSpPr>
        <p:spPr bwMode="auto">
          <a:xfrm>
            <a:off x="2263775" y="2684193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1"/>
          <p:cNvSpPr txBox="1">
            <a:spLocks noChangeArrowheads="1"/>
          </p:cNvSpPr>
          <p:nvPr/>
        </p:nvSpPr>
        <p:spPr bwMode="auto">
          <a:xfrm>
            <a:off x="3113219" y="158813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" name="TextBox 12"/>
          <p:cNvSpPr txBox="1">
            <a:spLocks noChangeArrowheads="1"/>
          </p:cNvSpPr>
          <p:nvPr/>
        </p:nvSpPr>
        <p:spPr bwMode="auto">
          <a:xfrm>
            <a:off x="3039428" y="1918086"/>
            <a:ext cx="9428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301 Moved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Permanent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2" name="TextBox 13"/>
          <p:cNvSpPr txBox="1">
            <a:spLocks noChangeArrowheads="1"/>
          </p:cNvSpPr>
          <p:nvPr/>
        </p:nvSpPr>
        <p:spPr bwMode="auto">
          <a:xfrm>
            <a:off x="3165476" y="2437972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3" name="左右箭头 12"/>
          <p:cNvSpPr>
            <a:spLocks noChangeArrowheads="1"/>
          </p:cNvSpPr>
          <p:nvPr/>
        </p:nvSpPr>
        <p:spPr bwMode="auto">
          <a:xfrm>
            <a:off x="2254249" y="4435775"/>
            <a:ext cx="4192212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4" name="TextBox 15"/>
          <p:cNvSpPr txBox="1">
            <a:spLocks noChangeArrowheads="1"/>
          </p:cNvSpPr>
          <p:nvPr/>
        </p:nvSpPr>
        <p:spPr bwMode="auto">
          <a:xfrm>
            <a:off x="4044956" y="4599083"/>
            <a:ext cx="948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RTP/RTCP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5" name="TextBox 16"/>
          <p:cNvSpPr txBox="1">
            <a:spLocks noChangeArrowheads="1"/>
          </p:cNvSpPr>
          <p:nvPr/>
        </p:nvSpPr>
        <p:spPr bwMode="auto">
          <a:xfrm>
            <a:off x="1522413" y="1036638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UAC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6" name="TextBox 17"/>
          <p:cNvSpPr txBox="1">
            <a:spLocks noChangeArrowheads="1"/>
          </p:cNvSpPr>
          <p:nvPr/>
        </p:nvSpPr>
        <p:spPr bwMode="auto">
          <a:xfrm>
            <a:off x="6869430" y="997903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UAS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481" y="895193"/>
            <a:ext cx="1998663" cy="612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2254249" y="3123092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0"/>
          <p:cNvSpPr txBox="1">
            <a:spLocks noChangeArrowheads="1"/>
          </p:cNvSpPr>
          <p:nvPr/>
        </p:nvSpPr>
        <p:spPr bwMode="auto">
          <a:xfrm>
            <a:off x="4200757" y="287777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0" name="直接箭头连接符 19"/>
          <p:cNvCxnSpPr>
            <a:cxnSpLocks noChangeShapeType="1"/>
          </p:cNvCxnSpPr>
          <p:nvPr/>
        </p:nvCxnSpPr>
        <p:spPr bwMode="auto">
          <a:xfrm flipH="1">
            <a:off x="2254250" y="3514476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" name="TextBox 22"/>
          <p:cNvSpPr txBox="1">
            <a:spLocks noChangeArrowheads="1"/>
          </p:cNvSpPr>
          <p:nvPr/>
        </p:nvSpPr>
        <p:spPr bwMode="auto">
          <a:xfrm>
            <a:off x="4057288" y="3268255"/>
            <a:ext cx="1000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180 Ringing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2" name="直接箭头连接符 21"/>
          <p:cNvCxnSpPr>
            <a:cxnSpLocks noChangeShapeType="1"/>
          </p:cNvCxnSpPr>
          <p:nvPr/>
        </p:nvCxnSpPr>
        <p:spPr bwMode="auto">
          <a:xfrm flipH="1">
            <a:off x="2263776" y="3905964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" name="TextBox 24"/>
          <p:cNvSpPr txBox="1">
            <a:spLocks noChangeArrowheads="1"/>
          </p:cNvSpPr>
          <p:nvPr/>
        </p:nvSpPr>
        <p:spPr bwMode="auto">
          <a:xfrm>
            <a:off x="4181521" y="3668490"/>
            <a:ext cx="7056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200 OK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4" name="直接箭头连接符 23"/>
          <p:cNvCxnSpPr>
            <a:cxnSpLocks noChangeShapeType="1"/>
          </p:cNvCxnSpPr>
          <p:nvPr/>
        </p:nvCxnSpPr>
        <p:spPr bwMode="auto">
          <a:xfrm>
            <a:off x="2254249" y="4273264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" name="TextBox 26"/>
          <p:cNvSpPr txBox="1">
            <a:spLocks noChangeArrowheads="1"/>
          </p:cNvSpPr>
          <p:nvPr/>
        </p:nvSpPr>
        <p:spPr bwMode="auto">
          <a:xfrm>
            <a:off x="4234111" y="4038155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805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animBg="1"/>
      <p:bldP spid="14" grpId="0"/>
      <p:bldP spid="19" grpId="0"/>
      <p:bldP spid="21" grpId="0"/>
      <p:bldP spid="23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69435" y="115508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5" name="文本框 4"/>
          <p:cNvSpPr txBox="1"/>
          <p:nvPr/>
        </p:nvSpPr>
        <p:spPr>
          <a:xfrm>
            <a:off x="769435" y="140899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7" name="文本框 6"/>
          <p:cNvSpPr txBox="1"/>
          <p:nvPr/>
        </p:nvSpPr>
        <p:spPr>
          <a:xfrm>
            <a:off x="2972884" y="1160810"/>
            <a:ext cx="1986465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972885" y="1408995"/>
            <a:ext cx="1986464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9" name="上弧形箭头 8"/>
          <p:cNvSpPr/>
          <p:nvPr/>
        </p:nvSpPr>
        <p:spPr>
          <a:xfrm>
            <a:off x="1727200" y="78766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06034" y="350388"/>
            <a:ext cx="276225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命名冲突，如果两个这</a:t>
            </a:r>
            <a:r>
              <a:rPr lang="en-US" altLang="zh-CN"/>
              <a:t>XML</a:t>
            </a:r>
            <a:r>
              <a:rPr lang="zh-CN" altLang="en-US"/>
              <a:t>文档一起使用，</a:t>
            </a:r>
            <a:r>
              <a:rPr lang="en-US" altLang="zh-CN"/>
              <a:t>XML</a:t>
            </a:r>
            <a:r>
              <a:rPr lang="zh-CN" altLang="en-US"/>
              <a:t>解析器无法处理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990601" y="346013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990601" y="371404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194050" y="3465860"/>
            <a:ext cx="2032001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194051" y="3714045"/>
            <a:ext cx="20320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948366" y="309271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676943" y="2655438"/>
            <a:ext cx="284480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使用了前缀，避免命名冲突，此时</a:t>
            </a:r>
            <a:r>
              <a:rPr lang="en-US" altLang="zh-CN" smtClean="0"/>
              <a:t>&lt;table&gt;</a:t>
            </a:r>
            <a:r>
              <a:rPr lang="zh-CN" altLang="en-US" smtClean="0"/>
              <a:t>元素的名称已经不同（</a:t>
            </a:r>
            <a:r>
              <a:rPr lang="en-US" altLang="zh-CN" smtClean="0"/>
              <a:t>&lt;h:table&gt; ≠</a:t>
            </a:r>
            <a:r>
              <a:rPr lang="zh-CN" altLang="en-US" smtClean="0"/>
              <a:t> </a:t>
            </a:r>
            <a:r>
              <a:rPr lang="en-US" altLang="zh-CN" smtClean="0"/>
              <a:t>&lt;f:table&gt;</a:t>
            </a:r>
            <a:r>
              <a:rPr lang="zh-CN" altLang="en-US" smtClean="0"/>
              <a:t>）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145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77800" y="1561479"/>
            <a:ext cx="285115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177800" y="1815395"/>
            <a:ext cx="285115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 xmlns:h=“https://www.baidu.com/”&gt;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092450" y="1567210"/>
            <a:ext cx="28575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092450" y="1815395"/>
            <a:ext cx="28575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 xmlns:f=“https://www.google.com/”&gt;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339849" y="1194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359170" y="778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不仅使用了前缀，两个</a:t>
            </a:r>
            <a:r>
              <a:rPr lang="en-US" altLang="zh-CN" smtClean="0"/>
              <a:t>table</a:t>
            </a:r>
            <a:r>
              <a:rPr lang="zh-CN" altLang="en-US" smtClean="0"/>
              <a:t>元素还都使用了</a:t>
            </a:r>
            <a:r>
              <a:rPr lang="en-US" altLang="zh-CN" smtClean="0"/>
              <a:t>xmlns</a:t>
            </a:r>
            <a:r>
              <a:rPr lang="zh-CN" altLang="en-US" smtClean="0"/>
              <a:t>属性，使元素和不同的命名空间相关联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23900" y="3974479"/>
            <a:ext cx="26162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8" name="文本框 17"/>
          <p:cNvSpPr txBox="1"/>
          <p:nvPr/>
        </p:nvSpPr>
        <p:spPr>
          <a:xfrm>
            <a:off x="723900" y="4228395"/>
            <a:ext cx="261620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xmlns=“https://www.baidu.com/”&gt;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19" name="文本框 18"/>
          <p:cNvSpPr txBox="1"/>
          <p:nvPr/>
        </p:nvSpPr>
        <p:spPr>
          <a:xfrm>
            <a:off x="3638550" y="3980210"/>
            <a:ext cx="27178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3638550" y="4228395"/>
            <a:ext cx="27178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xmlns=“https://www.google.com/”&gt;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21" name="上弧形箭头 20"/>
          <p:cNvSpPr/>
          <p:nvPr/>
        </p:nvSpPr>
        <p:spPr>
          <a:xfrm>
            <a:off x="1885949" y="3607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905270" y="3191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默认命名空间，省去在所有的子元素中使用前缀的工作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535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5328211" y="2512844"/>
            <a:ext cx="788948" cy="4154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虚拟内存系统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2712853" y="2666732"/>
            <a:ext cx="875757" cy="26161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文件映射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512820" y="2257782"/>
            <a:ext cx="1783080" cy="13540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674673" y="2655436"/>
            <a:ext cx="1480459" cy="5770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文件视图</a:t>
            </a:r>
            <a:endParaRPr lang="en-US" altLang="zh-CN" smtClean="0"/>
          </a:p>
          <a:p>
            <a:pPr algn="ctr"/>
            <a:r>
              <a:rPr lang="zh-CN" altLang="en-US" smtClean="0"/>
              <a:t>（文件视图即进程虚拟内存空间的一部分）</a:t>
            </a:r>
            <a:endParaRPr lang="zh-CN" altLang="en-US"/>
          </a:p>
        </p:txBody>
      </p:sp>
      <p:cxnSp>
        <p:nvCxnSpPr>
          <p:cNvPr id="7" name="直接箭头连接符 6"/>
          <p:cNvCxnSpPr>
            <a:endCxn id="5" idx="1"/>
          </p:cNvCxnSpPr>
          <p:nvPr/>
        </p:nvCxnSpPr>
        <p:spPr>
          <a:xfrm flipV="1">
            <a:off x="2552699" y="2943977"/>
            <a:ext cx="1121974" cy="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6095867" y="2387322"/>
            <a:ext cx="1642519" cy="108204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>
                <a:solidFill>
                  <a:schemeClr val="tx1"/>
                </a:solidFill>
              </a:rPr>
              <a:t>物理内存</a:t>
            </a:r>
          </a:p>
        </p:txBody>
      </p:sp>
      <p:cxnSp>
        <p:nvCxnSpPr>
          <p:cNvPr id="19" name="直接箭头连接符 18"/>
          <p:cNvCxnSpPr>
            <a:stCxn id="12" idx="3"/>
            <a:endCxn id="15" idx="1"/>
          </p:cNvCxnSpPr>
          <p:nvPr/>
        </p:nvCxnSpPr>
        <p:spPr>
          <a:xfrm flipV="1">
            <a:off x="5295900" y="2928342"/>
            <a:ext cx="799967" cy="64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750192" y="3295240"/>
            <a:ext cx="1329419" cy="25391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进程虚拟内存空间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1091626" y="2666732"/>
            <a:ext cx="1480459" cy="577081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algn="ctr">
              <a:defRPr sz="105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en-US" altLang="zh-CN"/>
          </a:p>
          <a:p>
            <a:r>
              <a:rPr lang="zh-CN" altLang="en-US">
                <a:solidFill>
                  <a:schemeClr val="tx1"/>
                </a:solidFill>
              </a:rPr>
              <a:t>磁盘文件</a:t>
            </a:r>
            <a:endParaRPr lang="en-US" altLang="zh-CN">
              <a:solidFill>
                <a:schemeClr val="tx1"/>
              </a:solidFill>
            </a:endParaRP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836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238317"/>
              </p:ext>
            </p:extLst>
          </p:nvPr>
        </p:nvGraphicFramePr>
        <p:xfrm>
          <a:off x="1472276" y="731780"/>
          <a:ext cx="4503074" cy="27543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4787">
                  <a:extLst>
                    <a:ext uri="{9D8B030D-6E8A-4147-A177-3AD203B41FA5}">
                      <a16:colId xmlns:a16="http://schemas.microsoft.com/office/drawing/2014/main" val="2672957971"/>
                    </a:ext>
                  </a:extLst>
                </a:gridCol>
                <a:gridCol w="2768287">
                  <a:extLst>
                    <a:ext uri="{9D8B030D-6E8A-4147-A177-3AD203B41FA5}">
                      <a16:colId xmlns:a16="http://schemas.microsoft.com/office/drawing/2014/main" val="425931253"/>
                    </a:ext>
                  </a:extLst>
                </a:gridCol>
              </a:tblGrid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内存地址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页面状态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8962835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（栈顶）已缓存页面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PAGE_READWRITE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16113316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已缓存页面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8997161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第三个页面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948322033"/>
                  </a:ext>
                </a:extLst>
              </a:tr>
              <a:tr h="669349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4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……</a:t>
                      </a:r>
                      <a:endParaRPr lang="zh-CN" altLang="en-US" sz="4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946313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2471412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（栈底）已分配页面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344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1369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2245</TotalTime>
  <Words>1183</Words>
  <Application>Microsoft Office PowerPoint</Application>
  <PresentationFormat>宽屏</PresentationFormat>
  <Paragraphs>407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67</cp:revision>
  <dcterms:created xsi:type="dcterms:W3CDTF">2019-01-14T11:49:30Z</dcterms:created>
  <dcterms:modified xsi:type="dcterms:W3CDTF">2019-07-25T15:19:19Z</dcterms:modified>
</cp:coreProperties>
</file>