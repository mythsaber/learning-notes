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72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4818" autoAdjust="0"/>
    <p:restoredTop sz="94660"/>
  </p:normalViewPr>
  <p:slideViewPr>
    <p:cSldViewPr snapToGrid="0">
      <p:cViewPr>
        <p:scale>
          <a:sx n="150" d="100"/>
          <a:sy n="150" d="100"/>
        </p:scale>
        <p:origin x="-342" y="-3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2019/8/29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410329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2019/8/29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863270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2019/8/29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863597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2019/8/29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350119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2019/8/29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777073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2019/8/29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933749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2019/8/29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538685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2019/8/29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463731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2019/8/29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776803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2019/8/29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859677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2019/8/29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368652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A80D996-CE9E-432A-86C4-A040E9078786}" type="datetimeFigureOut">
              <a:rPr lang="zh-CN" altLang="en-US" smtClean="0"/>
              <a:t>2019/8/29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531059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457198" y="1180407"/>
            <a:ext cx="1379916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AVFormatContext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2414154" y="606793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AVInputFormat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414154" y="1172098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AVStream[0]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2414154" y="1736334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AVStream[1]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4312918" y="1741663"/>
            <a:ext cx="1497676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AVCodecParameters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4312918" y="1180408"/>
            <a:ext cx="1497676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AVCodecParameters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457198" y="2626369"/>
            <a:ext cx="1497676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AVCodecParameters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4792284" y="2628472"/>
            <a:ext cx="1497676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AVCodec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1042552" y="3466529"/>
            <a:ext cx="1497676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AVPacket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4105100" y="3460271"/>
            <a:ext cx="1497676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AVFrame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3034316" y="2614448"/>
            <a:ext cx="1497676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AVCodecContext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7" name="肘形连接符 16"/>
          <p:cNvCxnSpPr>
            <a:stCxn id="5" idx="3"/>
            <a:endCxn id="6" idx="1"/>
          </p:cNvCxnSpPr>
          <p:nvPr/>
        </p:nvCxnSpPr>
        <p:spPr>
          <a:xfrm flipV="1">
            <a:off x="1837114" y="818768"/>
            <a:ext cx="577040" cy="57361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肘形连接符 18"/>
          <p:cNvCxnSpPr>
            <a:stCxn id="5" idx="3"/>
            <a:endCxn id="8" idx="1"/>
          </p:cNvCxnSpPr>
          <p:nvPr/>
        </p:nvCxnSpPr>
        <p:spPr>
          <a:xfrm>
            <a:off x="1837114" y="1392382"/>
            <a:ext cx="577040" cy="555927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箭头连接符 20"/>
          <p:cNvCxnSpPr/>
          <p:nvPr/>
        </p:nvCxnSpPr>
        <p:spPr>
          <a:xfrm>
            <a:off x="2057400" y="1392386"/>
            <a:ext cx="35675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箭头连接符 22"/>
          <p:cNvCxnSpPr>
            <a:stCxn id="7" idx="3"/>
            <a:endCxn id="10" idx="1"/>
          </p:cNvCxnSpPr>
          <p:nvPr/>
        </p:nvCxnSpPr>
        <p:spPr>
          <a:xfrm>
            <a:off x="3735878" y="1384073"/>
            <a:ext cx="577040" cy="83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箭头连接符 24"/>
          <p:cNvCxnSpPr>
            <a:stCxn id="8" idx="3"/>
            <a:endCxn id="9" idx="1"/>
          </p:cNvCxnSpPr>
          <p:nvPr/>
        </p:nvCxnSpPr>
        <p:spPr>
          <a:xfrm>
            <a:off x="3735878" y="1948309"/>
            <a:ext cx="577040" cy="53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右箭头 28"/>
          <p:cNvSpPr/>
          <p:nvPr/>
        </p:nvSpPr>
        <p:spPr>
          <a:xfrm>
            <a:off x="1954874" y="2758346"/>
            <a:ext cx="1079442" cy="167174"/>
          </a:xfrm>
          <a:prstGeom prst="right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右箭头 29"/>
          <p:cNvSpPr/>
          <p:nvPr/>
        </p:nvSpPr>
        <p:spPr>
          <a:xfrm>
            <a:off x="2540228" y="3615622"/>
            <a:ext cx="1564872" cy="113247"/>
          </a:xfrm>
          <a:prstGeom prst="right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文本框 35"/>
          <p:cNvSpPr txBox="1"/>
          <p:nvPr/>
        </p:nvSpPr>
        <p:spPr>
          <a:xfrm>
            <a:off x="1939371" y="2392547"/>
            <a:ext cx="118309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avcodec_parameters_to_context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8" name="直接箭头连接符 37"/>
          <p:cNvCxnSpPr>
            <a:stCxn id="15" idx="3"/>
            <a:endCxn id="12" idx="1"/>
          </p:cNvCxnSpPr>
          <p:nvPr/>
        </p:nvCxnSpPr>
        <p:spPr>
          <a:xfrm>
            <a:off x="4531992" y="2826423"/>
            <a:ext cx="260292" cy="140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文本框 38"/>
          <p:cNvSpPr txBox="1"/>
          <p:nvPr/>
        </p:nvSpPr>
        <p:spPr>
          <a:xfrm>
            <a:off x="2601320" y="3369400"/>
            <a:ext cx="143658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avcodec_send_packet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2586148" y="3672245"/>
            <a:ext cx="151895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avcodec_receive_frame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2448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矩形 49"/>
          <p:cNvSpPr/>
          <p:nvPr/>
        </p:nvSpPr>
        <p:spPr>
          <a:xfrm>
            <a:off x="6847954" y="706947"/>
            <a:ext cx="1625486" cy="170097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2232314" y="421340"/>
            <a:ext cx="1720735" cy="222784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4248494" y="1030742"/>
            <a:ext cx="1720735" cy="222784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2414154" y="606793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uint8_t* data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414154" y="1172098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 size</a:t>
            </a:r>
          </a:p>
        </p:txBody>
      </p:sp>
      <p:sp>
        <p:nvSpPr>
          <p:cNvPr id="8" name="矩形 7"/>
          <p:cNvSpPr/>
          <p:nvPr/>
        </p:nvSpPr>
        <p:spPr>
          <a:xfrm>
            <a:off x="2414154" y="1736334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AVBufferRef* buf 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4423062" y="1159625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AVBuffer* buffer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4423062" y="1751933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uint8_t* data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4423062" y="2331720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int* size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049886" y="780377"/>
            <a:ext cx="1225434" cy="42394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用户数据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7049885" y="1212635"/>
            <a:ext cx="1225436" cy="42394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引用计数值</a:t>
            </a:r>
            <a:endParaRPr lang="en-US" altLang="zh-CN" sz="11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4275513" y="2778555"/>
            <a:ext cx="16937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AVBufferRef</a:t>
            </a:r>
          </a:p>
          <a:p>
            <a:pPr algn="ctr"/>
            <a:r>
              <a:rPr lang="zh-CN" altLang="en-US" sz="1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（引用计数智能指针）</a:t>
            </a:r>
            <a:endParaRPr lang="zh-CN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6" name="直接箭头连接符 15"/>
          <p:cNvCxnSpPr>
            <a:stCxn id="8" idx="3"/>
          </p:cNvCxnSpPr>
          <p:nvPr/>
        </p:nvCxnSpPr>
        <p:spPr>
          <a:xfrm flipV="1">
            <a:off x="3735878" y="1948308"/>
            <a:ext cx="539635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文本框 47"/>
          <p:cNvSpPr txBox="1"/>
          <p:nvPr/>
        </p:nvSpPr>
        <p:spPr>
          <a:xfrm>
            <a:off x="2321677" y="2239296"/>
            <a:ext cx="16937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AVPacket</a:t>
            </a:r>
            <a:endParaRPr lang="zh-CN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" name="矩形 52"/>
          <p:cNvSpPr/>
          <p:nvPr/>
        </p:nvSpPr>
        <p:spPr>
          <a:xfrm>
            <a:off x="7049883" y="1636584"/>
            <a:ext cx="1225436" cy="42394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……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5" name="直接箭头连接符 54"/>
          <p:cNvCxnSpPr/>
          <p:nvPr/>
        </p:nvCxnSpPr>
        <p:spPr>
          <a:xfrm>
            <a:off x="5744785" y="1367803"/>
            <a:ext cx="1103169" cy="37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任意多边形 58"/>
          <p:cNvSpPr/>
          <p:nvPr/>
        </p:nvSpPr>
        <p:spPr>
          <a:xfrm>
            <a:off x="3741420" y="182183"/>
            <a:ext cx="3299460" cy="739837"/>
          </a:xfrm>
          <a:custGeom>
            <a:avLst/>
            <a:gdLst>
              <a:gd name="connsiteX0" fmla="*/ 0 w 3299460"/>
              <a:gd name="connsiteY0" fmla="*/ 633157 h 739837"/>
              <a:gd name="connsiteX1" fmla="*/ 1143000 w 3299460"/>
              <a:gd name="connsiteY1" fmla="*/ 697 h 739837"/>
              <a:gd name="connsiteX2" fmla="*/ 3299460 w 3299460"/>
              <a:gd name="connsiteY2" fmla="*/ 739837 h 739837"/>
              <a:gd name="connsiteX3" fmla="*/ 3299460 w 3299460"/>
              <a:gd name="connsiteY3" fmla="*/ 739837 h 739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99460" h="739837">
                <a:moveTo>
                  <a:pt x="0" y="633157"/>
                </a:moveTo>
                <a:cubicBezTo>
                  <a:pt x="296545" y="308037"/>
                  <a:pt x="593090" y="-17083"/>
                  <a:pt x="1143000" y="697"/>
                </a:cubicBezTo>
                <a:cubicBezTo>
                  <a:pt x="1692910" y="18477"/>
                  <a:pt x="3299460" y="739837"/>
                  <a:pt x="3299460" y="739837"/>
                </a:cubicBezTo>
                <a:lnTo>
                  <a:pt x="3299460" y="739837"/>
                </a:lnTo>
              </a:path>
            </a:pathLst>
          </a:custGeom>
          <a:noFill/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任意多边形 63"/>
          <p:cNvSpPr/>
          <p:nvPr/>
        </p:nvSpPr>
        <p:spPr>
          <a:xfrm>
            <a:off x="5745480" y="1059180"/>
            <a:ext cx="1295400" cy="958326"/>
          </a:xfrm>
          <a:custGeom>
            <a:avLst/>
            <a:gdLst>
              <a:gd name="connsiteX0" fmla="*/ 0 w 1295400"/>
              <a:gd name="connsiteY0" fmla="*/ 914400 h 958326"/>
              <a:gd name="connsiteX1" fmla="*/ 845820 w 1295400"/>
              <a:gd name="connsiteY1" fmla="*/ 853440 h 958326"/>
              <a:gd name="connsiteX2" fmla="*/ 1295400 w 1295400"/>
              <a:gd name="connsiteY2" fmla="*/ 0 h 958326"/>
              <a:gd name="connsiteX3" fmla="*/ 1295400 w 1295400"/>
              <a:gd name="connsiteY3" fmla="*/ 0 h 9583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95400" h="958326">
                <a:moveTo>
                  <a:pt x="0" y="914400"/>
                </a:moveTo>
                <a:cubicBezTo>
                  <a:pt x="314960" y="960120"/>
                  <a:pt x="629920" y="1005840"/>
                  <a:pt x="845820" y="853440"/>
                </a:cubicBezTo>
                <a:cubicBezTo>
                  <a:pt x="1061720" y="701040"/>
                  <a:pt x="1295400" y="0"/>
                  <a:pt x="1295400" y="0"/>
                </a:cubicBezTo>
                <a:lnTo>
                  <a:pt x="1295400" y="0"/>
                </a:lnTo>
              </a:path>
            </a:pathLst>
          </a:custGeom>
          <a:noFill/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421266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6884321" y="3297993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正常</a:t>
            </a:r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space</a:t>
            </a:r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未按下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5046430" y="2226198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正常</a:t>
            </a:r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space</a:t>
            </a:r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按下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3270622" y="1064356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暂停</a:t>
            </a:r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space</a:t>
            </a:r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按下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3270622" y="3297994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暂停</a:t>
            </a:r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space</a:t>
            </a:r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未按下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6884321" y="1064356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快进</a:t>
            </a:r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space</a:t>
            </a:r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按下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6202462" y="3542674"/>
            <a:ext cx="4152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下</a:t>
            </a:r>
            <a:endParaRPr lang="zh-CN" altLang="en-US" sz="1200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1" name="曲线连接符 30"/>
          <p:cNvCxnSpPr>
            <a:stCxn id="5" idx="0"/>
            <a:endCxn id="8" idx="1"/>
          </p:cNvCxnSpPr>
          <p:nvPr/>
        </p:nvCxnSpPr>
        <p:spPr>
          <a:xfrm rot="5400000" flipH="1" flipV="1">
            <a:off x="5820873" y="1162751"/>
            <a:ext cx="949867" cy="1177029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/>
          <p:cNvSpPr txBox="1"/>
          <p:nvPr/>
        </p:nvSpPr>
        <p:spPr>
          <a:xfrm>
            <a:off x="6161594" y="1468039"/>
            <a:ext cx="4152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下</a:t>
            </a:r>
            <a:endParaRPr lang="zh-CN" altLang="en-US" sz="1200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5" name="曲线连接符 34"/>
          <p:cNvCxnSpPr>
            <a:stCxn id="8" idx="0"/>
            <a:endCxn id="8" idx="3"/>
          </p:cNvCxnSpPr>
          <p:nvPr/>
        </p:nvCxnSpPr>
        <p:spPr>
          <a:xfrm rot="16200000" flipH="1">
            <a:off x="7769626" y="839912"/>
            <a:ext cx="211975" cy="660862"/>
          </a:xfrm>
          <a:prstGeom prst="curvedConnector4">
            <a:avLst>
              <a:gd name="adj1" fmla="val -262420"/>
              <a:gd name="adj2" fmla="val 15188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/>
          <p:cNvSpPr txBox="1"/>
          <p:nvPr/>
        </p:nvSpPr>
        <p:spPr>
          <a:xfrm>
            <a:off x="8206045" y="293395"/>
            <a:ext cx="4152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下</a:t>
            </a:r>
            <a:endParaRPr lang="zh-CN" altLang="en-US" sz="1200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文本框 38"/>
          <p:cNvSpPr txBox="1"/>
          <p:nvPr/>
        </p:nvSpPr>
        <p:spPr>
          <a:xfrm>
            <a:off x="8956789" y="2226199"/>
            <a:ext cx="4152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上</a:t>
            </a:r>
            <a:endParaRPr lang="zh-CN" altLang="en-US" sz="1200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3" name="曲线连接符 42"/>
          <p:cNvCxnSpPr>
            <a:stCxn id="5" idx="0"/>
            <a:endCxn id="6" idx="3"/>
          </p:cNvCxnSpPr>
          <p:nvPr/>
        </p:nvCxnSpPr>
        <p:spPr>
          <a:xfrm rot="16200000" flipV="1">
            <a:off x="4674886" y="1193792"/>
            <a:ext cx="949867" cy="1114946"/>
          </a:xfrm>
          <a:prstGeom prst="curved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文本框 43"/>
          <p:cNvSpPr txBox="1"/>
          <p:nvPr/>
        </p:nvSpPr>
        <p:spPr>
          <a:xfrm>
            <a:off x="5057427" y="1489554"/>
            <a:ext cx="4152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上</a:t>
            </a:r>
            <a:endParaRPr lang="zh-CN" altLang="en-US" sz="1200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6" name="曲线连接符 45"/>
          <p:cNvCxnSpPr>
            <a:stCxn id="6" idx="1"/>
            <a:endCxn id="7" idx="1"/>
          </p:cNvCxnSpPr>
          <p:nvPr/>
        </p:nvCxnSpPr>
        <p:spPr>
          <a:xfrm rot="10800000" flipV="1">
            <a:off x="3270622" y="1276331"/>
            <a:ext cx="12700" cy="2233638"/>
          </a:xfrm>
          <a:prstGeom prst="curvedConnector3">
            <a:avLst>
              <a:gd name="adj1" fmla="val 756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文本框 46"/>
          <p:cNvSpPr txBox="1"/>
          <p:nvPr/>
        </p:nvSpPr>
        <p:spPr>
          <a:xfrm>
            <a:off x="1965432" y="2226198"/>
            <a:ext cx="4152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下</a:t>
            </a:r>
            <a:endParaRPr lang="zh-CN" altLang="en-US" sz="1200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9" name="曲线连接符 48"/>
          <p:cNvCxnSpPr>
            <a:stCxn id="7" idx="3"/>
            <a:endCxn id="5" idx="2"/>
          </p:cNvCxnSpPr>
          <p:nvPr/>
        </p:nvCxnSpPr>
        <p:spPr>
          <a:xfrm flipV="1">
            <a:off x="4592346" y="2650147"/>
            <a:ext cx="1114946" cy="859822"/>
          </a:xfrm>
          <a:prstGeom prst="curved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文本框 49"/>
          <p:cNvSpPr txBox="1"/>
          <p:nvPr/>
        </p:nvSpPr>
        <p:spPr>
          <a:xfrm>
            <a:off x="5126313" y="3509969"/>
            <a:ext cx="4152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上</a:t>
            </a:r>
            <a:endParaRPr lang="zh-CN" altLang="en-US" sz="1200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7" name="曲线连接符 56"/>
          <p:cNvCxnSpPr>
            <a:stCxn id="6" idx="0"/>
            <a:endCxn id="8" idx="0"/>
          </p:cNvCxnSpPr>
          <p:nvPr/>
        </p:nvCxnSpPr>
        <p:spPr>
          <a:xfrm rot="5400000" flipH="1" flipV="1">
            <a:off x="5738333" y="-742493"/>
            <a:ext cx="12700" cy="3613699"/>
          </a:xfrm>
          <a:prstGeom prst="curvedConnector3">
            <a:avLst>
              <a:gd name="adj1" fmla="val 18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文本框 58"/>
          <p:cNvSpPr txBox="1"/>
          <p:nvPr/>
        </p:nvSpPr>
        <p:spPr>
          <a:xfrm>
            <a:off x="5510646" y="310952"/>
            <a:ext cx="4152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下</a:t>
            </a:r>
            <a:endParaRPr lang="zh-CN" altLang="en-US" sz="1200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8" name="曲线连接符 67"/>
          <p:cNvCxnSpPr>
            <a:stCxn id="8" idx="3"/>
            <a:endCxn id="4" idx="3"/>
          </p:cNvCxnSpPr>
          <p:nvPr/>
        </p:nvCxnSpPr>
        <p:spPr>
          <a:xfrm>
            <a:off x="8206045" y="1276331"/>
            <a:ext cx="12700" cy="2233637"/>
          </a:xfrm>
          <a:prstGeom prst="curvedConnector3">
            <a:avLst>
              <a:gd name="adj1" fmla="val 672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曲线连接符 75"/>
          <p:cNvCxnSpPr>
            <a:stCxn id="4" idx="1"/>
            <a:endCxn id="5" idx="2"/>
          </p:cNvCxnSpPr>
          <p:nvPr/>
        </p:nvCxnSpPr>
        <p:spPr>
          <a:xfrm rot="10800000">
            <a:off x="5707293" y="2650148"/>
            <a:ext cx="1177029" cy="859821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文本框 80"/>
          <p:cNvSpPr txBox="1"/>
          <p:nvPr/>
        </p:nvSpPr>
        <p:spPr>
          <a:xfrm>
            <a:off x="213360" y="3939540"/>
            <a:ext cx="21412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 smtClean="0"/>
              <a:t>暂停状态什么都不做</a:t>
            </a:r>
            <a:endParaRPr lang="en-US" altLang="zh-CN" dirty="0" smtClean="0"/>
          </a:p>
          <a:p>
            <a:r>
              <a:rPr lang="zh-CN" altLang="en-US" dirty="0" smtClean="0"/>
              <a:t>快进和正常状态 设置间隔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6808105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5568790" y="3302183"/>
            <a:ext cx="2297556" cy="363901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/>
          <p:cNvSpPr/>
          <p:nvPr/>
        </p:nvSpPr>
        <p:spPr>
          <a:xfrm>
            <a:off x="3292440" y="4139737"/>
            <a:ext cx="1276461" cy="340823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1638622" y="4705002"/>
            <a:ext cx="1276461" cy="340823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/>
          <p:cNvSpPr/>
          <p:nvPr/>
        </p:nvSpPr>
        <p:spPr>
          <a:xfrm>
            <a:off x="1056966" y="5212078"/>
            <a:ext cx="558840" cy="282634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椭圆 7"/>
          <p:cNvSpPr/>
          <p:nvPr/>
        </p:nvSpPr>
        <p:spPr>
          <a:xfrm>
            <a:off x="1159624" y="5311832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椭圆 8"/>
          <p:cNvSpPr/>
          <p:nvPr/>
        </p:nvSpPr>
        <p:spPr>
          <a:xfrm>
            <a:off x="1393858" y="5311832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椭圆 9"/>
          <p:cNvSpPr/>
          <p:nvPr/>
        </p:nvSpPr>
        <p:spPr>
          <a:xfrm>
            <a:off x="1628092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椭圆 10"/>
          <p:cNvSpPr/>
          <p:nvPr/>
        </p:nvSpPr>
        <p:spPr>
          <a:xfrm>
            <a:off x="1862326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椭圆 11"/>
          <p:cNvSpPr/>
          <p:nvPr/>
        </p:nvSpPr>
        <p:spPr>
          <a:xfrm>
            <a:off x="2096560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椭圆 12"/>
          <p:cNvSpPr/>
          <p:nvPr/>
        </p:nvSpPr>
        <p:spPr>
          <a:xfrm>
            <a:off x="2330794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椭圆 13"/>
          <p:cNvSpPr/>
          <p:nvPr/>
        </p:nvSpPr>
        <p:spPr>
          <a:xfrm>
            <a:off x="2565028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椭圆 14"/>
          <p:cNvSpPr/>
          <p:nvPr/>
        </p:nvSpPr>
        <p:spPr>
          <a:xfrm>
            <a:off x="2799262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椭圆 15"/>
          <p:cNvSpPr/>
          <p:nvPr/>
        </p:nvSpPr>
        <p:spPr>
          <a:xfrm>
            <a:off x="3033496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椭圆 16"/>
          <p:cNvSpPr/>
          <p:nvPr/>
        </p:nvSpPr>
        <p:spPr>
          <a:xfrm>
            <a:off x="3267730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椭圆 17"/>
          <p:cNvSpPr/>
          <p:nvPr/>
        </p:nvSpPr>
        <p:spPr>
          <a:xfrm>
            <a:off x="3501964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椭圆 18"/>
          <p:cNvSpPr/>
          <p:nvPr/>
        </p:nvSpPr>
        <p:spPr>
          <a:xfrm>
            <a:off x="3736198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椭圆 19"/>
          <p:cNvSpPr/>
          <p:nvPr/>
        </p:nvSpPr>
        <p:spPr>
          <a:xfrm>
            <a:off x="3970432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椭圆 20"/>
          <p:cNvSpPr/>
          <p:nvPr/>
        </p:nvSpPr>
        <p:spPr>
          <a:xfrm>
            <a:off x="4204666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椭圆 21"/>
          <p:cNvSpPr/>
          <p:nvPr/>
        </p:nvSpPr>
        <p:spPr>
          <a:xfrm>
            <a:off x="4438900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椭圆 22"/>
          <p:cNvSpPr/>
          <p:nvPr/>
        </p:nvSpPr>
        <p:spPr>
          <a:xfrm>
            <a:off x="4673134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椭圆 23"/>
          <p:cNvSpPr/>
          <p:nvPr/>
        </p:nvSpPr>
        <p:spPr>
          <a:xfrm>
            <a:off x="4907368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椭圆 24"/>
          <p:cNvSpPr/>
          <p:nvPr/>
        </p:nvSpPr>
        <p:spPr>
          <a:xfrm>
            <a:off x="5141602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椭圆 25"/>
          <p:cNvSpPr/>
          <p:nvPr/>
        </p:nvSpPr>
        <p:spPr>
          <a:xfrm>
            <a:off x="5375836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椭圆 26"/>
          <p:cNvSpPr/>
          <p:nvPr/>
        </p:nvSpPr>
        <p:spPr>
          <a:xfrm>
            <a:off x="5610070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椭圆 27"/>
          <p:cNvSpPr/>
          <p:nvPr/>
        </p:nvSpPr>
        <p:spPr>
          <a:xfrm>
            <a:off x="5844304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椭圆 28"/>
          <p:cNvSpPr/>
          <p:nvPr/>
        </p:nvSpPr>
        <p:spPr>
          <a:xfrm>
            <a:off x="6078538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椭圆 29"/>
          <p:cNvSpPr/>
          <p:nvPr/>
        </p:nvSpPr>
        <p:spPr>
          <a:xfrm>
            <a:off x="6312772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椭圆 30"/>
          <p:cNvSpPr/>
          <p:nvPr/>
        </p:nvSpPr>
        <p:spPr>
          <a:xfrm>
            <a:off x="6547006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椭圆 31"/>
          <p:cNvSpPr/>
          <p:nvPr/>
        </p:nvSpPr>
        <p:spPr>
          <a:xfrm>
            <a:off x="6781240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椭圆 32"/>
          <p:cNvSpPr/>
          <p:nvPr/>
        </p:nvSpPr>
        <p:spPr>
          <a:xfrm>
            <a:off x="7015474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椭圆 33"/>
          <p:cNvSpPr/>
          <p:nvPr/>
        </p:nvSpPr>
        <p:spPr>
          <a:xfrm>
            <a:off x="7249708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椭圆 34"/>
          <p:cNvSpPr/>
          <p:nvPr/>
        </p:nvSpPr>
        <p:spPr>
          <a:xfrm>
            <a:off x="7483942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椭圆 35"/>
          <p:cNvSpPr/>
          <p:nvPr/>
        </p:nvSpPr>
        <p:spPr>
          <a:xfrm>
            <a:off x="7718176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椭圆 36"/>
          <p:cNvSpPr/>
          <p:nvPr/>
        </p:nvSpPr>
        <p:spPr>
          <a:xfrm>
            <a:off x="7952410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椭圆 37"/>
          <p:cNvSpPr/>
          <p:nvPr/>
        </p:nvSpPr>
        <p:spPr>
          <a:xfrm>
            <a:off x="8186644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椭圆 38"/>
          <p:cNvSpPr/>
          <p:nvPr/>
        </p:nvSpPr>
        <p:spPr>
          <a:xfrm>
            <a:off x="8420890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椭圆 39"/>
          <p:cNvSpPr/>
          <p:nvPr/>
        </p:nvSpPr>
        <p:spPr>
          <a:xfrm>
            <a:off x="1300941" y="4796443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椭圆 40"/>
          <p:cNvSpPr/>
          <p:nvPr/>
        </p:nvSpPr>
        <p:spPr>
          <a:xfrm flipH="1">
            <a:off x="1721009" y="4796444"/>
            <a:ext cx="141318" cy="14131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椭圆 41"/>
          <p:cNvSpPr/>
          <p:nvPr/>
        </p:nvSpPr>
        <p:spPr>
          <a:xfrm>
            <a:off x="2223929" y="4796443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椭圆 42"/>
          <p:cNvSpPr/>
          <p:nvPr/>
        </p:nvSpPr>
        <p:spPr>
          <a:xfrm flipH="1">
            <a:off x="2679879" y="4796443"/>
            <a:ext cx="141318" cy="14131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椭圆 43"/>
          <p:cNvSpPr/>
          <p:nvPr/>
        </p:nvSpPr>
        <p:spPr>
          <a:xfrm>
            <a:off x="3160865" y="479644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椭圆 44"/>
          <p:cNvSpPr/>
          <p:nvPr/>
        </p:nvSpPr>
        <p:spPr>
          <a:xfrm flipH="1">
            <a:off x="3616815" y="4796443"/>
            <a:ext cx="141318" cy="141316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椭圆 45"/>
          <p:cNvSpPr/>
          <p:nvPr/>
        </p:nvSpPr>
        <p:spPr>
          <a:xfrm>
            <a:off x="4072766" y="479644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椭圆 46"/>
          <p:cNvSpPr/>
          <p:nvPr/>
        </p:nvSpPr>
        <p:spPr>
          <a:xfrm flipH="1">
            <a:off x="4531816" y="4796443"/>
            <a:ext cx="141318" cy="141316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" name="椭圆 47"/>
          <p:cNvSpPr/>
          <p:nvPr/>
        </p:nvSpPr>
        <p:spPr>
          <a:xfrm>
            <a:off x="5026427" y="4796443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椭圆 48"/>
          <p:cNvSpPr/>
          <p:nvPr/>
        </p:nvSpPr>
        <p:spPr>
          <a:xfrm flipH="1">
            <a:off x="5446495" y="4796444"/>
            <a:ext cx="141318" cy="141316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椭圆 49"/>
          <p:cNvSpPr/>
          <p:nvPr/>
        </p:nvSpPr>
        <p:spPr>
          <a:xfrm>
            <a:off x="5949415" y="4796443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" name="椭圆 50"/>
          <p:cNvSpPr/>
          <p:nvPr/>
        </p:nvSpPr>
        <p:spPr>
          <a:xfrm flipH="1">
            <a:off x="6405365" y="4796443"/>
            <a:ext cx="141318" cy="141316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椭圆 51"/>
          <p:cNvSpPr/>
          <p:nvPr/>
        </p:nvSpPr>
        <p:spPr>
          <a:xfrm>
            <a:off x="6886351" y="479644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椭圆 52"/>
          <p:cNvSpPr/>
          <p:nvPr/>
        </p:nvSpPr>
        <p:spPr>
          <a:xfrm flipH="1">
            <a:off x="7342301" y="4796443"/>
            <a:ext cx="141318" cy="141316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" name="椭圆 53"/>
          <p:cNvSpPr/>
          <p:nvPr/>
        </p:nvSpPr>
        <p:spPr>
          <a:xfrm>
            <a:off x="7798252" y="479644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" name="椭圆 54"/>
          <p:cNvSpPr/>
          <p:nvPr/>
        </p:nvSpPr>
        <p:spPr>
          <a:xfrm flipH="1">
            <a:off x="8257302" y="4796443"/>
            <a:ext cx="141318" cy="141316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" name="椭圆 55"/>
          <p:cNvSpPr/>
          <p:nvPr/>
        </p:nvSpPr>
        <p:spPr>
          <a:xfrm>
            <a:off x="1491207" y="4239491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" name="椭圆 56"/>
          <p:cNvSpPr/>
          <p:nvPr/>
        </p:nvSpPr>
        <p:spPr>
          <a:xfrm>
            <a:off x="2445420" y="4239491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椭圆 57"/>
          <p:cNvSpPr/>
          <p:nvPr/>
        </p:nvSpPr>
        <p:spPr>
          <a:xfrm>
            <a:off x="3398609" y="4272742"/>
            <a:ext cx="101050" cy="1080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椭圆 58"/>
          <p:cNvSpPr/>
          <p:nvPr/>
        </p:nvSpPr>
        <p:spPr>
          <a:xfrm>
            <a:off x="4352821" y="4239491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椭圆 59"/>
          <p:cNvSpPr/>
          <p:nvPr/>
        </p:nvSpPr>
        <p:spPr>
          <a:xfrm>
            <a:off x="5232113" y="4239491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椭圆 60"/>
          <p:cNvSpPr/>
          <p:nvPr/>
        </p:nvSpPr>
        <p:spPr>
          <a:xfrm>
            <a:off x="6186326" y="4239491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2" name="椭圆 61"/>
          <p:cNvSpPr/>
          <p:nvPr/>
        </p:nvSpPr>
        <p:spPr>
          <a:xfrm>
            <a:off x="7139514" y="4239491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椭圆 62"/>
          <p:cNvSpPr/>
          <p:nvPr/>
        </p:nvSpPr>
        <p:spPr>
          <a:xfrm>
            <a:off x="8029988" y="4239491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椭圆 63"/>
          <p:cNvSpPr/>
          <p:nvPr/>
        </p:nvSpPr>
        <p:spPr>
          <a:xfrm>
            <a:off x="1955243" y="3433156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椭圆 64"/>
          <p:cNvSpPr/>
          <p:nvPr/>
        </p:nvSpPr>
        <p:spPr>
          <a:xfrm>
            <a:off x="4743792" y="2219497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6" name="椭圆 65"/>
          <p:cNvSpPr/>
          <p:nvPr/>
        </p:nvSpPr>
        <p:spPr>
          <a:xfrm>
            <a:off x="5658927" y="3433154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椭圆 66"/>
          <p:cNvSpPr/>
          <p:nvPr/>
        </p:nvSpPr>
        <p:spPr>
          <a:xfrm>
            <a:off x="7554600" y="3433153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椭圆 67"/>
          <p:cNvSpPr/>
          <p:nvPr/>
        </p:nvSpPr>
        <p:spPr>
          <a:xfrm>
            <a:off x="2940579" y="2867889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9" name="椭圆 68"/>
          <p:cNvSpPr/>
          <p:nvPr/>
        </p:nvSpPr>
        <p:spPr>
          <a:xfrm>
            <a:off x="6688323" y="2867889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0" name="直接箭头连接符 69"/>
          <p:cNvCxnSpPr>
            <a:stCxn id="65" idx="3"/>
            <a:endCxn id="68" idx="7"/>
          </p:cNvCxnSpPr>
          <p:nvPr/>
        </p:nvCxnSpPr>
        <p:spPr>
          <a:xfrm flipH="1">
            <a:off x="3061201" y="2340119"/>
            <a:ext cx="1703286" cy="5484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直接箭头连接符 70"/>
          <p:cNvCxnSpPr>
            <a:stCxn id="65" idx="5"/>
            <a:endCxn id="69" idx="1"/>
          </p:cNvCxnSpPr>
          <p:nvPr/>
        </p:nvCxnSpPr>
        <p:spPr>
          <a:xfrm>
            <a:off x="4864414" y="2340119"/>
            <a:ext cx="1844604" cy="5484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接箭头连接符 71"/>
          <p:cNvCxnSpPr>
            <a:stCxn id="68" idx="3"/>
            <a:endCxn id="64" idx="0"/>
          </p:cNvCxnSpPr>
          <p:nvPr/>
        </p:nvCxnSpPr>
        <p:spPr>
          <a:xfrm flipH="1">
            <a:off x="2025902" y="2988511"/>
            <a:ext cx="935372" cy="4446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椭圆 72"/>
          <p:cNvSpPr/>
          <p:nvPr/>
        </p:nvSpPr>
        <p:spPr>
          <a:xfrm>
            <a:off x="3877515" y="3472597"/>
            <a:ext cx="101050" cy="1080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4" name="直接箭头连接符 73"/>
          <p:cNvCxnSpPr>
            <a:stCxn id="68" idx="4"/>
            <a:endCxn id="73" idx="0"/>
          </p:cNvCxnSpPr>
          <p:nvPr/>
        </p:nvCxnSpPr>
        <p:spPr>
          <a:xfrm>
            <a:off x="3011238" y="3009206"/>
            <a:ext cx="916802" cy="4633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直接箭头连接符 74"/>
          <p:cNvCxnSpPr>
            <a:stCxn id="69" idx="3"/>
            <a:endCxn id="66" idx="7"/>
          </p:cNvCxnSpPr>
          <p:nvPr/>
        </p:nvCxnSpPr>
        <p:spPr>
          <a:xfrm flipH="1">
            <a:off x="5779549" y="2988511"/>
            <a:ext cx="929469" cy="4653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直接箭头连接符 75"/>
          <p:cNvCxnSpPr>
            <a:stCxn id="69" idx="4"/>
            <a:endCxn id="67" idx="1"/>
          </p:cNvCxnSpPr>
          <p:nvPr/>
        </p:nvCxnSpPr>
        <p:spPr>
          <a:xfrm>
            <a:off x="6758982" y="3009206"/>
            <a:ext cx="816313" cy="44464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直接箭头连接符 76"/>
          <p:cNvCxnSpPr>
            <a:stCxn id="64" idx="3"/>
            <a:endCxn id="56" idx="0"/>
          </p:cNvCxnSpPr>
          <p:nvPr/>
        </p:nvCxnSpPr>
        <p:spPr>
          <a:xfrm flipH="1">
            <a:off x="1561866" y="3553778"/>
            <a:ext cx="414072" cy="6857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直接箭头连接符 77"/>
          <p:cNvCxnSpPr>
            <a:stCxn id="64" idx="5"/>
            <a:endCxn id="57" idx="7"/>
          </p:cNvCxnSpPr>
          <p:nvPr/>
        </p:nvCxnSpPr>
        <p:spPr>
          <a:xfrm>
            <a:off x="2075865" y="3553778"/>
            <a:ext cx="490177" cy="7064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直接箭头连接符 78"/>
          <p:cNvCxnSpPr>
            <a:stCxn id="73" idx="3"/>
            <a:endCxn id="58" idx="6"/>
          </p:cNvCxnSpPr>
          <p:nvPr/>
        </p:nvCxnSpPr>
        <p:spPr>
          <a:xfrm flipH="1">
            <a:off x="3499659" y="3564837"/>
            <a:ext cx="392654" cy="7619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直接箭头连接符 79"/>
          <p:cNvCxnSpPr>
            <a:stCxn id="73" idx="5"/>
            <a:endCxn id="59" idx="1"/>
          </p:cNvCxnSpPr>
          <p:nvPr/>
        </p:nvCxnSpPr>
        <p:spPr>
          <a:xfrm>
            <a:off x="3963767" y="3564837"/>
            <a:ext cx="409749" cy="6953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直接箭头连接符 80"/>
          <p:cNvCxnSpPr>
            <a:stCxn id="66" idx="3"/>
            <a:endCxn id="60" idx="0"/>
          </p:cNvCxnSpPr>
          <p:nvPr/>
        </p:nvCxnSpPr>
        <p:spPr>
          <a:xfrm flipH="1">
            <a:off x="5302772" y="3553776"/>
            <a:ext cx="376850" cy="68571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直接箭头连接符 81"/>
          <p:cNvCxnSpPr>
            <a:stCxn id="66" idx="4"/>
            <a:endCxn id="61" idx="1"/>
          </p:cNvCxnSpPr>
          <p:nvPr/>
        </p:nvCxnSpPr>
        <p:spPr>
          <a:xfrm>
            <a:off x="5729586" y="3574471"/>
            <a:ext cx="477435" cy="68571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直接箭头连接符 82"/>
          <p:cNvCxnSpPr>
            <a:stCxn id="67" idx="4"/>
            <a:endCxn id="62" idx="0"/>
          </p:cNvCxnSpPr>
          <p:nvPr/>
        </p:nvCxnSpPr>
        <p:spPr>
          <a:xfrm flipH="1">
            <a:off x="7210173" y="3574470"/>
            <a:ext cx="415086" cy="665021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直接箭头连接符 83"/>
          <p:cNvCxnSpPr>
            <a:stCxn id="67" idx="5"/>
            <a:endCxn id="63" idx="0"/>
          </p:cNvCxnSpPr>
          <p:nvPr/>
        </p:nvCxnSpPr>
        <p:spPr>
          <a:xfrm>
            <a:off x="7675222" y="3553775"/>
            <a:ext cx="425425" cy="685716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直接箭头连接符 84"/>
          <p:cNvCxnSpPr>
            <a:stCxn id="56" idx="4"/>
            <a:endCxn id="40" idx="0"/>
          </p:cNvCxnSpPr>
          <p:nvPr/>
        </p:nvCxnSpPr>
        <p:spPr>
          <a:xfrm flipH="1">
            <a:off x="1371600" y="4380808"/>
            <a:ext cx="190266" cy="4156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直接箭头连接符 85"/>
          <p:cNvCxnSpPr>
            <a:stCxn id="56" idx="4"/>
            <a:endCxn id="41" idx="0"/>
          </p:cNvCxnSpPr>
          <p:nvPr/>
        </p:nvCxnSpPr>
        <p:spPr>
          <a:xfrm>
            <a:off x="1561866" y="4380808"/>
            <a:ext cx="229802" cy="4156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直接箭头连接符 86"/>
          <p:cNvCxnSpPr>
            <a:stCxn id="57" idx="3"/>
            <a:endCxn id="42" idx="0"/>
          </p:cNvCxnSpPr>
          <p:nvPr/>
        </p:nvCxnSpPr>
        <p:spPr>
          <a:xfrm flipH="1">
            <a:off x="2294588" y="4360113"/>
            <a:ext cx="171527" cy="4363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直接箭头连接符 87"/>
          <p:cNvCxnSpPr>
            <a:stCxn id="57" idx="4"/>
            <a:endCxn id="43" idx="0"/>
          </p:cNvCxnSpPr>
          <p:nvPr/>
        </p:nvCxnSpPr>
        <p:spPr>
          <a:xfrm>
            <a:off x="2516079" y="4380808"/>
            <a:ext cx="234459" cy="4156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直接箭头连接符 88"/>
          <p:cNvCxnSpPr>
            <a:stCxn id="58" idx="3"/>
            <a:endCxn id="44" idx="0"/>
          </p:cNvCxnSpPr>
          <p:nvPr/>
        </p:nvCxnSpPr>
        <p:spPr>
          <a:xfrm flipH="1">
            <a:off x="3231524" y="4364982"/>
            <a:ext cx="181883" cy="43146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直接箭头连接符 89"/>
          <p:cNvCxnSpPr>
            <a:stCxn id="58" idx="4"/>
            <a:endCxn id="45" idx="0"/>
          </p:cNvCxnSpPr>
          <p:nvPr/>
        </p:nvCxnSpPr>
        <p:spPr>
          <a:xfrm>
            <a:off x="3449134" y="4380808"/>
            <a:ext cx="238340" cy="41563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直接箭头连接符 90"/>
          <p:cNvCxnSpPr>
            <a:stCxn id="59" idx="4"/>
            <a:endCxn id="46" idx="7"/>
          </p:cNvCxnSpPr>
          <p:nvPr/>
        </p:nvCxnSpPr>
        <p:spPr>
          <a:xfrm flipH="1">
            <a:off x="4193388" y="4380808"/>
            <a:ext cx="230092" cy="436329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直接箭头连接符 91"/>
          <p:cNvCxnSpPr>
            <a:stCxn id="59" idx="4"/>
            <a:endCxn id="47" idx="0"/>
          </p:cNvCxnSpPr>
          <p:nvPr/>
        </p:nvCxnSpPr>
        <p:spPr>
          <a:xfrm>
            <a:off x="4423480" y="4380808"/>
            <a:ext cx="178995" cy="41563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直接箭头连接符 92"/>
          <p:cNvCxnSpPr>
            <a:stCxn id="60" idx="3"/>
            <a:endCxn id="48" idx="0"/>
          </p:cNvCxnSpPr>
          <p:nvPr/>
        </p:nvCxnSpPr>
        <p:spPr>
          <a:xfrm flipH="1">
            <a:off x="5097086" y="4360113"/>
            <a:ext cx="155722" cy="43633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直接箭头连接符 93"/>
          <p:cNvCxnSpPr>
            <a:stCxn id="60" idx="4"/>
            <a:endCxn id="49" idx="0"/>
          </p:cNvCxnSpPr>
          <p:nvPr/>
        </p:nvCxnSpPr>
        <p:spPr>
          <a:xfrm>
            <a:off x="5302772" y="4380808"/>
            <a:ext cx="214382" cy="415636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直接箭头连接符 94"/>
          <p:cNvCxnSpPr>
            <a:stCxn id="61" idx="3"/>
            <a:endCxn id="50" idx="0"/>
          </p:cNvCxnSpPr>
          <p:nvPr/>
        </p:nvCxnSpPr>
        <p:spPr>
          <a:xfrm flipH="1">
            <a:off x="6020074" y="4360113"/>
            <a:ext cx="186947" cy="43633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直接箭头连接符 95"/>
          <p:cNvCxnSpPr>
            <a:stCxn id="61" idx="4"/>
            <a:endCxn id="51" idx="1"/>
          </p:cNvCxnSpPr>
          <p:nvPr/>
        </p:nvCxnSpPr>
        <p:spPr>
          <a:xfrm>
            <a:off x="6256985" y="4380808"/>
            <a:ext cx="269002" cy="43633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直接箭头连接符 96"/>
          <p:cNvCxnSpPr>
            <a:stCxn id="62" idx="4"/>
            <a:endCxn id="52" idx="0"/>
          </p:cNvCxnSpPr>
          <p:nvPr/>
        </p:nvCxnSpPr>
        <p:spPr>
          <a:xfrm flipH="1">
            <a:off x="6957010" y="4380808"/>
            <a:ext cx="253163" cy="415634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直接箭头连接符 97"/>
          <p:cNvCxnSpPr>
            <a:stCxn id="62" idx="4"/>
            <a:endCxn id="53" idx="1"/>
          </p:cNvCxnSpPr>
          <p:nvPr/>
        </p:nvCxnSpPr>
        <p:spPr>
          <a:xfrm>
            <a:off x="7210173" y="4380808"/>
            <a:ext cx="252750" cy="43633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直接箭头连接符 98"/>
          <p:cNvCxnSpPr>
            <a:stCxn id="63" idx="4"/>
            <a:endCxn id="54" idx="0"/>
          </p:cNvCxnSpPr>
          <p:nvPr/>
        </p:nvCxnSpPr>
        <p:spPr>
          <a:xfrm flipH="1">
            <a:off x="7868911" y="4380808"/>
            <a:ext cx="231736" cy="415634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直接箭头连接符 99"/>
          <p:cNvCxnSpPr>
            <a:stCxn id="63" idx="4"/>
            <a:endCxn id="55" idx="0"/>
          </p:cNvCxnSpPr>
          <p:nvPr/>
        </p:nvCxnSpPr>
        <p:spPr>
          <a:xfrm>
            <a:off x="8100647" y="4380808"/>
            <a:ext cx="227314" cy="41563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直接箭头连接符 100"/>
          <p:cNvCxnSpPr>
            <a:stCxn id="40" idx="3"/>
            <a:endCxn id="8" idx="0"/>
          </p:cNvCxnSpPr>
          <p:nvPr/>
        </p:nvCxnSpPr>
        <p:spPr>
          <a:xfrm flipH="1">
            <a:off x="1230283" y="4917065"/>
            <a:ext cx="91353" cy="3947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直接箭头连接符 101"/>
          <p:cNvCxnSpPr/>
          <p:nvPr/>
        </p:nvCxnSpPr>
        <p:spPr>
          <a:xfrm flipH="1">
            <a:off x="1673006" y="4937759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直接箭头连接符 102"/>
          <p:cNvCxnSpPr/>
          <p:nvPr/>
        </p:nvCxnSpPr>
        <p:spPr>
          <a:xfrm flipH="1">
            <a:off x="2154701" y="4929534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接箭头连接符 103"/>
          <p:cNvCxnSpPr/>
          <p:nvPr/>
        </p:nvCxnSpPr>
        <p:spPr>
          <a:xfrm flipH="1">
            <a:off x="2611327" y="4937759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箭头连接符 104"/>
          <p:cNvCxnSpPr/>
          <p:nvPr/>
        </p:nvCxnSpPr>
        <p:spPr>
          <a:xfrm flipH="1">
            <a:off x="3095640" y="4937759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直接箭头连接符 105"/>
          <p:cNvCxnSpPr/>
          <p:nvPr/>
        </p:nvCxnSpPr>
        <p:spPr>
          <a:xfrm flipH="1">
            <a:off x="3546158" y="4937759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箭头连接符 106"/>
          <p:cNvCxnSpPr/>
          <p:nvPr/>
        </p:nvCxnSpPr>
        <p:spPr>
          <a:xfrm flipH="1">
            <a:off x="4028573" y="4937759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接箭头连接符 107"/>
          <p:cNvCxnSpPr/>
          <p:nvPr/>
        </p:nvCxnSpPr>
        <p:spPr>
          <a:xfrm flipH="1">
            <a:off x="4502638" y="4937759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直接箭头连接符 108"/>
          <p:cNvCxnSpPr/>
          <p:nvPr/>
        </p:nvCxnSpPr>
        <p:spPr>
          <a:xfrm flipH="1">
            <a:off x="4984185" y="4937758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直接箭头连接符 109"/>
          <p:cNvCxnSpPr/>
          <p:nvPr/>
        </p:nvCxnSpPr>
        <p:spPr>
          <a:xfrm flipH="1">
            <a:off x="5416059" y="4929533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直接箭头连接符 110"/>
          <p:cNvCxnSpPr/>
          <p:nvPr/>
        </p:nvCxnSpPr>
        <p:spPr>
          <a:xfrm flipH="1">
            <a:off x="5929720" y="4917064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直接箭头连接符 111"/>
          <p:cNvCxnSpPr/>
          <p:nvPr/>
        </p:nvCxnSpPr>
        <p:spPr>
          <a:xfrm flipH="1">
            <a:off x="6368527" y="4927412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直接箭头连接符 112"/>
          <p:cNvCxnSpPr/>
          <p:nvPr/>
        </p:nvCxnSpPr>
        <p:spPr>
          <a:xfrm flipH="1">
            <a:off x="6858580" y="4910959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直接箭头连接符 113"/>
          <p:cNvCxnSpPr/>
          <p:nvPr/>
        </p:nvCxnSpPr>
        <p:spPr>
          <a:xfrm flipH="1">
            <a:off x="7309142" y="4927412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直接箭头连接符 114"/>
          <p:cNvCxnSpPr/>
          <p:nvPr/>
        </p:nvCxnSpPr>
        <p:spPr>
          <a:xfrm flipH="1">
            <a:off x="7774993" y="4927412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直接箭头连接符 115"/>
          <p:cNvCxnSpPr/>
          <p:nvPr/>
        </p:nvCxnSpPr>
        <p:spPr>
          <a:xfrm flipH="1">
            <a:off x="8231808" y="4927412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直接箭头连接符 116"/>
          <p:cNvCxnSpPr>
            <a:stCxn id="40" idx="4"/>
            <a:endCxn id="9" idx="0"/>
          </p:cNvCxnSpPr>
          <p:nvPr/>
        </p:nvCxnSpPr>
        <p:spPr>
          <a:xfrm>
            <a:off x="1371600" y="4937760"/>
            <a:ext cx="92917" cy="3740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直接箭头连接符 117"/>
          <p:cNvCxnSpPr>
            <a:endCxn id="11" idx="0"/>
          </p:cNvCxnSpPr>
          <p:nvPr/>
        </p:nvCxnSpPr>
        <p:spPr>
          <a:xfrm>
            <a:off x="1804277" y="4906801"/>
            <a:ext cx="128708" cy="405031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直接箭头连接符 118"/>
          <p:cNvCxnSpPr/>
          <p:nvPr/>
        </p:nvCxnSpPr>
        <p:spPr>
          <a:xfrm>
            <a:off x="2303716" y="4925545"/>
            <a:ext cx="92917" cy="374072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直接箭头连接符 119"/>
          <p:cNvCxnSpPr>
            <a:endCxn id="15" idx="0"/>
          </p:cNvCxnSpPr>
          <p:nvPr/>
        </p:nvCxnSpPr>
        <p:spPr>
          <a:xfrm>
            <a:off x="2726878" y="4906801"/>
            <a:ext cx="143043" cy="405031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直接箭头连接符 120"/>
          <p:cNvCxnSpPr/>
          <p:nvPr/>
        </p:nvCxnSpPr>
        <p:spPr>
          <a:xfrm>
            <a:off x="3202075" y="4941913"/>
            <a:ext cx="92917" cy="374072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直接箭头连接符 121"/>
          <p:cNvCxnSpPr>
            <a:endCxn id="19" idx="0"/>
          </p:cNvCxnSpPr>
          <p:nvPr/>
        </p:nvCxnSpPr>
        <p:spPr>
          <a:xfrm>
            <a:off x="3683877" y="4908666"/>
            <a:ext cx="122980" cy="403166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直接箭头连接符 122"/>
          <p:cNvCxnSpPr>
            <a:endCxn id="21" idx="1"/>
          </p:cNvCxnSpPr>
          <p:nvPr/>
        </p:nvCxnSpPr>
        <p:spPr>
          <a:xfrm>
            <a:off x="4149898" y="4896365"/>
            <a:ext cx="75463" cy="436162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直接箭头连接符 123"/>
          <p:cNvCxnSpPr>
            <a:endCxn id="23" idx="0"/>
          </p:cNvCxnSpPr>
          <p:nvPr/>
        </p:nvCxnSpPr>
        <p:spPr>
          <a:xfrm>
            <a:off x="4624427" y="4871255"/>
            <a:ext cx="119366" cy="44057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直接箭头连接符 124"/>
          <p:cNvCxnSpPr>
            <a:endCxn id="25" idx="0"/>
          </p:cNvCxnSpPr>
          <p:nvPr/>
        </p:nvCxnSpPr>
        <p:spPr>
          <a:xfrm>
            <a:off x="5099405" y="4896365"/>
            <a:ext cx="112856" cy="4154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直接箭头连接符 125"/>
          <p:cNvCxnSpPr/>
          <p:nvPr/>
        </p:nvCxnSpPr>
        <p:spPr>
          <a:xfrm>
            <a:off x="5572852" y="4914940"/>
            <a:ext cx="92917" cy="374072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直接箭头连接符 126"/>
          <p:cNvCxnSpPr/>
          <p:nvPr/>
        </p:nvCxnSpPr>
        <p:spPr>
          <a:xfrm>
            <a:off x="6029829" y="4914940"/>
            <a:ext cx="92917" cy="374072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直接箭头连接符 127"/>
          <p:cNvCxnSpPr>
            <a:endCxn id="31" idx="0"/>
          </p:cNvCxnSpPr>
          <p:nvPr/>
        </p:nvCxnSpPr>
        <p:spPr>
          <a:xfrm>
            <a:off x="6472819" y="4888051"/>
            <a:ext cx="144846" cy="423781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直接箭头连接符 128"/>
          <p:cNvCxnSpPr>
            <a:endCxn id="33" idx="7"/>
          </p:cNvCxnSpPr>
          <p:nvPr/>
        </p:nvCxnSpPr>
        <p:spPr>
          <a:xfrm>
            <a:off x="6964436" y="4906801"/>
            <a:ext cx="171660" cy="425726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直接箭头连接符 129"/>
          <p:cNvCxnSpPr/>
          <p:nvPr/>
        </p:nvCxnSpPr>
        <p:spPr>
          <a:xfrm>
            <a:off x="7445659" y="4921306"/>
            <a:ext cx="92917" cy="374072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直接箭头连接符 130"/>
          <p:cNvCxnSpPr>
            <a:endCxn id="37" idx="0"/>
          </p:cNvCxnSpPr>
          <p:nvPr/>
        </p:nvCxnSpPr>
        <p:spPr>
          <a:xfrm>
            <a:off x="7876704" y="4921306"/>
            <a:ext cx="146365" cy="390526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直接箭头连接符 131"/>
          <p:cNvCxnSpPr>
            <a:endCxn id="39" idx="1"/>
          </p:cNvCxnSpPr>
          <p:nvPr/>
        </p:nvCxnSpPr>
        <p:spPr>
          <a:xfrm>
            <a:off x="8352161" y="4902643"/>
            <a:ext cx="89424" cy="429884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43820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http://c.biancheng.net/cpp/uploads/allimg/151020/1-151020132J32G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9561" y="882793"/>
            <a:ext cx="4171950" cy="4410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文本框 3"/>
          <p:cNvSpPr txBox="1"/>
          <p:nvPr/>
        </p:nvSpPr>
        <p:spPr>
          <a:xfrm>
            <a:off x="1737359" y="2327563"/>
            <a:ext cx="1471353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5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connect()</a:t>
            </a:r>
            <a:r>
              <a:rPr lang="zh-CN" altLang="en-US" sz="15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阻塞</a:t>
            </a:r>
            <a:endParaRPr lang="zh-CN" altLang="en-US" sz="15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1670858" y="3933915"/>
            <a:ext cx="1471353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5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connect()</a:t>
            </a:r>
            <a:r>
              <a:rPr lang="zh-CN" altLang="en-US" sz="15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返回</a:t>
            </a:r>
            <a:endParaRPr lang="zh-CN" altLang="en-US" sz="15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5660967" y="2019991"/>
            <a:ext cx="122197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5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accept()</a:t>
            </a:r>
            <a:r>
              <a:rPr lang="zh-CN" altLang="en-US" sz="15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阻塞</a:t>
            </a:r>
            <a:endParaRPr lang="zh-CN" altLang="en-US" sz="15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5287645" y="3933914"/>
            <a:ext cx="1471353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5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accept()</a:t>
            </a:r>
            <a:r>
              <a:rPr lang="zh-CN" altLang="en-US" sz="15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返回</a:t>
            </a:r>
            <a:endParaRPr lang="zh-CN" altLang="en-US" sz="15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" name="直接连接符 8"/>
          <p:cNvCxnSpPr/>
          <p:nvPr/>
        </p:nvCxnSpPr>
        <p:spPr>
          <a:xfrm>
            <a:off x="5370772" y="2181572"/>
            <a:ext cx="373322" cy="1"/>
          </a:xfrm>
          <a:prstGeom prst="line">
            <a:avLst/>
          </a:prstGeom>
          <a:ln w="28575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/>
          <p:cNvSpPr txBox="1"/>
          <p:nvPr/>
        </p:nvSpPr>
        <p:spPr>
          <a:xfrm>
            <a:off x="7620114" y="3526912"/>
            <a:ext cx="96427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3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ACK</a:t>
            </a:r>
          </a:p>
        </p:txBody>
      </p:sp>
      <p:sp>
        <p:nvSpPr>
          <p:cNvPr id="3" name="圆角矩形 2"/>
          <p:cNvSpPr/>
          <p:nvPr/>
        </p:nvSpPr>
        <p:spPr>
          <a:xfrm>
            <a:off x="7620114" y="3788441"/>
            <a:ext cx="964277" cy="407324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Seq</a:t>
            </a:r>
            <a:r>
              <a:rPr lang="zh-CN" alt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  <a:r>
              <a:rPr lang="en-US" altLang="zh-CN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1001</a:t>
            </a:r>
          </a:p>
          <a:p>
            <a:pPr algn="ctr"/>
            <a:r>
              <a:rPr lang="en-US" altLang="zh-CN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Ack</a:t>
            </a:r>
            <a:r>
              <a:rPr lang="zh-CN" alt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  <a:r>
              <a:rPr lang="en-US" altLang="zh-CN" sz="12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2001</a:t>
            </a:r>
            <a:endParaRPr lang="en-US" altLang="zh-CN" sz="12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3" name="图片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5685" y="3597906"/>
            <a:ext cx="930844" cy="597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11551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558" y="382125"/>
            <a:ext cx="5657850" cy="3400425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0408" y="382125"/>
            <a:ext cx="5657850" cy="3400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82839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1655897" y="39250"/>
            <a:ext cx="2326906" cy="246221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zh-CN" altLang="en-US" sz="1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分析</a:t>
            </a:r>
            <a:r>
              <a:rPr lang="en-US" altLang="zh-CN" sz="1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doctor.mp4</a:t>
            </a:r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的结果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47956" y="558830"/>
            <a:ext cx="1339554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一级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ftyp</a:t>
            </a:r>
            <a:endParaRPr lang="en-US" altLang="zh-C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type=0x66747970</a:t>
            </a:r>
          </a:p>
          <a:p>
            <a:r>
              <a:rPr lang="en-US" altLang="zh-C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size=0x00000020=32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1655896" y="556597"/>
            <a:ext cx="1765483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一级</a:t>
            </a:r>
            <a:r>
              <a:rPr lang="en-US" altLang="zh-CN" sz="1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dat</a:t>
            </a:r>
            <a:endParaRPr lang="en-US" altLang="zh-C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type=0x6D646174</a:t>
            </a:r>
            <a:endParaRPr lang="en-US" altLang="zh-CN" sz="1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>
                <a:latin typeface="Times New Roman" panose="02020603050405020304" pitchFamily="18" charset="0"/>
                <a:cs typeface="Times New Roman" panose="02020603050405020304" pitchFamily="18" charset="0"/>
              </a:rPr>
              <a:t>size=0x000169C4A=1481802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3555456" y="565522"/>
            <a:ext cx="1542323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一级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moov</a:t>
            </a:r>
            <a:endParaRPr lang="en-US" altLang="zh-C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type=0x6D6F6F76</a:t>
            </a:r>
          </a:p>
          <a:p>
            <a:r>
              <a:rPr lang="en-US" altLang="zh-CN" sz="100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size=0x000039C5=14789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704335" y="1355333"/>
            <a:ext cx="1443518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二级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mvhd</a:t>
            </a:r>
            <a:endParaRPr lang="en-US" altLang="zh-C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type= </a:t>
            </a:r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0x6D766864</a:t>
            </a: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size=0x0000006C=108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2795241" y="1370984"/>
            <a:ext cx="1451565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二</a:t>
            </a:r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trak</a:t>
            </a:r>
            <a:endParaRPr lang="en-US" altLang="zh-C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type= </a:t>
            </a:r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0x7472616B</a:t>
            </a:r>
          </a:p>
          <a:p>
            <a:r>
              <a:rPr lang="en-US" altLang="zh-CN" sz="100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size=0x00001B62=7010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4504758" y="1350031"/>
            <a:ext cx="1538292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二</a:t>
            </a:r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trak</a:t>
            </a:r>
            <a:endParaRPr lang="en-US" altLang="zh-CN" sz="1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type=0x7472616B</a:t>
            </a:r>
          </a:p>
          <a:p>
            <a:r>
              <a:rPr lang="en-US" altLang="zh-CN" sz="100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size=0x00001D8D=7565</a:t>
            </a:r>
            <a:endParaRPr lang="en-US" altLang="zh-C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6848352" y="1352781"/>
            <a:ext cx="1308838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二</a:t>
            </a:r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udat</a:t>
            </a:r>
            <a:endParaRPr lang="en-US" altLang="zh-C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type=0x75647461</a:t>
            </a: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size=0x00000062=98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6848352" y="2215024"/>
            <a:ext cx="1319853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三级</a:t>
            </a:r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meta</a:t>
            </a:r>
            <a:endParaRPr lang="en-US" altLang="zh-C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type=0x6D657461</a:t>
            </a: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size=0x0000005A=90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440138" y="2198219"/>
            <a:ext cx="1325230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三级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tkhd</a:t>
            </a:r>
            <a:endParaRPr lang="en-US" altLang="zh-C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type=0x746B6864</a:t>
            </a: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size=0x0000005C=92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3538117" y="2216222"/>
            <a:ext cx="1554579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三级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mdia</a:t>
            </a:r>
            <a:endParaRPr lang="en-US" altLang="zh-C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type=0x6D646961</a:t>
            </a:r>
          </a:p>
          <a:p>
            <a:r>
              <a:rPr lang="en-US" altLang="zh-CN" sz="1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size=0x00001ADA=6874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2056501" y="2216222"/>
            <a:ext cx="1311386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三级</a:t>
            </a:r>
            <a:r>
              <a:rPr lang="en-US" altLang="zh-CN" sz="1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edts</a:t>
            </a:r>
            <a:endParaRPr lang="en-US" altLang="zh-C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type=0x65647473</a:t>
            </a: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size=0x00000024=36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676874" y="3025454"/>
            <a:ext cx="1317810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四级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elst</a:t>
            </a:r>
            <a:endParaRPr lang="en-US" altLang="zh-CN" sz="1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type=0x656C7374</a:t>
            </a: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size=0x0000001C=28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2352868" y="3047219"/>
            <a:ext cx="1333832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四级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mdhd</a:t>
            </a:r>
            <a:endParaRPr lang="en-US" altLang="zh-CN" sz="1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type=0x6D646864</a:t>
            </a: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size=0x00000020=32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3772960" y="3039771"/>
            <a:ext cx="1402056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四级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hdlr</a:t>
            </a:r>
            <a:endParaRPr lang="en-US" altLang="zh-CN" sz="1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type=0x6D646C72</a:t>
            </a: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size=0x0000002D=45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5274402" y="3039771"/>
            <a:ext cx="1537293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四级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minf</a:t>
            </a:r>
            <a:endParaRPr lang="en-US" altLang="zh-CN" sz="1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type=0x6D696E66</a:t>
            </a:r>
          </a:p>
          <a:p>
            <a:r>
              <a:rPr lang="en-US" altLang="zh-CN" sz="1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size=0x00001A85=6789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1928847" y="3888498"/>
            <a:ext cx="1366285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五级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vmhd</a:t>
            </a:r>
            <a:endParaRPr lang="en-US" altLang="zh-CN" sz="1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type=0x766D6864</a:t>
            </a: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size=0x00000014=20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3705757" y="3887095"/>
            <a:ext cx="1322900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五级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dinf</a:t>
            </a:r>
            <a:endParaRPr lang="en-US" altLang="zh-CN" sz="1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type=0x64696E66</a:t>
            </a: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size=0x00000024=36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5789196" y="3927381"/>
            <a:ext cx="1553571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五级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stbl</a:t>
            </a:r>
            <a:endParaRPr lang="en-US" altLang="zh-CN" sz="1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type=0x7374626C</a:t>
            </a:r>
          </a:p>
          <a:p>
            <a:r>
              <a:rPr lang="en-US" altLang="zh-CN" sz="1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size=0x00001A45=6725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文本框 22"/>
          <p:cNvSpPr txBox="1"/>
          <p:nvPr/>
        </p:nvSpPr>
        <p:spPr>
          <a:xfrm>
            <a:off x="2174774" y="5469787"/>
            <a:ext cx="1380683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六级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dref</a:t>
            </a:r>
            <a:endParaRPr lang="en-US" altLang="zh-CN" sz="1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type=0x64726566</a:t>
            </a: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type=0x0000001C=28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2" name="直接箭头连接符 31"/>
          <p:cNvCxnSpPr>
            <a:stCxn id="4" idx="2"/>
            <a:endCxn id="5" idx="0"/>
          </p:cNvCxnSpPr>
          <p:nvPr/>
        </p:nvCxnSpPr>
        <p:spPr>
          <a:xfrm flipH="1">
            <a:off x="717733" y="285471"/>
            <a:ext cx="2101617" cy="2733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箭头连接符 33"/>
          <p:cNvCxnSpPr>
            <a:stCxn id="4" idx="2"/>
            <a:endCxn id="6" idx="0"/>
          </p:cNvCxnSpPr>
          <p:nvPr/>
        </p:nvCxnSpPr>
        <p:spPr>
          <a:xfrm flipH="1">
            <a:off x="2538638" y="285471"/>
            <a:ext cx="280712" cy="2711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箭头连接符 35"/>
          <p:cNvCxnSpPr>
            <a:stCxn id="4" idx="2"/>
            <a:endCxn id="7" idx="0"/>
          </p:cNvCxnSpPr>
          <p:nvPr/>
        </p:nvCxnSpPr>
        <p:spPr>
          <a:xfrm>
            <a:off x="2819350" y="285471"/>
            <a:ext cx="1507268" cy="2800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箭头连接符 48"/>
          <p:cNvCxnSpPr>
            <a:stCxn id="7" idx="2"/>
            <a:endCxn id="8" idx="0"/>
          </p:cNvCxnSpPr>
          <p:nvPr/>
        </p:nvCxnSpPr>
        <p:spPr>
          <a:xfrm flipH="1">
            <a:off x="1426094" y="1119520"/>
            <a:ext cx="2900524" cy="2358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接箭头连接符 50"/>
          <p:cNvCxnSpPr>
            <a:stCxn id="7" idx="2"/>
            <a:endCxn id="9" idx="0"/>
          </p:cNvCxnSpPr>
          <p:nvPr/>
        </p:nvCxnSpPr>
        <p:spPr>
          <a:xfrm flipH="1">
            <a:off x="3521024" y="1119520"/>
            <a:ext cx="805594" cy="2514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接箭头连接符 52"/>
          <p:cNvCxnSpPr>
            <a:stCxn id="7" idx="2"/>
            <a:endCxn id="10" idx="0"/>
          </p:cNvCxnSpPr>
          <p:nvPr/>
        </p:nvCxnSpPr>
        <p:spPr>
          <a:xfrm>
            <a:off x="4326618" y="1119520"/>
            <a:ext cx="947286" cy="2305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接箭头连接符 54"/>
          <p:cNvCxnSpPr>
            <a:stCxn id="7" idx="2"/>
            <a:endCxn id="11" idx="0"/>
          </p:cNvCxnSpPr>
          <p:nvPr/>
        </p:nvCxnSpPr>
        <p:spPr>
          <a:xfrm>
            <a:off x="4326618" y="1119520"/>
            <a:ext cx="3176153" cy="2332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直接箭头连接符 60"/>
          <p:cNvCxnSpPr>
            <a:stCxn id="11" idx="2"/>
            <a:endCxn id="12" idx="0"/>
          </p:cNvCxnSpPr>
          <p:nvPr/>
        </p:nvCxnSpPr>
        <p:spPr>
          <a:xfrm>
            <a:off x="7502771" y="1906779"/>
            <a:ext cx="5508" cy="3082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直接箭头连接符 79"/>
          <p:cNvCxnSpPr>
            <a:stCxn id="9" idx="2"/>
            <a:endCxn id="13" idx="0"/>
          </p:cNvCxnSpPr>
          <p:nvPr/>
        </p:nvCxnSpPr>
        <p:spPr>
          <a:xfrm flipH="1">
            <a:off x="1102753" y="1924982"/>
            <a:ext cx="2418271" cy="27323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直接箭头连接符 81"/>
          <p:cNvCxnSpPr>
            <a:stCxn id="9" idx="2"/>
            <a:endCxn id="15" idx="0"/>
          </p:cNvCxnSpPr>
          <p:nvPr/>
        </p:nvCxnSpPr>
        <p:spPr>
          <a:xfrm flipH="1">
            <a:off x="2712194" y="1924982"/>
            <a:ext cx="808830" cy="2912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直接箭头连接符 83"/>
          <p:cNvCxnSpPr>
            <a:stCxn id="9" idx="2"/>
            <a:endCxn id="14" idx="0"/>
          </p:cNvCxnSpPr>
          <p:nvPr/>
        </p:nvCxnSpPr>
        <p:spPr>
          <a:xfrm>
            <a:off x="3521024" y="1924982"/>
            <a:ext cx="794383" cy="2912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直接箭头连接符 85"/>
          <p:cNvCxnSpPr>
            <a:stCxn id="15" idx="2"/>
            <a:endCxn id="16" idx="0"/>
          </p:cNvCxnSpPr>
          <p:nvPr/>
        </p:nvCxnSpPr>
        <p:spPr>
          <a:xfrm flipH="1">
            <a:off x="1335779" y="2770220"/>
            <a:ext cx="1376415" cy="2552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直接箭头连接符 96"/>
          <p:cNvCxnSpPr>
            <a:stCxn id="14" idx="2"/>
            <a:endCxn id="17" idx="0"/>
          </p:cNvCxnSpPr>
          <p:nvPr/>
        </p:nvCxnSpPr>
        <p:spPr>
          <a:xfrm flipH="1">
            <a:off x="3019784" y="2770220"/>
            <a:ext cx="1295623" cy="2769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直接箭头连接符 98"/>
          <p:cNvCxnSpPr>
            <a:stCxn id="14" idx="2"/>
            <a:endCxn id="18" idx="0"/>
          </p:cNvCxnSpPr>
          <p:nvPr/>
        </p:nvCxnSpPr>
        <p:spPr>
          <a:xfrm>
            <a:off x="4315407" y="2770220"/>
            <a:ext cx="158581" cy="2695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直接箭头连接符 100"/>
          <p:cNvCxnSpPr>
            <a:stCxn id="14" idx="2"/>
            <a:endCxn id="19" idx="0"/>
          </p:cNvCxnSpPr>
          <p:nvPr/>
        </p:nvCxnSpPr>
        <p:spPr>
          <a:xfrm>
            <a:off x="4315407" y="2770220"/>
            <a:ext cx="1727642" cy="2695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直接箭头连接符 102"/>
          <p:cNvCxnSpPr>
            <a:stCxn id="19" idx="2"/>
            <a:endCxn id="20" idx="0"/>
          </p:cNvCxnSpPr>
          <p:nvPr/>
        </p:nvCxnSpPr>
        <p:spPr>
          <a:xfrm flipH="1">
            <a:off x="2611990" y="3593769"/>
            <a:ext cx="3431059" cy="2947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箭头连接符 104"/>
          <p:cNvCxnSpPr>
            <a:stCxn id="19" idx="2"/>
            <a:endCxn id="21" idx="0"/>
          </p:cNvCxnSpPr>
          <p:nvPr/>
        </p:nvCxnSpPr>
        <p:spPr>
          <a:xfrm flipH="1">
            <a:off x="4367207" y="3593769"/>
            <a:ext cx="1675842" cy="2933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接箭头连接符 107"/>
          <p:cNvCxnSpPr>
            <a:stCxn id="19" idx="2"/>
            <a:endCxn id="22" idx="0"/>
          </p:cNvCxnSpPr>
          <p:nvPr/>
        </p:nvCxnSpPr>
        <p:spPr>
          <a:xfrm>
            <a:off x="6043049" y="3593769"/>
            <a:ext cx="522933" cy="3336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22" name="组合 221"/>
          <p:cNvGrpSpPr/>
          <p:nvPr/>
        </p:nvGrpSpPr>
        <p:grpSpPr>
          <a:xfrm>
            <a:off x="3906540" y="4819255"/>
            <a:ext cx="4406880" cy="2006302"/>
            <a:chOff x="7789025" y="4677132"/>
            <a:chExt cx="4406880" cy="2006302"/>
          </a:xfrm>
        </p:grpSpPr>
        <p:sp>
          <p:nvSpPr>
            <p:cNvPr id="24" name="文本框 23"/>
            <p:cNvSpPr txBox="1"/>
            <p:nvPr/>
          </p:nvSpPr>
          <p:spPr>
            <a:xfrm>
              <a:off x="7867660" y="4773840"/>
              <a:ext cx="1421120" cy="553998"/>
            </a:xfrm>
            <a:prstGeom prst="rect">
              <a:avLst/>
            </a:prstGeom>
            <a:ln>
              <a:prstDash val="sysDot"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zh-CN" altLang="en-US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六级</a:t>
              </a:r>
              <a:r>
                <a:rPr lang="en-US" altLang="zh-CN" sz="10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stsd</a:t>
              </a:r>
              <a:endPara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1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type=0x73747364</a:t>
              </a:r>
            </a:p>
            <a:p>
              <a:r>
                <a:rPr lang="en-US" altLang="zh-CN" sz="1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size=0x000000A9=169</a:t>
              </a:r>
              <a:endPara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9367415" y="4750736"/>
              <a:ext cx="1300635" cy="553998"/>
            </a:xfrm>
            <a:prstGeom prst="rect">
              <a:avLst/>
            </a:prstGeom>
            <a:ln>
              <a:prstDash val="sysDot"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zh-CN" altLang="en-US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六级</a:t>
              </a:r>
              <a:r>
                <a:rPr lang="en-US" altLang="zh-CN" sz="10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stts</a:t>
              </a:r>
              <a:endPara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1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type=0x73747473</a:t>
              </a:r>
            </a:p>
            <a:p>
              <a:r>
                <a:rPr lang="en-US" altLang="zh-CN" sz="1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size=0x00000018=24</a:t>
              </a:r>
              <a:endPara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7867659" y="5375569"/>
              <a:ext cx="1457983" cy="553998"/>
            </a:xfrm>
            <a:prstGeom prst="rect">
              <a:avLst/>
            </a:prstGeom>
            <a:ln>
              <a:prstDash val="sysDot"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zh-CN" altLang="en-US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六级</a:t>
              </a:r>
              <a:r>
                <a:rPr lang="en-US" altLang="zh-CN" sz="10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ctts</a:t>
              </a:r>
              <a:endPara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1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type=0x63747473</a:t>
              </a:r>
            </a:p>
            <a:p>
              <a:r>
                <a:rPr lang="en-US" altLang="zh-CN" sz="1000">
                  <a:latin typeface="Times New Roman" panose="02020603050405020304" pitchFamily="18" charset="0"/>
                  <a:cs typeface="Times New Roman" panose="02020603050405020304" pitchFamily="18" charset="0"/>
                </a:rPr>
                <a:t>size=0x00000C88=3208</a:t>
              </a:r>
              <a:endPara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9367750" y="5365611"/>
              <a:ext cx="1299963" cy="553998"/>
            </a:xfrm>
            <a:prstGeom prst="rect">
              <a:avLst/>
            </a:prstGeom>
            <a:ln>
              <a:prstDash val="sysDot"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zh-CN" altLang="en-US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六级</a:t>
              </a:r>
              <a:r>
                <a:rPr lang="en-US" altLang="zh-CN" sz="10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stsc</a:t>
              </a:r>
              <a:endPara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1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type=0x73747363</a:t>
              </a:r>
            </a:p>
            <a:p>
              <a:r>
                <a:rPr lang="en-US" altLang="zh-CN" sz="1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size=0x00000028=40</a:t>
              </a:r>
              <a:endPara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10694180" y="4737971"/>
              <a:ext cx="1361485" cy="553998"/>
            </a:xfrm>
            <a:prstGeom prst="rect">
              <a:avLst/>
            </a:prstGeom>
            <a:ln>
              <a:prstDash val="sysDot"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zh-CN" altLang="en-US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六级</a:t>
              </a:r>
              <a:r>
                <a:rPr lang="en-US" altLang="zh-CN" sz="10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stss</a:t>
              </a:r>
              <a:endPara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1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type=0x73747373</a:t>
              </a:r>
            </a:p>
            <a:p>
              <a:r>
                <a:rPr lang="en-US" altLang="zh-CN" sz="100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size=0x0000001C=28</a:t>
              </a:r>
              <a:endPara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10694181" y="5365611"/>
              <a:ext cx="1442946" cy="553998"/>
            </a:xfrm>
            <a:prstGeom prst="rect">
              <a:avLst/>
            </a:prstGeom>
            <a:ln>
              <a:prstDash val="sysDot"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zh-CN" altLang="en-US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六级</a:t>
              </a:r>
              <a:r>
                <a:rPr lang="en-US" altLang="zh-CN" sz="10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stsz</a:t>
              </a:r>
              <a:endPara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1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type=0x7374737A</a:t>
              </a:r>
            </a:p>
            <a:p>
              <a:r>
                <a:rPr lang="en-US" altLang="zh-CN" sz="100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size=0x0000065C=1628</a:t>
              </a:r>
              <a:endPara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0" name="文本框 29"/>
            <p:cNvSpPr txBox="1"/>
            <p:nvPr/>
          </p:nvSpPr>
          <p:spPr>
            <a:xfrm>
              <a:off x="9243134" y="6047111"/>
              <a:ext cx="1465651" cy="553998"/>
            </a:xfrm>
            <a:prstGeom prst="rect">
              <a:avLst/>
            </a:prstGeom>
            <a:ln>
              <a:prstDash val="sysDot"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zh-CN" altLang="en-US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六级</a:t>
              </a:r>
              <a:r>
                <a:rPr lang="en-US" altLang="zh-CN" sz="10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stco</a:t>
              </a:r>
              <a:endPara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1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type=0x7374636F</a:t>
              </a:r>
            </a:p>
            <a:p>
              <a:r>
                <a:rPr lang="en-US" altLang="zh-CN" sz="100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size=0x00000654=1620</a:t>
              </a:r>
              <a:endPara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5" name="矩形 114"/>
            <p:cNvSpPr/>
            <p:nvPr/>
          </p:nvSpPr>
          <p:spPr>
            <a:xfrm>
              <a:off x="7789025" y="4677132"/>
              <a:ext cx="4406880" cy="2006302"/>
            </a:xfrm>
            <a:prstGeom prst="rect">
              <a:avLst/>
            </a:prstGeom>
            <a:noFill/>
            <a:ln>
              <a:solidFill>
                <a:srgbClr val="0070C0"/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117" name="直接箭头连接符 116"/>
          <p:cNvCxnSpPr>
            <a:stCxn id="22" idx="2"/>
            <a:endCxn id="115" idx="0"/>
          </p:cNvCxnSpPr>
          <p:nvPr/>
        </p:nvCxnSpPr>
        <p:spPr>
          <a:xfrm flipH="1">
            <a:off x="6109980" y="4481379"/>
            <a:ext cx="456002" cy="3378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直接箭头连接符 201"/>
          <p:cNvCxnSpPr>
            <a:stCxn id="21" idx="2"/>
            <a:endCxn id="23" idx="0"/>
          </p:cNvCxnSpPr>
          <p:nvPr/>
        </p:nvCxnSpPr>
        <p:spPr>
          <a:xfrm flipH="1">
            <a:off x="2865116" y="4441093"/>
            <a:ext cx="1502091" cy="10286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本框 69"/>
          <p:cNvSpPr txBox="1"/>
          <p:nvPr/>
        </p:nvSpPr>
        <p:spPr>
          <a:xfrm>
            <a:off x="5289001" y="2209084"/>
            <a:ext cx="876844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这里省略对音频</a:t>
            </a:r>
            <a:r>
              <a:rPr lang="en-US" altLang="zh-CN" sz="1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trak</a:t>
            </a:r>
            <a:r>
              <a:rPr lang="zh-CN" altLang="en-US" sz="1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的继续分析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6" name="直接箭头连接符 55"/>
          <p:cNvCxnSpPr>
            <a:stCxn id="10" idx="2"/>
            <a:endCxn id="70" idx="0"/>
          </p:cNvCxnSpPr>
          <p:nvPr/>
        </p:nvCxnSpPr>
        <p:spPr>
          <a:xfrm>
            <a:off x="5273904" y="1904029"/>
            <a:ext cx="453519" cy="3050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65060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2677886" y="1159375"/>
            <a:ext cx="461865" cy="34777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TS</a:t>
            </a:r>
            <a:r>
              <a:rPr lang="zh-CN" altLang="en-US" sz="10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包</a:t>
            </a:r>
            <a:endParaRPr lang="zh-CN" altLang="en-US" sz="10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2677886" y="1779601"/>
            <a:ext cx="1878022" cy="36135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RTP Body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996751" y="2408992"/>
            <a:ext cx="2559157" cy="3503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UDP Body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1996751" y="1779600"/>
            <a:ext cx="681135" cy="36135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RTP Header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1315616" y="2408992"/>
            <a:ext cx="681135" cy="3503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UDP Header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下箭头 8"/>
          <p:cNvSpPr/>
          <p:nvPr/>
        </p:nvSpPr>
        <p:spPr>
          <a:xfrm>
            <a:off x="3313524" y="1518905"/>
            <a:ext cx="289248" cy="268041"/>
          </a:xfrm>
          <a:prstGeom prst="down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下箭头 9"/>
          <p:cNvSpPr/>
          <p:nvPr/>
        </p:nvSpPr>
        <p:spPr>
          <a:xfrm>
            <a:off x="3269138" y="2132626"/>
            <a:ext cx="289248" cy="254467"/>
          </a:xfrm>
          <a:prstGeom prst="down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/>
          <p:cNvSpPr/>
          <p:nvPr/>
        </p:nvSpPr>
        <p:spPr>
          <a:xfrm>
            <a:off x="1996751" y="3878987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2239347" y="3878987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2481943" y="3878986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2724539" y="3878986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2967135" y="3878985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3209731" y="3878985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3452327" y="3878984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矩形 17"/>
          <p:cNvSpPr/>
          <p:nvPr/>
        </p:nvSpPr>
        <p:spPr>
          <a:xfrm>
            <a:off x="3694923" y="3878983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3966868" y="3878987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矩形 19"/>
          <p:cNvSpPr/>
          <p:nvPr/>
        </p:nvSpPr>
        <p:spPr>
          <a:xfrm>
            <a:off x="4209464" y="3878987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矩形 20"/>
          <p:cNvSpPr/>
          <p:nvPr/>
        </p:nvSpPr>
        <p:spPr>
          <a:xfrm>
            <a:off x="4452060" y="3878986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矩形 21"/>
          <p:cNvSpPr/>
          <p:nvPr/>
        </p:nvSpPr>
        <p:spPr>
          <a:xfrm>
            <a:off x="4694656" y="3878986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4937252" y="3878985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5179848" y="3878985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矩形 24"/>
          <p:cNvSpPr/>
          <p:nvPr/>
        </p:nvSpPr>
        <p:spPr>
          <a:xfrm>
            <a:off x="5422444" y="3878984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矩形 25"/>
          <p:cNvSpPr/>
          <p:nvPr/>
        </p:nvSpPr>
        <p:spPr>
          <a:xfrm>
            <a:off x="5665040" y="3878983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5936985" y="3878985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6179581" y="3878985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6422177" y="3878984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664773" y="3878984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6907369" y="3878983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7149965" y="3878983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7392561" y="3878982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矩形 33"/>
          <p:cNvSpPr/>
          <p:nvPr/>
        </p:nvSpPr>
        <p:spPr>
          <a:xfrm>
            <a:off x="7635157" y="3878981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7907102" y="3878985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8149698" y="3878985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矩形 36"/>
          <p:cNvSpPr/>
          <p:nvPr/>
        </p:nvSpPr>
        <p:spPr>
          <a:xfrm>
            <a:off x="8392294" y="3878984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矩形 37"/>
          <p:cNvSpPr/>
          <p:nvPr/>
        </p:nvSpPr>
        <p:spPr>
          <a:xfrm>
            <a:off x="8634890" y="3878984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矩形 38"/>
          <p:cNvSpPr/>
          <p:nvPr/>
        </p:nvSpPr>
        <p:spPr>
          <a:xfrm>
            <a:off x="8877486" y="3878983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矩形 39"/>
          <p:cNvSpPr/>
          <p:nvPr/>
        </p:nvSpPr>
        <p:spPr>
          <a:xfrm>
            <a:off x="9120082" y="3878983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矩形 40"/>
          <p:cNvSpPr/>
          <p:nvPr/>
        </p:nvSpPr>
        <p:spPr>
          <a:xfrm>
            <a:off x="9362678" y="3878982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9605274" y="3878981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1903615" y="3507971"/>
            <a:ext cx="7148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00" smtClean="0"/>
              <a:t>低地址</a:t>
            </a:r>
            <a:endParaRPr lang="zh-CN" altLang="en-US" sz="1100"/>
          </a:p>
        </p:txBody>
      </p:sp>
      <p:sp>
        <p:nvSpPr>
          <p:cNvPr id="43" name="文本框 42"/>
          <p:cNvSpPr txBox="1"/>
          <p:nvPr/>
        </p:nvSpPr>
        <p:spPr>
          <a:xfrm>
            <a:off x="4048469" y="4795669"/>
            <a:ext cx="61785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00" smtClean="0"/>
              <a:t>高地址</a:t>
            </a:r>
            <a:endParaRPr lang="zh-CN" altLang="en-US" sz="1100"/>
          </a:p>
        </p:txBody>
      </p:sp>
      <p:sp>
        <p:nvSpPr>
          <p:cNvPr id="3" name="右箭头 2"/>
          <p:cNvSpPr/>
          <p:nvPr/>
        </p:nvSpPr>
        <p:spPr>
          <a:xfrm>
            <a:off x="2481942" y="3587366"/>
            <a:ext cx="6759437" cy="173038"/>
          </a:xfrm>
          <a:prstGeom prst="rightArrow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左大括号 43"/>
          <p:cNvSpPr/>
          <p:nvPr/>
        </p:nvSpPr>
        <p:spPr>
          <a:xfrm rot="16200000">
            <a:off x="2720807" y="3614000"/>
            <a:ext cx="242596" cy="1448111"/>
          </a:xfrm>
          <a:prstGeom prst="leftBrace">
            <a:avLst>
              <a:gd name="adj1" fmla="val 36602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文本框 44"/>
          <p:cNvSpPr txBox="1"/>
          <p:nvPr/>
        </p:nvSpPr>
        <p:spPr>
          <a:xfrm>
            <a:off x="2638769" y="4457656"/>
            <a:ext cx="4066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smtClean="0"/>
              <a:t>s.a</a:t>
            </a:r>
            <a:endParaRPr lang="zh-CN" altLang="en-US" sz="1100"/>
          </a:p>
        </p:txBody>
      </p:sp>
      <p:sp>
        <p:nvSpPr>
          <p:cNvPr id="46" name="左大括号 45"/>
          <p:cNvSpPr/>
          <p:nvPr/>
        </p:nvSpPr>
        <p:spPr>
          <a:xfrm rot="16200000">
            <a:off x="7028667" y="3240961"/>
            <a:ext cx="242596" cy="2194179"/>
          </a:xfrm>
          <a:prstGeom prst="leftBrace">
            <a:avLst>
              <a:gd name="adj1" fmla="val 36602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/>
          <p:cNvSpPr txBox="1"/>
          <p:nvPr/>
        </p:nvSpPr>
        <p:spPr>
          <a:xfrm>
            <a:off x="6985890" y="4457656"/>
            <a:ext cx="4066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smtClean="0"/>
              <a:t>s.b</a:t>
            </a:r>
            <a:endParaRPr lang="zh-CN" altLang="en-US" sz="1100"/>
          </a:p>
        </p:txBody>
      </p:sp>
      <p:sp>
        <p:nvSpPr>
          <p:cNvPr id="48" name="矩形 47"/>
          <p:cNvSpPr/>
          <p:nvPr/>
        </p:nvSpPr>
        <p:spPr>
          <a:xfrm>
            <a:off x="1926771" y="5074919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2169367" y="5074919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2411963" y="5074918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" name="矩形 50"/>
          <p:cNvSpPr/>
          <p:nvPr/>
        </p:nvSpPr>
        <p:spPr>
          <a:xfrm>
            <a:off x="2654559" y="5074918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2897155" y="5074917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" name="矩形 52"/>
          <p:cNvSpPr/>
          <p:nvPr/>
        </p:nvSpPr>
        <p:spPr>
          <a:xfrm>
            <a:off x="3139751" y="5074917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4" name="矩形 53"/>
          <p:cNvSpPr/>
          <p:nvPr/>
        </p:nvSpPr>
        <p:spPr>
          <a:xfrm>
            <a:off x="3382347" y="5074916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5" name="矩形 54"/>
          <p:cNvSpPr/>
          <p:nvPr/>
        </p:nvSpPr>
        <p:spPr>
          <a:xfrm>
            <a:off x="3624943" y="5074915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6" name="文本框 55"/>
          <p:cNvSpPr txBox="1"/>
          <p:nvPr/>
        </p:nvSpPr>
        <p:spPr>
          <a:xfrm>
            <a:off x="1340292" y="4810624"/>
            <a:ext cx="7148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00" smtClean="0"/>
              <a:t>低地址</a:t>
            </a:r>
            <a:endParaRPr lang="zh-CN" altLang="en-US" sz="1100"/>
          </a:p>
        </p:txBody>
      </p:sp>
      <p:sp>
        <p:nvSpPr>
          <p:cNvPr id="57" name="左大括号 56"/>
          <p:cNvSpPr/>
          <p:nvPr/>
        </p:nvSpPr>
        <p:spPr>
          <a:xfrm rot="16200000">
            <a:off x="3548120" y="5342002"/>
            <a:ext cx="153646" cy="304491"/>
          </a:xfrm>
          <a:prstGeom prst="leftBrace">
            <a:avLst>
              <a:gd name="adj1" fmla="val 36602"/>
              <a:gd name="adj2" fmla="val 47497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文本框 57"/>
          <p:cNvSpPr txBox="1"/>
          <p:nvPr/>
        </p:nvSpPr>
        <p:spPr>
          <a:xfrm>
            <a:off x="2197081" y="5571072"/>
            <a:ext cx="3357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cc</a:t>
            </a:r>
            <a:endParaRPr lang="zh-CN" altLang="en-US" sz="11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9" name="右箭头 58"/>
          <p:cNvSpPr/>
          <p:nvPr/>
        </p:nvSpPr>
        <p:spPr>
          <a:xfrm>
            <a:off x="1858564" y="4841312"/>
            <a:ext cx="2238471" cy="194156"/>
          </a:xfrm>
          <a:prstGeom prst="rightArrow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文本框 59"/>
          <p:cNvSpPr txBox="1"/>
          <p:nvPr/>
        </p:nvSpPr>
        <p:spPr>
          <a:xfrm>
            <a:off x="2882624" y="5564302"/>
            <a:ext cx="25821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endParaRPr lang="zh-CN" altLang="en-US" sz="11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1" name="文本框 60"/>
          <p:cNvSpPr txBox="1"/>
          <p:nvPr/>
        </p:nvSpPr>
        <p:spPr>
          <a:xfrm>
            <a:off x="3124277" y="5556682"/>
            <a:ext cx="28916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endParaRPr lang="zh-CN" altLang="en-US" sz="11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" name="左大括号 61"/>
          <p:cNvSpPr/>
          <p:nvPr/>
        </p:nvSpPr>
        <p:spPr>
          <a:xfrm rot="16200000">
            <a:off x="2300698" y="5113480"/>
            <a:ext cx="153644" cy="761537"/>
          </a:xfrm>
          <a:prstGeom prst="leftBrace">
            <a:avLst>
              <a:gd name="adj1" fmla="val 36602"/>
              <a:gd name="adj2" fmla="val 47497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文本框 62"/>
          <p:cNvSpPr txBox="1"/>
          <p:nvPr/>
        </p:nvSpPr>
        <p:spPr>
          <a:xfrm>
            <a:off x="3488024" y="5571072"/>
            <a:ext cx="28916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endParaRPr lang="zh-CN" altLang="en-US" sz="11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5" name="直接箭头连接符 64"/>
          <p:cNvCxnSpPr/>
          <p:nvPr/>
        </p:nvCxnSpPr>
        <p:spPr>
          <a:xfrm>
            <a:off x="3018453" y="5338722"/>
            <a:ext cx="0" cy="2323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接箭头连接符 66"/>
          <p:cNvCxnSpPr/>
          <p:nvPr/>
        </p:nvCxnSpPr>
        <p:spPr>
          <a:xfrm>
            <a:off x="3263226" y="5338722"/>
            <a:ext cx="0" cy="2323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3" name="文本框 72"/>
          <p:cNvSpPr txBox="1"/>
          <p:nvPr/>
        </p:nvSpPr>
        <p:spPr>
          <a:xfrm>
            <a:off x="8056559" y="4945722"/>
            <a:ext cx="61785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00" smtClean="0"/>
              <a:t>高地址</a:t>
            </a:r>
            <a:endParaRPr lang="zh-CN" altLang="en-US" sz="1100"/>
          </a:p>
        </p:txBody>
      </p:sp>
      <p:sp>
        <p:nvSpPr>
          <p:cNvPr id="74" name="矩形 73"/>
          <p:cNvSpPr/>
          <p:nvPr/>
        </p:nvSpPr>
        <p:spPr>
          <a:xfrm>
            <a:off x="5934861" y="5224972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" name="矩形 74"/>
          <p:cNvSpPr/>
          <p:nvPr/>
        </p:nvSpPr>
        <p:spPr>
          <a:xfrm>
            <a:off x="6177457" y="5224972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6" name="矩形 75"/>
          <p:cNvSpPr/>
          <p:nvPr/>
        </p:nvSpPr>
        <p:spPr>
          <a:xfrm>
            <a:off x="6420053" y="5224971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7" name="矩形 76"/>
          <p:cNvSpPr/>
          <p:nvPr/>
        </p:nvSpPr>
        <p:spPr>
          <a:xfrm>
            <a:off x="6662649" y="5224971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8" name="矩形 77"/>
          <p:cNvSpPr/>
          <p:nvPr/>
        </p:nvSpPr>
        <p:spPr>
          <a:xfrm>
            <a:off x="6905245" y="5224970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9" name="矩形 78"/>
          <p:cNvSpPr/>
          <p:nvPr/>
        </p:nvSpPr>
        <p:spPr>
          <a:xfrm>
            <a:off x="7147841" y="5224970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0" name="矩形 79"/>
          <p:cNvSpPr/>
          <p:nvPr/>
        </p:nvSpPr>
        <p:spPr>
          <a:xfrm>
            <a:off x="7390437" y="5224969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矩形 80"/>
          <p:cNvSpPr/>
          <p:nvPr/>
        </p:nvSpPr>
        <p:spPr>
          <a:xfrm>
            <a:off x="7633033" y="5224968"/>
            <a:ext cx="242596" cy="2638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11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2" name="文本框 81"/>
          <p:cNvSpPr txBox="1"/>
          <p:nvPr/>
        </p:nvSpPr>
        <p:spPr>
          <a:xfrm>
            <a:off x="5348382" y="4960677"/>
            <a:ext cx="7148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00" smtClean="0"/>
              <a:t>低地址</a:t>
            </a:r>
            <a:endParaRPr lang="zh-CN" altLang="en-US" sz="1100"/>
          </a:p>
        </p:txBody>
      </p:sp>
      <p:sp>
        <p:nvSpPr>
          <p:cNvPr id="85" name="右箭头 84"/>
          <p:cNvSpPr/>
          <p:nvPr/>
        </p:nvSpPr>
        <p:spPr>
          <a:xfrm>
            <a:off x="5866654" y="4991365"/>
            <a:ext cx="2238471" cy="194156"/>
          </a:xfrm>
          <a:prstGeom prst="rightArrow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" name="矩形 82"/>
          <p:cNvSpPr/>
          <p:nvPr/>
        </p:nvSpPr>
        <p:spPr>
          <a:xfrm>
            <a:off x="3139752" y="1159376"/>
            <a:ext cx="485192" cy="34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TS</a:t>
            </a:r>
            <a:r>
              <a:rPr lang="zh-CN" altLang="en-US" sz="10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包</a:t>
            </a:r>
            <a:endParaRPr lang="zh-CN" altLang="en-US" sz="10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4" name="矩形 83"/>
          <p:cNvSpPr/>
          <p:nvPr/>
        </p:nvSpPr>
        <p:spPr>
          <a:xfrm>
            <a:off x="3625462" y="1159376"/>
            <a:ext cx="465223" cy="34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TS</a:t>
            </a:r>
            <a:r>
              <a:rPr lang="zh-CN" altLang="en-US" sz="10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包</a:t>
            </a:r>
            <a:endParaRPr lang="zh-CN" altLang="en-US" sz="10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6" name="矩形 85"/>
          <p:cNvSpPr/>
          <p:nvPr/>
        </p:nvSpPr>
        <p:spPr>
          <a:xfrm>
            <a:off x="4090685" y="1159376"/>
            <a:ext cx="465223" cy="34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TS</a:t>
            </a:r>
            <a:r>
              <a:rPr lang="zh-CN" altLang="en-US" sz="10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包</a:t>
            </a:r>
            <a:endParaRPr lang="zh-CN" altLang="en-US" sz="10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96198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2587549"/>
              </p:ext>
            </p:extLst>
          </p:nvPr>
        </p:nvGraphicFramePr>
        <p:xfrm>
          <a:off x="1239520" y="727286"/>
          <a:ext cx="4033520" cy="16882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8380">
                  <a:extLst>
                    <a:ext uri="{9D8B030D-6E8A-4147-A177-3AD203B41FA5}">
                      <a16:colId xmlns:a16="http://schemas.microsoft.com/office/drawing/2014/main" val="999857592"/>
                    </a:ext>
                  </a:extLst>
                </a:gridCol>
                <a:gridCol w="1008380">
                  <a:extLst>
                    <a:ext uri="{9D8B030D-6E8A-4147-A177-3AD203B41FA5}">
                      <a16:colId xmlns:a16="http://schemas.microsoft.com/office/drawing/2014/main" val="3231713072"/>
                    </a:ext>
                  </a:extLst>
                </a:gridCol>
                <a:gridCol w="1008380">
                  <a:extLst>
                    <a:ext uri="{9D8B030D-6E8A-4147-A177-3AD203B41FA5}">
                      <a16:colId xmlns:a16="http://schemas.microsoft.com/office/drawing/2014/main" val="1263934671"/>
                    </a:ext>
                  </a:extLst>
                </a:gridCol>
                <a:gridCol w="1008380">
                  <a:extLst>
                    <a:ext uri="{9D8B030D-6E8A-4147-A177-3AD203B41FA5}">
                      <a16:colId xmlns:a16="http://schemas.microsoft.com/office/drawing/2014/main" val="1782657733"/>
                    </a:ext>
                  </a:extLst>
                </a:gridCol>
              </a:tblGrid>
              <a:tr h="33765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1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2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3</a:t>
                      </a:r>
                      <a:endParaRPr lang="zh-CN" alt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3739247"/>
                  </a:ext>
                </a:extLst>
              </a:tr>
              <a:tr h="33765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0x78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0x56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0x34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0x12</a:t>
                      </a:r>
                      <a:endParaRPr lang="zh-CN" alt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9255484"/>
                  </a:ext>
                </a:extLst>
              </a:tr>
              <a:tr h="33765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0001 1110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0110 1010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0010 1100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0100 1000</a:t>
                      </a:r>
                      <a:endParaRPr lang="zh-CN" alt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9875786"/>
                  </a:ext>
                </a:extLst>
              </a:tr>
              <a:tr h="33765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0x12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0x34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0x56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0x78</a:t>
                      </a:r>
                      <a:endParaRPr lang="zh-CN" alt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314956"/>
                  </a:ext>
                </a:extLst>
              </a:tr>
              <a:tr h="337651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0100 1000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0010 1100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0110 1010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0001 1110</a:t>
                      </a:r>
                      <a:endParaRPr lang="zh-CN" altLang="en-US" sz="1200" smtClean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0113822"/>
                  </a:ext>
                </a:extLst>
              </a:tr>
            </a:tbl>
          </a:graphicData>
        </a:graphic>
      </p:graphicFrame>
      <p:sp>
        <p:nvSpPr>
          <p:cNvPr id="5" name="文本框 4"/>
          <p:cNvSpPr txBox="1"/>
          <p:nvPr/>
        </p:nvSpPr>
        <p:spPr>
          <a:xfrm>
            <a:off x="1239520" y="57872"/>
            <a:ext cx="40335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smtClean="0"/>
              <a:t>发送方：小端字节序</a:t>
            </a:r>
            <a:r>
              <a:rPr lang="en-US" altLang="zh-CN" sz="1200" smtClean="0"/>
              <a:t>/</a:t>
            </a:r>
            <a:r>
              <a:rPr lang="zh-CN" altLang="en-US" sz="1200" smtClean="0"/>
              <a:t>比特序，发送</a:t>
            </a:r>
            <a:r>
              <a:rPr lang="en-US" altLang="zh-CN" sz="1200" smtClean="0"/>
              <a:t>int</a:t>
            </a:r>
            <a:r>
              <a:rPr lang="zh-CN" altLang="en-US" sz="1200" smtClean="0"/>
              <a:t>型整数</a:t>
            </a:r>
            <a:r>
              <a:rPr lang="en-US" altLang="zh-CN" sz="1200" smtClean="0"/>
              <a:t>305419896</a:t>
            </a:r>
            <a:endParaRPr lang="en-US" altLang="zh-CN" sz="1200"/>
          </a:p>
          <a:p>
            <a:r>
              <a:rPr lang="en-US" altLang="zh-CN" sz="1200" smtClean="0"/>
              <a:t>305419896=0x12345678</a:t>
            </a:r>
          </a:p>
          <a:p>
            <a:r>
              <a:rPr lang="en-US" altLang="zh-CN" sz="1200" smtClean="0"/>
              <a:t>    =0001 0010 0011 0100 0101 0110 0111 1000</a:t>
            </a:r>
            <a:r>
              <a:rPr lang="zh-CN" altLang="en-US" sz="1200" smtClean="0"/>
              <a:t>（二进制）</a:t>
            </a:r>
            <a:endParaRPr lang="zh-CN" altLang="en-US" sz="1200"/>
          </a:p>
        </p:txBody>
      </p:sp>
      <p:sp>
        <p:nvSpPr>
          <p:cNvPr id="7" name="文本框 6"/>
          <p:cNvSpPr txBox="1"/>
          <p:nvPr/>
        </p:nvSpPr>
        <p:spPr>
          <a:xfrm>
            <a:off x="426720" y="727286"/>
            <a:ext cx="8128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zh-CN" altLang="en-US" sz="1200" smtClean="0"/>
              <a:t>内存地址</a:t>
            </a:r>
            <a:endParaRPr lang="zh-CN" altLang="en-US" sz="1200"/>
          </a:p>
        </p:txBody>
      </p:sp>
      <p:sp>
        <p:nvSpPr>
          <p:cNvPr id="8" name="文本框 7"/>
          <p:cNvSpPr txBox="1"/>
          <p:nvPr/>
        </p:nvSpPr>
        <p:spPr>
          <a:xfrm>
            <a:off x="609600" y="1050451"/>
            <a:ext cx="6299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smtClean="0"/>
              <a:t>hex</a:t>
            </a:r>
            <a:endParaRPr lang="zh-CN" altLang="en-US" sz="1200"/>
          </a:p>
        </p:txBody>
      </p:sp>
      <p:sp>
        <p:nvSpPr>
          <p:cNvPr id="9" name="文本框 8"/>
          <p:cNvSpPr txBox="1"/>
          <p:nvPr/>
        </p:nvSpPr>
        <p:spPr>
          <a:xfrm>
            <a:off x="609600" y="1432913"/>
            <a:ext cx="6299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smtClean="0"/>
              <a:t>bit</a:t>
            </a:r>
            <a:endParaRPr lang="zh-CN" altLang="en-US" sz="1200"/>
          </a:p>
        </p:txBody>
      </p:sp>
      <p:sp>
        <p:nvSpPr>
          <p:cNvPr id="10" name="文本框 9"/>
          <p:cNvSpPr txBox="1"/>
          <p:nvPr/>
        </p:nvSpPr>
        <p:spPr>
          <a:xfrm>
            <a:off x="144780" y="1776907"/>
            <a:ext cx="10947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1200" smtClean="0"/>
              <a:t>htonl</a:t>
            </a:r>
            <a:r>
              <a:rPr lang="zh-CN" altLang="en-US" sz="1200" smtClean="0"/>
              <a:t>后的</a:t>
            </a:r>
            <a:r>
              <a:rPr lang="en-US" altLang="zh-CN" sz="1200" smtClean="0"/>
              <a:t>hex</a:t>
            </a:r>
            <a:endParaRPr lang="zh-CN" altLang="en-US" sz="1200"/>
          </a:p>
        </p:txBody>
      </p:sp>
      <p:sp>
        <p:nvSpPr>
          <p:cNvPr id="11" name="文本框 10"/>
          <p:cNvSpPr txBox="1"/>
          <p:nvPr/>
        </p:nvSpPr>
        <p:spPr>
          <a:xfrm>
            <a:off x="198120" y="2096224"/>
            <a:ext cx="10414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smtClean="0"/>
              <a:t>htonl</a:t>
            </a:r>
            <a:r>
              <a:rPr lang="zh-CN" altLang="en-US" sz="1200" smtClean="0"/>
              <a:t>后的</a:t>
            </a:r>
            <a:r>
              <a:rPr lang="en-US" altLang="zh-CN" sz="1200" smtClean="0"/>
              <a:t>bit</a:t>
            </a:r>
            <a:endParaRPr lang="zh-CN" altLang="en-US" sz="1200"/>
          </a:p>
        </p:txBody>
      </p:sp>
      <p:sp>
        <p:nvSpPr>
          <p:cNvPr id="12" name="下箭头 11"/>
          <p:cNvSpPr/>
          <p:nvPr/>
        </p:nvSpPr>
        <p:spPr>
          <a:xfrm>
            <a:off x="3009900" y="2415541"/>
            <a:ext cx="236220" cy="701039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13" name="表格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9088428"/>
              </p:ext>
            </p:extLst>
          </p:nvPr>
        </p:nvGraphicFramePr>
        <p:xfrm>
          <a:off x="1170940" y="3116580"/>
          <a:ext cx="4033520" cy="101295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8380">
                  <a:extLst>
                    <a:ext uri="{9D8B030D-6E8A-4147-A177-3AD203B41FA5}">
                      <a16:colId xmlns:a16="http://schemas.microsoft.com/office/drawing/2014/main" val="999857592"/>
                    </a:ext>
                  </a:extLst>
                </a:gridCol>
                <a:gridCol w="1008380">
                  <a:extLst>
                    <a:ext uri="{9D8B030D-6E8A-4147-A177-3AD203B41FA5}">
                      <a16:colId xmlns:a16="http://schemas.microsoft.com/office/drawing/2014/main" val="3231713072"/>
                    </a:ext>
                  </a:extLst>
                </a:gridCol>
                <a:gridCol w="1008380">
                  <a:extLst>
                    <a:ext uri="{9D8B030D-6E8A-4147-A177-3AD203B41FA5}">
                      <a16:colId xmlns:a16="http://schemas.microsoft.com/office/drawing/2014/main" val="1263934671"/>
                    </a:ext>
                  </a:extLst>
                </a:gridCol>
                <a:gridCol w="1008380">
                  <a:extLst>
                    <a:ext uri="{9D8B030D-6E8A-4147-A177-3AD203B41FA5}">
                      <a16:colId xmlns:a16="http://schemas.microsoft.com/office/drawing/2014/main" val="1782657733"/>
                    </a:ext>
                  </a:extLst>
                </a:gridCol>
              </a:tblGrid>
              <a:tr h="33765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1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2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3</a:t>
                      </a:r>
                      <a:endParaRPr lang="zh-CN" alt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3739247"/>
                  </a:ext>
                </a:extLst>
              </a:tr>
              <a:tr h="33765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0x12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0x34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0x56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0x78</a:t>
                      </a:r>
                      <a:endParaRPr lang="zh-CN" alt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9255484"/>
                  </a:ext>
                </a:extLst>
              </a:tr>
              <a:tr h="337651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0100 1000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0010 1100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0110 1010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0001 1110</a:t>
                      </a:r>
                      <a:endParaRPr lang="zh-CN" altLang="en-US" sz="1200" smtClean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9875786"/>
                  </a:ext>
                </a:extLst>
              </a:tr>
            </a:tbl>
          </a:graphicData>
        </a:graphic>
      </p:graphicFrame>
      <p:sp>
        <p:nvSpPr>
          <p:cNvPr id="14" name="文本框 13"/>
          <p:cNvSpPr txBox="1"/>
          <p:nvPr/>
        </p:nvSpPr>
        <p:spPr>
          <a:xfrm>
            <a:off x="438150" y="3772624"/>
            <a:ext cx="7327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smtClean="0"/>
              <a:t>发送</a:t>
            </a:r>
            <a:r>
              <a:rPr lang="en-US" altLang="zh-CN" sz="1200" smtClean="0"/>
              <a:t>bit</a:t>
            </a:r>
            <a:endParaRPr lang="zh-CN" altLang="en-US" sz="1200"/>
          </a:p>
        </p:txBody>
      </p:sp>
      <p:sp>
        <p:nvSpPr>
          <p:cNvPr id="15" name="下箭头 14"/>
          <p:cNvSpPr/>
          <p:nvPr/>
        </p:nvSpPr>
        <p:spPr>
          <a:xfrm rot="10800000">
            <a:off x="8328660" y="2391466"/>
            <a:ext cx="236220" cy="701039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16" name="表格 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9088428"/>
              </p:ext>
            </p:extLst>
          </p:nvPr>
        </p:nvGraphicFramePr>
        <p:xfrm>
          <a:off x="6489700" y="3092505"/>
          <a:ext cx="4033520" cy="101295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8380">
                  <a:extLst>
                    <a:ext uri="{9D8B030D-6E8A-4147-A177-3AD203B41FA5}">
                      <a16:colId xmlns:a16="http://schemas.microsoft.com/office/drawing/2014/main" val="999857592"/>
                    </a:ext>
                  </a:extLst>
                </a:gridCol>
                <a:gridCol w="1008380">
                  <a:extLst>
                    <a:ext uri="{9D8B030D-6E8A-4147-A177-3AD203B41FA5}">
                      <a16:colId xmlns:a16="http://schemas.microsoft.com/office/drawing/2014/main" val="3231713072"/>
                    </a:ext>
                  </a:extLst>
                </a:gridCol>
                <a:gridCol w="1008380">
                  <a:extLst>
                    <a:ext uri="{9D8B030D-6E8A-4147-A177-3AD203B41FA5}">
                      <a16:colId xmlns:a16="http://schemas.microsoft.com/office/drawing/2014/main" val="1263934671"/>
                    </a:ext>
                  </a:extLst>
                </a:gridCol>
                <a:gridCol w="1008380">
                  <a:extLst>
                    <a:ext uri="{9D8B030D-6E8A-4147-A177-3AD203B41FA5}">
                      <a16:colId xmlns:a16="http://schemas.microsoft.com/office/drawing/2014/main" val="1782657733"/>
                    </a:ext>
                  </a:extLst>
                </a:gridCol>
              </a:tblGrid>
              <a:tr h="33765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1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2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3</a:t>
                      </a:r>
                      <a:endParaRPr lang="zh-CN" alt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3739247"/>
                  </a:ext>
                </a:extLst>
              </a:tr>
              <a:tr h="33765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0x12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0x34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0x56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0x78</a:t>
                      </a:r>
                      <a:endParaRPr lang="zh-CN" alt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9255484"/>
                  </a:ext>
                </a:extLst>
              </a:tr>
              <a:tr h="337651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0100 1000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0010 1100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0110 1010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0001 1110</a:t>
                      </a:r>
                      <a:endParaRPr lang="zh-CN" altLang="en-US" sz="1200" smtClean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9875786"/>
                  </a:ext>
                </a:extLst>
              </a:tr>
            </a:tbl>
          </a:graphicData>
        </a:graphic>
      </p:graphicFrame>
      <p:sp>
        <p:nvSpPr>
          <p:cNvPr id="17" name="文本框 16"/>
          <p:cNvSpPr txBox="1"/>
          <p:nvPr/>
        </p:nvSpPr>
        <p:spPr>
          <a:xfrm>
            <a:off x="5756910" y="3748549"/>
            <a:ext cx="7327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smtClean="0"/>
              <a:t>接收</a:t>
            </a:r>
            <a:r>
              <a:rPr lang="en-US" altLang="zh-CN" sz="1200" smtClean="0"/>
              <a:t>bit</a:t>
            </a:r>
            <a:endParaRPr lang="zh-CN" altLang="en-US" sz="1200"/>
          </a:p>
        </p:txBody>
      </p:sp>
      <p:graphicFrame>
        <p:nvGraphicFramePr>
          <p:cNvPr id="18" name="表格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5287583"/>
              </p:ext>
            </p:extLst>
          </p:nvPr>
        </p:nvGraphicFramePr>
        <p:xfrm>
          <a:off x="6489700" y="727287"/>
          <a:ext cx="4033520" cy="16882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8380">
                  <a:extLst>
                    <a:ext uri="{9D8B030D-6E8A-4147-A177-3AD203B41FA5}">
                      <a16:colId xmlns:a16="http://schemas.microsoft.com/office/drawing/2014/main" val="999857592"/>
                    </a:ext>
                  </a:extLst>
                </a:gridCol>
                <a:gridCol w="1008380">
                  <a:extLst>
                    <a:ext uri="{9D8B030D-6E8A-4147-A177-3AD203B41FA5}">
                      <a16:colId xmlns:a16="http://schemas.microsoft.com/office/drawing/2014/main" val="3231713072"/>
                    </a:ext>
                  </a:extLst>
                </a:gridCol>
                <a:gridCol w="1008380">
                  <a:extLst>
                    <a:ext uri="{9D8B030D-6E8A-4147-A177-3AD203B41FA5}">
                      <a16:colId xmlns:a16="http://schemas.microsoft.com/office/drawing/2014/main" val="1263934671"/>
                    </a:ext>
                  </a:extLst>
                </a:gridCol>
                <a:gridCol w="1008380">
                  <a:extLst>
                    <a:ext uri="{9D8B030D-6E8A-4147-A177-3AD203B41FA5}">
                      <a16:colId xmlns:a16="http://schemas.microsoft.com/office/drawing/2014/main" val="1782657733"/>
                    </a:ext>
                  </a:extLst>
                </a:gridCol>
              </a:tblGrid>
              <a:tr h="337651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1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2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3</a:t>
                      </a:r>
                      <a:endParaRPr lang="zh-CN" alt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3739247"/>
                  </a:ext>
                </a:extLst>
              </a:tr>
              <a:tr h="337651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0001 0010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0011</a:t>
                      </a:r>
                      <a:r>
                        <a:rPr lang="en-US" altLang="zh-CN" sz="1200" baseline="0" smtClean="0"/>
                        <a:t> 0100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0101</a:t>
                      </a:r>
                      <a:r>
                        <a:rPr lang="en-US" altLang="zh-CN" sz="1200" baseline="0" smtClean="0"/>
                        <a:t> 0110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0111 1000</a:t>
                      </a:r>
                      <a:endParaRPr lang="zh-CN" altLang="en-US" sz="1200" smtClean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9255484"/>
                  </a:ext>
                </a:extLst>
              </a:tr>
              <a:tr h="337651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0x12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0x34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0x56</a:t>
                      </a:r>
                      <a:endParaRPr lang="zh-CN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smtClean="0"/>
                        <a:t>0x78</a:t>
                      </a:r>
                      <a:endParaRPr lang="zh-CN" alt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9875786"/>
                  </a:ext>
                </a:extLst>
              </a:tr>
              <a:tr h="337651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0001 0010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0011</a:t>
                      </a:r>
                      <a:r>
                        <a:rPr lang="en-US" altLang="zh-CN" sz="1200" baseline="0" smtClean="0"/>
                        <a:t> 0100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0101</a:t>
                      </a:r>
                      <a:r>
                        <a:rPr lang="en-US" altLang="zh-CN" sz="1200" baseline="0" smtClean="0"/>
                        <a:t> 0110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0111 1000</a:t>
                      </a:r>
                      <a:endParaRPr lang="zh-CN" altLang="en-US" sz="1200" smtClean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314956"/>
                  </a:ext>
                </a:extLst>
              </a:tr>
              <a:tr h="337651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0x12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0x34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0x56</a:t>
                      </a:r>
                      <a:endParaRPr lang="zh-CN" altLang="en-US" sz="120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smtClean="0"/>
                        <a:t>0x78</a:t>
                      </a:r>
                      <a:endParaRPr lang="zh-CN" altLang="en-US" sz="1200" smtClean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0113822"/>
                  </a:ext>
                </a:extLst>
              </a:tr>
            </a:tbl>
          </a:graphicData>
        </a:graphic>
      </p:graphicFrame>
      <p:sp>
        <p:nvSpPr>
          <p:cNvPr id="19" name="文本框 18"/>
          <p:cNvSpPr txBox="1"/>
          <p:nvPr/>
        </p:nvSpPr>
        <p:spPr>
          <a:xfrm>
            <a:off x="5676900" y="727287"/>
            <a:ext cx="8128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zh-CN" altLang="en-US" sz="1200" smtClean="0"/>
              <a:t>内存地址</a:t>
            </a:r>
            <a:endParaRPr lang="zh-CN" altLang="en-US" sz="1200"/>
          </a:p>
        </p:txBody>
      </p:sp>
      <p:sp>
        <p:nvSpPr>
          <p:cNvPr id="20" name="文本框 19"/>
          <p:cNvSpPr txBox="1"/>
          <p:nvPr/>
        </p:nvSpPr>
        <p:spPr>
          <a:xfrm>
            <a:off x="5859780" y="2082908"/>
            <a:ext cx="6299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smtClean="0"/>
              <a:t>hex</a:t>
            </a:r>
            <a:endParaRPr lang="zh-CN" altLang="en-US" sz="1200"/>
          </a:p>
        </p:txBody>
      </p:sp>
      <p:sp>
        <p:nvSpPr>
          <p:cNvPr id="21" name="文本框 20"/>
          <p:cNvSpPr txBox="1"/>
          <p:nvPr/>
        </p:nvSpPr>
        <p:spPr>
          <a:xfrm>
            <a:off x="5859780" y="1780817"/>
            <a:ext cx="6299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smtClean="0"/>
              <a:t>bit</a:t>
            </a:r>
            <a:endParaRPr lang="zh-CN" altLang="en-US" sz="1200"/>
          </a:p>
        </p:txBody>
      </p:sp>
      <p:sp>
        <p:nvSpPr>
          <p:cNvPr id="22" name="文本框 21"/>
          <p:cNvSpPr txBox="1"/>
          <p:nvPr/>
        </p:nvSpPr>
        <p:spPr>
          <a:xfrm>
            <a:off x="5471160" y="1414742"/>
            <a:ext cx="10947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1200" smtClean="0"/>
              <a:t>ntohl</a:t>
            </a:r>
            <a:r>
              <a:rPr lang="zh-CN" altLang="en-US" sz="1200" smtClean="0"/>
              <a:t>后的</a:t>
            </a:r>
            <a:r>
              <a:rPr lang="en-US" altLang="zh-CN" sz="1200" smtClean="0"/>
              <a:t>hex</a:t>
            </a:r>
            <a:endParaRPr lang="zh-CN" altLang="en-US" sz="1200"/>
          </a:p>
        </p:txBody>
      </p:sp>
      <p:sp>
        <p:nvSpPr>
          <p:cNvPr id="23" name="文本框 22"/>
          <p:cNvSpPr txBox="1"/>
          <p:nvPr/>
        </p:nvSpPr>
        <p:spPr>
          <a:xfrm>
            <a:off x="5497830" y="1112651"/>
            <a:ext cx="10680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smtClean="0"/>
              <a:t>ntohl</a:t>
            </a:r>
            <a:r>
              <a:rPr lang="zh-CN" altLang="en-US" sz="1200" smtClean="0"/>
              <a:t>后的</a:t>
            </a:r>
            <a:r>
              <a:rPr lang="en-US" altLang="zh-CN" sz="1200" smtClean="0"/>
              <a:t>bit</a:t>
            </a:r>
            <a:endParaRPr lang="zh-CN" altLang="en-US" sz="1200"/>
          </a:p>
        </p:txBody>
      </p:sp>
      <p:sp>
        <p:nvSpPr>
          <p:cNvPr id="24" name="左弧形箭头 23"/>
          <p:cNvSpPr/>
          <p:nvPr/>
        </p:nvSpPr>
        <p:spPr>
          <a:xfrm rot="16200000">
            <a:off x="5356614" y="1775206"/>
            <a:ext cx="815592" cy="5722875"/>
          </a:xfrm>
          <a:prstGeom prst="curved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5048250" y="4752711"/>
            <a:ext cx="11607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smtClean="0"/>
              <a:t>cable network</a:t>
            </a:r>
            <a:endParaRPr lang="zh-CN" altLang="en-US" sz="1200"/>
          </a:p>
        </p:txBody>
      </p:sp>
      <p:sp>
        <p:nvSpPr>
          <p:cNvPr id="26" name="文本框 25"/>
          <p:cNvSpPr txBox="1"/>
          <p:nvPr/>
        </p:nvSpPr>
        <p:spPr>
          <a:xfrm>
            <a:off x="3187700" y="2560253"/>
            <a:ext cx="15671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smtClean="0"/>
              <a:t>网络接口适配器</a:t>
            </a:r>
            <a:r>
              <a:rPr lang="en-US" altLang="zh-CN" sz="1200" smtClean="0"/>
              <a:t>NIC</a:t>
            </a:r>
            <a:endParaRPr lang="zh-CN" altLang="en-US" sz="1200"/>
          </a:p>
        </p:txBody>
      </p:sp>
      <p:sp>
        <p:nvSpPr>
          <p:cNvPr id="28" name="文本框 27"/>
          <p:cNvSpPr txBox="1"/>
          <p:nvPr/>
        </p:nvSpPr>
        <p:spPr>
          <a:xfrm>
            <a:off x="7381240" y="335549"/>
            <a:ext cx="21894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smtClean="0"/>
              <a:t>接收方：大端字节序</a:t>
            </a:r>
            <a:r>
              <a:rPr lang="en-US" altLang="zh-CN" sz="1200" smtClean="0"/>
              <a:t>/</a:t>
            </a:r>
            <a:r>
              <a:rPr lang="zh-CN" altLang="en-US" sz="1200" smtClean="0"/>
              <a:t>比特序</a:t>
            </a:r>
            <a:endParaRPr lang="en-US" altLang="zh-CN" sz="1200"/>
          </a:p>
        </p:txBody>
      </p:sp>
    </p:spTree>
    <p:extLst>
      <p:ext uri="{BB962C8B-B14F-4D97-AF65-F5344CB8AC3E}">
        <p14:creationId xmlns:p14="http://schemas.microsoft.com/office/powerpoint/2010/main" val="5615206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/>
          <p:nvPr/>
        </p:nvPicPr>
        <p:blipFill>
          <a:blip r:embed="rId2"/>
          <a:stretch>
            <a:fillRect/>
          </a:stretch>
        </p:blipFill>
        <p:spPr>
          <a:xfrm>
            <a:off x="3458845" y="1429702"/>
            <a:ext cx="5274310" cy="3998595"/>
          </a:xfrm>
          <a:prstGeom prst="rect">
            <a:avLst/>
          </a:prstGeom>
        </p:spPr>
      </p:pic>
      <p:cxnSp>
        <p:nvCxnSpPr>
          <p:cNvPr id="7" name="直接连接符 6"/>
          <p:cNvCxnSpPr/>
          <p:nvPr/>
        </p:nvCxnSpPr>
        <p:spPr>
          <a:xfrm>
            <a:off x="8030095" y="2277687"/>
            <a:ext cx="703060" cy="0"/>
          </a:xfrm>
          <a:prstGeom prst="line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文本框 8"/>
          <p:cNvSpPr txBox="1"/>
          <p:nvPr/>
        </p:nvSpPr>
        <p:spPr>
          <a:xfrm>
            <a:off x="8088285" y="2075503"/>
            <a:ext cx="7030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>
                <a:latin typeface="Times New Roman" panose="02020603050405020304" pitchFamily="18" charset="0"/>
                <a:cs typeface="Times New Roman" panose="02020603050405020304" pitchFamily="18" charset="0"/>
              </a:rPr>
              <a:t>x bytes</a:t>
            </a:r>
            <a:endParaRPr lang="zh-CN" altLang="en-US" sz="11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0" name="直接连接符 9"/>
          <p:cNvCxnSpPr/>
          <p:nvPr/>
        </p:nvCxnSpPr>
        <p:spPr>
          <a:xfrm>
            <a:off x="5968538" y="1512917"/>
            <a:ext cx="931026" cy="0"/>
          </a:xfrm>
          <a:prstGeom prst="line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文本框 10"/>
          <p:cNvSpPr txBox="1"/>
          <p:nvPr/>
        </p:nvSpPr>
        <p:spPr>
          <a:xfrm>
            <a:off x="5913308" y="1251307"/>
            <a:ext cx="10414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188-4-x bytes</a:t>
            </a:r>
            <a:endParaRPr lang="zh-CN" altLang="en-US" sz="11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85554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>
            <a:spLocks noChangeArrowheads="1"/>
          </p:cNvSpPr>
          <p:nvPr/>
        </p:nvSpPr>
        <p:spPr bwMode="auto">
          <a:xfrm>
            <a:off x="2718594" y="1825466"/>
            <a:ext cx="4053681" cy="246221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0000"/>
                  <a:lumOff val="40000"/>
                  <a:tint val="66000"/>
                  <a:satMod val="160000"/>
                </a:schemeClr>
              </a:gs>
              <a:gs pos="50000">
                <a:schemeClr val="accent2">
                  <a:lumMod val="60000"/>
                  <a:lumOff val="40000"/>
                  <a:tint val="44500"/>
                  <a:satMod val="160000"/>
                </a:schemeClr>
              </a:gs>
              <a:gs pos="100000">
                <a:schemeClr val="accent2">
                  <a:lumMod val="60000"/>
                  <a:lumOff val="40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>
            <a:lvl1pPr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100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逻辑</a:t>
            </a:r>
            <a:r>
              <a:rPr lang="en-US" altLang="zh-CN" sz="100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SIP</a:t>
            </a:r>
            <a:r>
              <a:rPr lang="zh-CN" altLang="en-US" sz="100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实体</a:t>
            </a:r>
            <a:r>
              <a:rPr lang="zh-CN" altLang="en-US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包括</a:t>
            </a:r>
            <a:endParaRPr lang="en-US" altLang="zh-CN" sz="1000"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5" name="上下箭头 5"/>
          <p:cNvSpPr>
            <a:spLocks noChangeArrowheads="1"/>
          </p:cNvSpPr>
          <p:nvPr/>
        </p:nvSpPr>
        <p:spPr bwMode="auto">
          <a:xfrm>
            <a:off x="3257550" y="2076450"/>
            <a:ext cx="144463" cy="498475"/>
          </a:xfrm>
          <a:prstGeom prst="upDownArrow">
            <a:avLst>
              <a:gd name="adj1" fmla="val 50000"/>
              <a:gd name="adj2" fmla="val 49985"/>
            </a:avLst>
          </a:prstGeom>
          <a:solidFill>
            <a:schemeClr val="accent1"/>
          </a:solidFill>
          <a:ln w="9525" algn="ctr">
            <a:noFill/>
            <a:round/>
            <a:headEnd/>
            <a:tailEnd/>
          </a:ln>
        </p:spPr>
        <p:txBody>
          <a:bodyPr/>
          <a:lstStyle>
            <a:lvl1pPr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1000"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6" name="上下箭头 6"/>
          <p:cNvSpPr>
            <a:spLocks noChangeArrowheads="1"/>
          </p:cNvSpPr>
          <p:nvPr/>
        </p:nvSpPr>
        <p:spPr bwMode="auto">
          <a:xfrm>
            <a:off x="6057105" y="2076450"/>
            <a:ext cx="144463" cy="498475"/>
          </a:xfrm>
          <a:prstGeom prst="upDownArrow">
            <a:avLst>
              <a:gd name="adj1" fmla="val 50000"/>
              <a:gd name="adj2" fmla="val 49985"/>
            </a:avLst>
          </a:prstGeom>
          <a:solidFill>
            <a:schemeClr val="accent1"/>
          </a:solidFill>
          <a:ln w="9525" algn="ctr">
            <a:noFill/>
            <a:round/>
            <a:headEnd/>
            <a:tailEnd/>
          </a:ln>
        </p:spPr>
        <p:txBody>
          <a:bodyPr/>
          <a:lstStyle>
            <a:lvl1pPr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1000"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7" name="TextBox 7"/>
          <p:cNvSpPr txBox="1">
            <a:spLocks noChangeArrowheads="1"/>
          </p:cNvSpPr>
          <p:nvPr/>
        </p:nvSpPr>
        <p:spPr bwMode="auto">
          <a:xfrm>
            <a:off x="2057400" y="2574925"/>
            <a:ext cx="2660649" cy="246221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0000"/>
                  <a:lumOff val="40000"/>
                  <a:tint val="66000"/>
                  <a:satMod val="160000"/>
                </a:schemeClr>
              </a:gs>
              <a:gs pos="50000">
                <a:schemeClr val="accent2">
                  <a:lumMod val="60000"/>
                  <a:lumOff val="40000"/>
                  <a:tint val="44500"/>
                  <a:satMod val="160000"/>
                </a:schemeClr>
              </a:gs>
              <a:gs pos="100000">
                <a:schemeClr val="accent2">
                  <a:lumMod val="60000"/>
                  <a:lumOff val="40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>
            <a:defPPr>
              <a:defRPr lang="zh-CN"/>
            </a:defPPr>
            <a:lvl1pPr algn="ctr">
              <a:defRPr sz="11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742950" indent="-285750" eaLnBrk="0" hangingPunct="0">
              <a:defRPr sz="1900"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 sz="1900"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 sz="1900"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 sz="1900"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r>
              <a:rPr lang="zh-CN" altLang="en-US" sz="1000"/>
              <a:t>用户代理（</a:t>
            </a:r>
            <a:r>
              <a:rPr lang="en-US" altLang="zh-CN" sz="1000"/>
              <a:t>UA</a:t>
            </a:r>
            <a:r>
              <a:rPr lang="zh-CN" altLang="en-US" sz="1000"/>
              <a:t>）</a:t>
            </a:r>
          </a:p>
        </p:txBody>
      </p:sp>
      <p:sp>
        <p:nvSpPr>
          <p:cNvPr id="8" name="TextBox 8"/>
          <p:cNvSpPr txBox="1">
            <a:spLocks noChangeArrowheads="1"/>
          </p:cNvSpPr>
          <p:nvPr/>
        </p:nvSpPr>
        <p:spPr bwMode="auto">
          <a:xfrm>
            <a:off x="4914900" y="2574925"/>
            <a:ext cx="2857499" cy="246221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0000"/>
                  <a:lumOff val="40000"/>
                  <a:tint val="66000"/>
                  <a:satMod val="160000"/>
                </a:schemeClr>
              </a:gs>
              <a:gs pos="50000">
                <a:schemeClr val="accent2">
                  <a:lumMod val="60000"/>
                  <a:lumOff val="40000"/>
                  <a:tint val="44500"/>
                  <a:satMod val="160000"/>
                </a:schemeClr>
              </a:gs>
              <a:gs pos="100000">
                <a:schemeClr val="accent2">
                  <a:lumMod val="60000"/>
                  <a:lumOff val="40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>
            <a:defPPr>
              <a:defRPr lang="zh-CN"/>
            </a:defPPr>
            <a:lvl1pPr algn="ctr">
              <a:defRPr sz="11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742950" indent="-285750" eaLnBrk="0" hangingPunct="0">
              <a:defRPr sz="1900"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 sz="1900"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 sz="1900"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 sz="1900"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r>
              <a:rPr lang="zh-CN" altLang="en-US" sz="1000"/>
              <a:t>网络服务器</a:t>
            </a:r>
          </a:p>
        </p:txBody>
      </p:sp>
      <p:sp>
        <p:nvSpPr>
          <p:cNvPr id="11" name="TextBox 11"/>
          <p:cNvSpPr txBox="1">
            <a:spLocks noChangeArrowheads="1"/>
          </p:cNvSpPr>
          <p:nvPr/>
        </p:nvSpPr>
        <p:spPr bwMode="auto">
          <a:xfrm>
            <a:off x="2057400" y="2821146"/>
            <a:ext cx="2660649" cy="1200329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lvl1pPr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171450" indent="-171450" eaLnBrk="1" hangingPunct="1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zh-CN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UAC</a:t>
            </a:r>
            <a:r>
              <a:rPr lang="zh-CN" altLang="en-US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，</a:t>
            </a:r>
            <a:r>
              <a:rPr lang="en-US" altLang="zh-CN" sz="100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User Agent Client</a:t>
            </a:r>
            <a:r>
              <a:rPr lang="zh-CN" altLang="en-US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，用户代理客户端，发送</a:t>
            </a:r>
            <a:r>
              <a:rPr lang="en-US" altLang="zh-CN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SIP</a:t>
            </a:r>
            <a:r>
              <a:rPr lang="zh-CN" altLang="en-US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请求</a:t>
            </a:r>
            <a:endParaRPr lang="en-US" altLang="zh-CN" sz="1000" smtClean="0"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marL="171450" indent="-171450" eaLnBrk="1" hangingPunct="1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zh-CN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UAS</a:t>
            </a:r>
            <a:r>
              <a:rPr lang="zh-CN" altLang="en-US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，</a:t>
            </a:r>
            <a:r>
              <a:rPr lang="en-US" altLang="zh-CN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User Agent Server</a:t>
            </a:r>
            <a:r>
              <a:rPr lang="zh-CN" altLang="en-US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，用户代理服务器，返回</a:t>
            </a:r>
            <a:r>
              <a:rPr lang="en-US" altLang="zh-CN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SIP</a:t>
            </a:r>
            <a:r>
              <a:rPr lang="zh-CN" altLang="en-US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响应</a:t>
            </a:r>
            <a:endParaRPr lang="en-US" altLang="zh-CN" sz="1000" smtClean="0"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</a:pPr>
            <a:r>
              <a:rPr lang="zh-CN" altLang="en-US" sz="100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一个实体可以既是客户端，又是</a:t>
            </a:r>
            <a:r>
              <a:rPr lang="zh-CN" altLang="en-US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服务器</a:t>
            </a:r>
            <a:endParaRPr lang="en-US" altLang="zh-CN" sz="1000" smtClean="0"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eaLnBrk="1" hangingPunct="1">
              <a:lnSpc>
                <a:spcPct val="120000"/>
              </a:lnSpc>
            </a:pPr>
            <a:r>
              <a:rPr lang="en-US" altLang="zh-CN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UAC</a:t>
            </a:r>
            <a:r>
              <a:rPr lang="zh-CN" altLang="en-US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和</a:t>
            </a:r>
            <a:r>
              <a:rPr lang="en-US" altLang="zh-CN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UAS</a:t>
            </a:r>
            <a:r>
              <a:rPr lang="zh-CN" altLang="en-US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都能终止一个呼叫</a:t>
            </a:r>
            <a:endParaRPr lang="zh-CN" altLang="en-US" sz="1000"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12" name="TextBox 12"/>
          <p:cNvSpPr txBox="1">
            <a:spLocks noChangeArrowheads="1"/>
          </p:cNvSpPr>
          <p:nvPr/>
        </p:nvSpPr>
        <p:spPr bwMode="auto">
          <a:xfrm>
            <a:off x="4914900" y="2821146"/>
            <a:ext cx="2857499" cy="2677656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lvl1pPr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171450" indent="-171450" eaLnBrk="1" hangingPunct="1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zh-CN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Proxy Server</a:t>
            </a:r>
            <a:r>
              <a:rPr lang="zh-CN" altLang="en-US" sz="100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，代理服务器，为客户端转发请求或响应，可以同时做为服务器端和客户端，决定下一跳转发请求</a:t>
            </a:r>
            <a:r>
              <a:rPr lang="zh-CN" altLang="en-US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消息</a:t>
            </a:r>
            <a:endParaRPr lang="en-US" altLang="zh-CN" sz="1000" smtClean="0"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marL="171450" indent="-171450" eaLnBrk="1" hangingPunct="1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zh-CN" sz="100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Registrar Server</a:t>
            </a:r>
            <a:r>
              <a:rPr lang="zh-CN" altLang="en-US" sz="100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，注册服务器。接受</a:t>
            </a:r>
            <a:r>
              <a:rPr lang="en-US" altLang="zh-CN" sz="100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REGISTER </a:t>
            </a:r>
            <a:r>
              <a:rPr lang="zh-CN" altLang="en-US" sz="100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请求完成用户地址的注册，更新用户位置信息；可以支持鉴权</a:t>
            </a:r>
            <a:r>
              <a:rPr lang="zh-CN" altLang="en-US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功能</a:t>
            </a:r>
            <a:endParaRPr lang="en-US" altLang="zh-CN" sz="1000" smtClean="0"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marL="171450" indent="-171450" eaLnBrk="1" hangingPunct="1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zh-CN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Redirect Server</a:t>
            </a:r>
            <a:r>
              <a:rPr lang="zh-CN" altLang="en-US" sz="100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，重定向服务器，将请求中的地址映射为零个或多个新的地址，将用户新的位置返回给呼叫方。呼叫方可根据得到的新位置重新呼叫</a:t>
            </a:r>
            <a:r>
              <a:rPr lang="zh-CN" altLang="en-US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。</a:t>
            </a:r>
            <a:endParaRPr lang="en-US" altLang="zh-CN" sz="1000" smtClean="0"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marL="171450" indent="-171450" eaLnBrk="1" hangingPunct="1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zh-CN" sz="100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Location </a:t>
            </a:r>
            <a:r>
              <a:rPr lang="en-US" altLang="zh-CN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Server</a:t>
            </a:r>
            <a:r>
              <a:rPr lang="zh-CN" altLang="en-US" sz="100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，位置</a:t>
            </a:r>
            <a:r>
              <a:rPr lang="zh-CN" altLang="en-US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服务器，是</a:t>
            </a:r>
            <a:r>
              <a:rPr lang="zh-CN" altLang="en-US" sz="100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一个数据库，用于存放终端用户当前的位置信息，为</a:t>
            </a:r>
            <a:r>
              <a:rPr lang="en-US" altLang="zh-CN" sz="100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SIP </a:t>
            </a:r>
            <a:r>
              <a:rPr lang="zh-CN" altLang="en-US" sz="100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重定向服务器</a:t>
            </a:r>
            <a:r>
              <a:rPr lang="en-US" altLang="zh-CN" sz="100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(Redirect Server)</a:t>
            </a:r>
            <a:r>
              <a:rPr lang="zh-CN" altLang="en-US" sz="100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或代理服务器</a:t>
            </a:r>
            <a:r>
              <a:rPr lang="en-US" altLang="zh-CN" sz="100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(proxy server) </a:t>
            </a:r>
            <a:r>
              <a:rPr lang="zh-CN" altLang="en-US" sz="100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提供被叫用户可能的</a:t>
            </a:r>
            <a:r>
              <a:rPr lang="zh-CN" altLang="en-US" sz="1000" smtClean="0"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位置信息</a:t>
            </a:r>
            <a:endParaRPr lang="zh-CN" altLang="en-US" sz="1000"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15591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33588" y="4273550"/>
            <a:ext cx="847725" cy="533400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noFill/>
          </a:ln>
        </p:spPr>
      </p:pic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19938" y="4230688"/>
            <a:ext cx="962025" cy="600075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noFill/>
          </a:ln>
        </p:spPr>
      </p:pic>
      <p:pic>
        <p:nvPicPr>
          <p:cNvPr id="6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65613" y="2547938"/>
            <a:ext cx="1085850" cy="628650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noFill/>
          </a:ln>
        </p:spPr>
      </p:pic>
      <p:cxnSp>
        <p:nvCxnSpPr>
          <p:cNvPr id="7" name="直接箭头连接符 17"/>
          <p:cNvCxnSpPr>
            <a:cxnSpLocks noChangeShapeType="1"/>
          </p:cNvCxnSpPr>
          <p:nvPr/>
        </p:nvCxnSpPr>
        <p:spPr bwMode="auto">
          <a:xfrm flipV="1">
            <a:off x="2393950" y="2862263"/>
            <a:ext cx="2016125" cy="1368425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" name="直接连接符 20"/>
          <p:cNvCxnSpPr>
            <a:cxnSpLocks noChangeShapeType="1"/>
          </p:cNvCxnSpPr>
          <p:nvPr/>
        </p:nvCxnSpPr>
        <p:spPr bwMode="auto">
          <a:xfrm>
            <a:off x="2906713" y="4578350"/>
            <a:ext cx="4240212" cy="12700"/>
          </a:xfrm>
          <a:prstGeom prst="line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9" name="直接箭头连接符 22"/>
          <p:cNvCxnSpPr>
            <a:cxnSpLocks noChangeShapeType="1"/>
          </p:cNvCxnSpPr>
          <p:nvPr/>
        </p:nvCxnSpPr>
        <p:spPr bwMode="auto">
          <a:xfrm>
            <a:off x="5273675" y="2933700"/>
            <a:ext cx="2011363" cy="1368425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0" name="直接箭头连接符 24"/>
          <p:cNvCxnSpPr>
            <a:cxnSpLocks noChangeShapeType="1"/>
          </p:cNvCxnSpPr>
          <p:nvPr/>
        </p:nvCxnSpPr>
        <p:spPr bwMode="auto">
          <a:xfrm flipH="1" flipV="1">
            <a:off x="5227638" y="3092450"/>
            <a:ext cx="1990725" cy="1354138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prstDash val="sysDash"/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" name="直接箭头连接符 28"/>
          <p:cNvCxnSpPr>
            <a:cxnSpLocks noChangeShapeType="1"/>
          </p:cNvCxnSpPr>
          <p:nvPr/>
        </p:nvCxnSpPr>
        <p:spPr bwMode="auto">
          <a:xfrm flipH="1">
            <a:off x="2609850" y="3092450"/>
            <a:ext cx="1800225" cy="118110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prstDash val="sysDash"/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2" name="TextBox 31"/>
          <p:cNvSpPr txBox="1">
            <a:spLocks noChangeArrowheads="1"/>
          </p:cNvSpPr>
          <p:nvPr/>
        </p:nvSpPr>
        <p:spPr bwMode="auto">
          <a:xfrm>
            <a:off x="3452813" y="3725863"/>
            <a:ext cx="741362" cy="277812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noFill/>
          </a:ln>
        </p:spPr>
        <p:txBody>
          <a:bodyPr wrap="none">
            <a:spAutoFit/>
          </a:bodyPr>
          <a:lstStyle>
            <a:lvl1pPr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altLang="zh-CN" sz="1200"/>
              <a:t>SIP</a:t>
            </a:r>
            <a:r>
              <a:rPr lang="zh-CN" altLang="en-US" sz="1200"/>
              <a:t>响应</a:t>
            </a:r>
          </a:p>
        </p:txBody>
      </p:sp>
      <p:sp>
        <p:nvSpPr>
          <p:cNvPr id="13" name="TextBox 32"/>
          <p:cNvSpPr txBox="1">
            <a:spLocks noChangeArrowheads="1"/>
          </p:cNvSpPr>
          <p:nvPr/>
        </p:nvSpPr>
        <p:spPr bwMode="auto">
          <a:xfrm>
            <a:off x="2589213" y="3222625"/>
            <a:ext cx="741362" cy="276225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noFill/>
          </a:ln>
        </p:spPr>
        <p:txBody>
          <a:bodyPr wrap="none">
            <a:spAutoFit/>
          </a:bodyPr>
          <a:lstStyle>
            <a:lvl1pPr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altLang="zh-CN" sz="1200"/>
              <a:t>SIP</a:t>
            </a:r>
            <a:r>
              <a:rPr lang="zh-CN" altLang="en-US" sz="1200"/>
              <a:t>请求</a:t>
            </a:r>
          </a:p>
        </p:txBody>
      </p:sp>
      <p:sp>
        <p:nvSpPr>
          <p:cNvPr id="14" name="TextBox 33"/>
          <p:cNvSpPr txBox="1">
            <a:spLocks noChangeArrowheads="1"/>
          </p:cNvSpPr>
          <p:nvPr/>
        </p:nvSpPr>
        <p:spPr bwMode="auto">
          <a:xfrm>
            <a:off x="6189663" y="3222625"/>
            <a:ext cx="739775" cy="276225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noFill/>
          </a:ln>
        </p:spPr>
        <p:txBody>
          <a:bodyPr wrap="none">
            <a:spAutoFit/>
          </a:bodyPr>
          <a:lstStyle>
            <a:lvl1pPr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altLang="zh-CN" sz="1200"/>
              <a:t>SIP</a:t>
            </a:r>
            <a:r>
              <a:rPr lang="zh-CN" altLang="en-US" sz="1200"/>
              <a:t>请求</a:t>
            </a:r>
          </a:p>
        </p:txBody>
      </p:sp>
      <p:sp>
        <p:nvSpPr>
          <p:cNvPr id="15" name="TextBox 34"/>
          <p:cNvSpPr txBox="1">
            <a:spLocks noChangeArrowheads="1"/>
          </p:cNvSpPr>
          <p:nvPr/>
        </p:nvSpPr>
        <p:spPr bwMode="auto">
          <a:xfrm>
            <a:off x="5541963" y="3725863"/>
            <a:ext cx="739775" cy="277812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noFill/>
          </a:ln>
        </p:spPr>
        <p:txBody>
          <a:bodyPr wrap="none">
            <a:spAutoFit/>
          </a:bodyPr>
          <a:lstStyle>
            <a:lvl1pPr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altLang="zh-CN" sz="1200"/>
              <a:t>SIP</a:t>
            </a:r>
            <a:r>
              <a:rPr lang="zh-CN" altLang="en-US" sz="1200"/>
              <a:t>响应</a:t>
            </a:r>
          </a:p>
        </p:txBody>
      </p:sp>
      <p:sp>
        <p:nvSpPr>
          <p:cNvPr id="16" name="圆角矩形标注 35"/>
          <p:cNvSpPr>
            <a:spLocks noChangeArrowheads="1"/>
          </p:cNvSpPr>
          <p:nvPr/>
        </p:nvSpPr>
        <p:spPr bwMode="auto">
          <a:xfrm>
            <a:off x="738188" y="3798888"/>
            <a:ext cx="1439862" cy="442912"/>
          </a:xfrm>
          <a:prstGeom prst="wedgeRoundRectCallout">
            <a:avLst>
              <a:gd name="adj1" fmla="val 45796"/>
              <a:gd name="adj2" fmla="val 79699"/>
              <a:gd name="adj3" fmla="val 16667"/>
            </a:avLst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2700000" scaled="1"/>
            <a:tileRect/>
          </a:gra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altLang="zh-CN" sz="1200"/>
              <a:t>UAC</a:t>
            </a:r>
            <a:r>
              <a:rPr lang="zh-CN" altLang="en-US" sz="1200"/>
              <a:t>发送</a:t>
            </a:r>
            <a:r>
              <a:rPr lang="en-US" altLang="zh-CN" sz="1200"/>
              <a:t>SIP</a:t>
            </a:r>
            <a:r>
              <a:rPr lang="zh-CN" altLang="en-US" sz="1200"/>
              <a:t>请求</a:t>
            </a:r>
          </a:p>
        </p:txBody>
      </p:sp>
      <p:sp>
        <p:nvSpPr>
          <p:cNvPr id="17" name="圆角矩形标注 36"/>
          <p:cNvSpPr>
            <a:spLocks noChangeArrowheads="1"/>
          </p:cNvSpPr>
          <p:nvPr/>
        </p:nvSpPr>
        <p:spPr bwMode="auto">
          <a:xfrm>
            <a:off x="7650163" y="3787775"/>
            <a:ext cx="1439862" cy="442913"/>
          </a:xfrm>
          <a:prstGeom prst="wedgeRoundRectCallout">
            <a:avLst>
              <a:gd name="adj1" fmla="val -37491"/>
              <a:gd name="adj2" fmla="val 88296"/>
              <a:gd name="adj3" fmla="val 16667"/>
            </a:avLst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2700000" scaled="1"/>
            <a:tileRect/>
          </a:gra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altLang="zh-CN" sz="1200"/>
              <a:t>UAS</a:t>
            </a:r>
            <a:r>
              <a:rPr lang="zh-CN" altLang="en-US" sz="1200"/>
              <a:t>接受</a:t>
            </a:r>
            <a:r>
              <a:rPr lang="en-US" altLang="zh-CN" sz="1200"/>
              <a:t>SIP</a:t>
            </a:r>
            <a:r>
              <a:rPr lang="zh-CN" altLang="en-US" sz="1200"/>
              <a:t>请求</a:t>
            </a:r>
          </a:p>
        </p:txBody>
      </p:sp>
      <p:sp>
        <p:nvSpPr>
          <p:cNvPr id="18" name="TextBox 37"/>
          <p:cNvSpPr txBox="1">
            <a:spLocks noChangeArrowheads="1"/>
          </p:cNvSpPr>
          <p:nvPr/>
        </p:nvSpPr>
        <p:spPr bwMode="auto">
          <a:xfrm>
            <a:off x="4481513" y="4662488"/>
            <a:ext cx="1157287" cy="276225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noFill/>
          </a:ln>
        </p:spPr>
        <p:txBody>
          <a:bodyPr wrap="none">
            <a:spAutoFit/>
          </a:bodyPr>
          <a:lstStyle>
            <a:lvl1pPr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zh-CN" altLang="en-US" sz="1200"/>
              <a:t>媒体流（</a:t>
            </a:r>
            <a:r>
              <a:rPr lang="en-US" altLang="zh-CN" sz="1200"/>
              <a:t>RTP)</a:t>
            </a:r>
            <a:endParaRPr lang="zh-CN" altLang="en-US" sz="1200"/>
          </a:p>
        </p:txBody>
      </p:sp>
      <p:sp>
        <p:nvSpPr>
          <p:cNvPr id="19" name="圆角矩形标注 39"/>
          <p:cNvSpPr>
            <a:spLocks noChangeArrowheads="1"/>
          </p:cNvSpPr>
          <p:nvPr/>
        </p:nvSpPr>
        <p:spPr bwMode="auto">
          <a:xfrm>
            <a:off x="4338638" y="1709738"/>
            <a:ext cx="1851025" cy="731837"/>
          </a:xfrm>
          <a:prstGeom prst="wedgeRoundRectCallout">
            <a:avLst>
              <a:gd name="adj1" fmla="val 1704"/>
              <a:gd name="adj2" fmla="val 91162"/>
              <a:gd name="adj3" fmla="val 16667"/>
            </a:avLst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2700000" scaled="1"/>
            <a:tileRect/>
          </a:gra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sz="19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altLang="zh-CN" sz="1200"/>
              <a:t>Request  Proxy Server</a:t>
            </a:r>
          </a:p>
          <a:p>
            <a:pPr eaLnBrk="1" hangingPunct="1"/>
            <a:r>
              <a:rPr lang="zh-CN" altLang="en-US" sz="1200"/>
              <a:t>决定把请求消息送到何处</a:t>
            </a:r>
          </a:p>
        </p:txBody>
      </p:sp>
    </p:spTree>
    <p:extLst>
      <p:ext uri="{BB962C8B-B14F-4D97-AF65-F5344CB8AC3E}">
        <p14:creationId xmlns:p14="http://schemas.microsoft.com/office/powerpoint/2010/main" val="3248717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763" y="1287463"/>
            <a:ext cx="1133475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52713" y="1190625"/>
            <a:ext cx="1133475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47404" y="3967516"/>
            <a:ext cx="495300" cy="542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5" name="直接连接符 8"/>
          <p:cNvCxnSpPr>
            <a:cxnSpLocks noChangeShapeType="1"/>
          </p:cNvCxnSpPr>
          <p:nvPr/>
        </p:nvCxnSpPr>
        <p:spPr bwMode="auto">
          <a:xfrm>
            <a:off x="1096963" y="1935163"/>
            <a:ext cx="0" cy="2459037"/>
          </a:xfrm>
          <a:prstGeom prst="line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" name="直接连接符 9"/>
          <p:cNvCxnSpPr>
            <a:cxnSpLocks noChangeShapeType="1"/>
          </p:cNvCxnSpPr>
          <p:nvPr/>
        </p:nvCxnSpPr>
        <p:spPr bwMode="auto">
          <a:xfrm>
            <a:off x="3444875" y="1838325"/>
            <a:ext cx="0" cy="2505075"/>
          </a:xfrm>
          <a:prstGeom prst="line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7" name="TextBox 10"/>
          <p:cNvSpPr txBox="1">
            <a:spLocks noChangeArrowheads="1"/>
          </p:cNvSpPr>
          <p:nvPr/>
        </p:nvSpPr>
        <p:spPr bwMode="auto">
          <a:xfrm>
            <a:off x="1646238" y="1422400"/>
            <a:ext cx="428322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9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UAC</a:t>
            </a:r>
            <a:endParaRPr lang="zh-CN" altLang="en-US" sz="90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8" name="TextBox 11"/>
          <p:cNvSpPr txBox="1">
            <a:spLocks noChangeArrowheads="1"/>
          </p:cNvSpPr>
          <p:nvPr/>
        </p:nvSpPr>
        <p:spPr bwMode="auto">
          <a:xfrm>
            <a:off x="3721100" y="1306984"/>
            <a:ext cx="415498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9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UAS</a:t>
            </a:r>
            <a:endParaRPr lang="zh-CN" altLang="en-US" sz="90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cxnSp>
        <p:nvCxnSpPr>
          <p:cNvPr id="9" name="直接箭头连接符 13"/>
          <p:cNvCxnSpPr>
            <a:cxnSpLocks noChangeShapeType="1"/>
          </p:cNvCxnSpPr>
          <p:nvPr/>
        </p:nvCxnSpPr>
        <p:spPr bwMode="auto">
          <a:xfrm>
            <a:off x="1096963" y="2150120"/>
            <a:ext cx="2347912" cy="7937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0" name="TextBox 14"/>
          <p:cNvSpPr txBox="1">
            <a:spLocks noChangeArrowheads="1"/>
          </p:cNvSpPr>
          <p:nvPr/>
        </p:nvSpPr>
        <p:spPr bwMode="auto">
          <a:xfrm>
            <a:off x="1921993" y="1921026"/>
            <a:ext cx="569387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9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INVITE</a:t>
            </a:r>
            <a:endParaRPr lang="zh-CN" altLang="en-US" sz="90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cxnSp>
        <p:nvCxnSpPr>
          <p:cNvPr id="11" name="直接箭头连接符 16"/>
          <p:cNvCxnSpPr>
            <a:cxnSpLocks noChangeShapeType="1"/>
          </p:cNvCxnSpPr>
          <p:nvPr/>
        </p:nvCxnSpPr>
        <p:spPr bwMode="auto">
          <a:xfrm flipH="1">
            <a:off x="1106185" y="2491164"/>
            <a:ext cx="2347912" cy="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" name="直接箭头连接符 18"/>
          <p:cNvCxnSpPr>
            <a:cxnSpLocks noChangeShapeType="1"/>
          </p:cNvCxnSpPr>
          <p:nvPr/>
        </p:nvCxnSpPr>
        <p:spPr bwMode="auto">
          <a:xfrm flipH="1">
            <a:off x="1106185" y="2867586"/>
            <a:ext cx="2347912" cy="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3" name="直接箭头连接符 19"/>
          <p:cNvCxnSpPr>
            <a:cxnSpLocks noChangeShapeType="1"/>
          </p:cNvCxnSpPr>
          <p:nvPr/>
        </p:nvCxnSpPr>
        <p:spPr bwMode="auto">
          <a:xfrm flipH="1">
            <a:off x="1106185" y="3243030"/>
            <a:ext cx="2347912" cy="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4" name="直接箭头连接符 20"/>
          <p:cNvCxnSpPr>
            <a:cxnSpLocks noChangeShapeType="1"/>
          </p:cNvCxnSpPr>
          <p:nvPr/>
        </p:nvCxnSpPr>
        <p:spPr bwMode="auto">
          <a:xfrm>
            <a:off x="1136348" y="3625236"/>
            <a:ext cx="2317749" cy="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5" name="TextBox 21"/>
          <p:cNvSpPr txBox="1">
            <a:spLocks noChangeArrowheads="1"/>
          </p:cNvSpPr>
          <p:nvPr/>
        </p:nvSpPr>
        <p:spPr bwMode="auto">
          <a:xfrm>
            <a:off x="1893602" y="2260332"/>
            <a:ext cx="700833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9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100 Trying</a:t>
            </a:r>
            <a:endParaRPr lang="zh-CN" altLang="en-US" sz="90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16" name="TextBox 22"/>
          <p:cNvSpPr txBox="1">
            <a:spLocks noChangeArrowheads="1"/>
          </p:cNvSpPr>
          <p:nvPr/>
        </p:nvSpPr>
        <p:spPr bwMode="auto">
          <a:xfrm>
            <a:off x="1907565" y="2628935"/>
            <a:ext cx="611065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9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180 Ring</a:t>
            </a:r>
            <a:endParaRPr lang="zh-CN" altLang="en-US" sz="90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17" name="TextBox 23"/>
          <p:cNvSpPr txBox="1">
            <a:spLocks noChangeArrowheads="1"/>
          </p:cNvSpPr>
          <p:nvPr/>
        </p:nvSpPr>
        <p:spPr bwMode="auto">
          <a:xfrm>
            <a:off x="1921993" y="3023633"/>
            <a:ext cx="582211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9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200  OK</a:t>
            </a:r>
            <a:endParaRPr lang="zh-CN" altLang="en-US" sz="90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18" name="TextBox 24"/>
          <p:cNvSpPr txBox="1">
            <a:spLocks noChangeArrowheads="1"/>
          </p:cNvSpPr>
          <p:nvPr/>
        </p:nvSpPr>
        <p:spPr bwMode="auto">
          <a:xfrm>
            <a:off x="1947404" y="3394404"/>
            <a:ext cx="428322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9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ACK</a:t>
            </a:r>
            <a:endParaRPr lang="zh-CN" altLang="en-US" sz="90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19" name="TextBox 25"/>
          <p:cNvSpPr txBox="1">
            <a:spLocks noChangeArrowheads="1"/>
          </p:cNvSpPr>
          <p:nvPr/>
        </p:nvSpPr>
        <p:spPr bwMode="auto">
          <a:xfrm>
            <a:off x="1848254" y="3798544"/>
            <a:ext cx="716863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9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RTP/RTCP</a:t>
            </a:r>
            <a:endParaRPr lang="zh-CN" altLang="en-US" sz="90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57559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1000" y="1304925"/>
            <a:ext cx="1897063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75314" y="1295402"/>
            <a:ext cx="1133475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83500" y="1304925"/>
            <a:ext cx="1133475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7" name="直接连接符 7"/>
          <p:cNvCxnSpPr>
            <a:cxnSpLocks noChangeShapeType="1"/>
          </p:cNvCxnSpPr>
          <p:nvPr/>
        </p:nvCxnSpPr>
        <p:spPr bwMode="auto">
          <a:xfrm>
            <a:off x="2842051" y="1943102"/>
            <a:ext cx="0" cy="3270248"/>
          </a:xfrm>
          <a:prstGeom prst="line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" name="直接连接符 8"/>
          <p:cNvCxnSpPr>
            <a:cxnSpLocks noChangeShapeType="1"/>
          </p:cNvCxnSpPr>
          <p:nvPr/>
        </p:nvCxnSpPr>
        <p:spPr bwMode="auto">
          <a:xfrm>
            <a:off x="5056188" y="1954213"/>
            <a:ext cx="0" cy="2770187"/>
          </a:xfrm>
          <a:prstGeom prst="line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9" name="直接连接符 9"/>
          <p:cNvCxnSpPr>
            <a:cxnSpLocks noChangeShapeType="1"/>
          </p:cNvCxnSpPr>
          <p:nvPr/>
        </p:nvCxnSpPr>
        <p:spPr bwMode="auto">
          <a:xfrm>
            <a:off x="7052886" y="1954213"/>
            <a:ext cx="8411" cy="3259137"/>
          </a:xfrm>
          <a:prstGeom prst="line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0" name="直接箭头连接符 9"/>
          <p:cNvCxnSpPr>
            <a:cxnSpLocks noChangeShapeType="1"/>
          </p:cNvCxnSpPr>
          <p:nvPr/>
        </p:nvCxnSpPr>
        <p:spPr bwMode="auto">
          <a:xfrm>
            <a:off x="2842051" y="2163292"/>
            <a:ext cx="2214137" cy="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" name="直接箭头连接符 10"/>
          <p:cNvCxnSpPr>
            <a:cxnSpLocks noChangeShapeType="1"/>
          </p:cNvCxnSpPr>
          <p:nvPr/>
        </p:nvCxnSpPr>
        <p:spPr bwMode="auto">
          <a:xfrm flipH="1">
            <a:off x="2842051" y="2513336"/>
            <a:ext cx="2214137" cy="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" name="直接箭头连接符 11"/>
          <p:cNvCxnSpPr>
            <a:cxnSpLocks noChangeShapeType="1"/>
          </p:cNvCxnSpPr>
          <p:nvPr/>
        </p:nvCxnSpPr>
        <p:spPr bwMode="auto">
          <a:xfrm>
            <a:off x="5063520" y="2723760"/>
            <a:ext cx="2001460" cy="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3" name="直接箭头连接符 12"/>
          <p:cNvCxnSpPr>
            <a:cxnSpLocks noChangeShapeType="1"/>
          </p:cNvCxnSpPr>
          <p:nvPr/>
        </p:nvCxnSpPr>
        <p:spPr bwMode="auto">
          <a:xfrm flipH="1">
            <a:off x="5056188" y="3077691"/>
            <a:ext cx="2001459" cy="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4" name="直接箭头连接符 13"/>
          <p:cNvCxnSpPr>
            <a:cxnSpLocks noChangeShapeType="1"/>
          </p:cNvCxnSpPr>
          <p:nvPr/>
        </p:nvCxnSpPr>
        <p:spPr bwMode="auto">
          <a:xfrm flipH="1">
            <a:off x="2834641" y="3375961"/>
            <a:ext cx="2214137" cy="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" name="直接箭头连接符 14"/>
          <p:cNvCxnSpPr>
            <a:cxnSpLocks noChangeShapeType="1"/>
          </p:cNvCxnSpPr>
          <p:nvPr/>
        </p:nvCxnSpPr>
        <p:spPr bwMode="auto">
          <a:xfrm flipH="1">
            <a:off x="5048778" y="3652366"/>
            <a:ext cx="1994048" cy="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6" name="直接箭头连接符 15"/>
          <p:cNvCxnSpPr>
            <a:cxnSpLocks noChangeShapeType="1"/>
          </p:cNvCxnSpPr>
          <p:nvPr/>
        </p:nvCxnSpPr>
        <p:spPr bwMode="auto">
          <a:xfrm flipH="1">
            <a:off x="2834640" y="3962875"/>
            <a:ext cx="2214137" cy="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" name="直接箭头连接符 16"/>
          <p:cNvCxnSpPr>
            <a:cxnSpLocks noChangeShapeType="1"/>
          </p:cNvCxnSpPr>
          <p:nvPr/>
        </p:nvCxnSpPr>
        <p:spPr bwMode="auto">
          <a:xfrm>
            <a:off x="2867082" y="4324276"/>
            <a:ext cx="2214137" cy="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8" name="直接箭头连接符 17"/>
          <p:cNvCxnSpPr>
            <a:cxnSpLocks noChangeShapeType="1"/>
          </p:cNvCxnSpPr>
          <p:nvPr/>
        </p:nvCxnSpPr>
        <p:spPr bwMode="auto">
          <a:xfrm>
            <a:off x="5048777" y="4592674"/>
            <a:ext cx="2013634" cy="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9" name="TextBox 21"/>
          <p:cNvSpPr txBox="1">
            <a:spLocks noChangeArrowheads="1"/>
          </p:cNvSpPr>
          <p:nvPr/>
        </p:nvSpPr>
        <p:spPr bwMode="auto">
          <a:xfrm>
            <a:off x="3524626" y="1926110"/>
            <a:ext cx="69762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INVITE</a:t>
            </a:r>
            <a:endParaRPr lang="zh-CN" altLang="en-US" sz="120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20" name="TextBox 22"/>
          <p:cNvSpPr txBox="1">
            <a:spLocks noChangeArrowheads="1"/>
          </p:cNvSpPr>
          <p:nvPr/>
        </p:nvSpPr>
        <p:spPr bwMode="auto">
          <a:xfrm>
            <a:off x="5636682" y="2492928"/>
            <a:ext cx="69762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INVITE</a:t>
            </a:r>
            <a:endParaRPr lang="zh-CN" altLang="en-US" sz="120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21" name="TextBox 23"/>
          <p:cNvSpPr txBox="1">
            <a:spLocks noChangeArrowheads="1"/>
          </p:cNvSpPr>
          <p:nvPr/>
        </p:nvSpPr>
        <p:spPr bwMode="auto">
          <a:xfrm>
            <a:off x="3471911" y="2282504"/>
            <a:ext cx="865814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100 Trying</a:t>
            </a:r>
            <a:endParaRPr lang="zh-CN" altLang="en-US" sz="120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22" name="TextBox 24"/>
          <p:cNvSpPr txBox="1">
            <a:spLocks noChangeArrowheads="1"/>
          </p:cNvSpPr>
          <p:nvPr/>
        </p:nvSpPr>
        <p:spPr bwMode="auto">
          <a:xfrm>
            <a:off x="5625575" y="2846859"/>
            <a:ext cx="753732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180 Ring</a:t>
            </a:r>
            <a:endParaRPr lang="zh-CN" altLang="en-US" sz="120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23" name="TextBox 25"/>
          <p:cNvSpPr txBox="1">
            <a:spLocks noChangeArrowheads="1"/>
          </p:cNvSpPr>
          <p:nvPr/>
        </p:nvSpPr>
        <p:spPr bwMode="auto">
          <a:xfrm>
            <a:off x="3546987" y="3145129"/>
            <a:ext cx="753732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180 Ring</a:t>
            </a:r>
            <a:endParaRPr lang="zh-CN" altLang="en-US" sz="120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24" name="TextBox 26"/>
          <p:cNvSpPr txBox="1">
            <a:spLocks noChangeArrowheads="1"/>
          </p:cNvSpPr>
          <p:nvPr/>
        </p:nvSpPr>
        <p:spPr bwMode="auto">
          <a:xfrm>
            <a:off x="5644696" y="3421534"/>
            <a:ext cx="675185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200 OK</a:t>
            </a:r>
            <a:endParaRPr lang="zh-CN" altLang="en-US" sz="120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25" name="TextBox 27"/>
          <p:cNvSpPr txBox="1">
            <a:spLocks noChangeArrowheads="1"/>
          </p:cNvSpPr>
          <p:nvPr/>
        </p:nvSpPr>
        <p:spPr bwMode="auto">
          <a:xfrm>
            <a:off x="3558692" y="3732043"/>
            <a:ext cx="675185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200 OK</a:t>
            </a:r>
            <a:endParaRPr lang="zh-CN" altLang="en-US" sz="120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26" name="TextBox 28"/>
          <p:cNvSpPr txBox="1">
            <a:spLocks noChangeArrowheads="1"/>
          </p:cNvSpPr>
          <p:nvPr/>
        </p:nvSpPr>
        <p:spPr bwMode="auto">
          <a:xfrm>
            <a:off x="3590066" y="4093444"/>
            <a:ext cx="508473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ACK</a:t>
            </a:r>
            <a:endParaRPr lang="zh-CN" altLang="en-US" sz="120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27" name="TextBox 29"/>
          <p:cNvSpPr txBox="1">
            <a:spLocks noChangeArrowheads="1"/>
          </p:cNvSpPr>
          <p:nvPr/>
        </p:nvSpPr>
        <p:spPr bwMode="auto">
          <a:xfrm>
            <a:off x="5707213" y="4361842"/>
            <a:ext cx="508473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ACK</a:t>
            </a:r>
            <a:endParaRPr lang="zh-CN" altLang="en-US" sz="120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28" name="左右箭头 27"/>
          <p:cNvSpPr>
            <a:spLocks noChangeArrowheads="1"/>
          </p:cNvSpPr>
          <p:nvPr/>
        </p:nvSpPr>
        <p:spPr bwMode="auto">
          <a:xfrm>
            <a:off x="2842051" y="4742563"/>
            <a:ext cx="4210835" cy="215900"/>
          </a:xfrm>
          <a:prstGeom prst="leftRightArrow">
            <a:avLst>
              <a:gd name="adj1" fmla="val 50000"/>
              <a:gd name="adj2" fmla="val 50017"/>
            </a:avLst>
          </a:prstGeom>
          <a:solidFill>
            <a:schemeClr val="accent1"/>
          </a:solidFill>
          <a:ln w="9525" algn="ctr">
            <a:noFill/>
            <a:round/>
            <a:headEnd/>
            <a:tailEnd/>
          </a:ln>
        </p:spPr>
        <p:txBody>
          <a:bodyPr/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endParaRPr lang="zh-CN" altLang="en-US" sz="120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29" name="TextBox 36"/>
          <p:cNvSpPr txBox="1">
            <a:spLocks noChangeArrowheads="1"/>
          </p:cNvSpPr>
          <p:nvPr/>
        </p:nvSpPr>
        <p:spPr bwMode="auto">
          <a:xfrm>
            <a:off x="4472986" y="4917037"/>
            <a:ext cx="876330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RTP/RTCP</a:t>
            </a:r>
            <a:endParaRPr lang="zh-CN" altLang="en-US" sz="120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30" name="TextBox 39"/>
          <p:cNvSpPr txBox="1">
            <a:spLocks noChangeArrowheads="1"/>
          </p:cNvSpPr>
          <p:nvPr/>
        </p:nvSpPr>
        <p:spPr bwMode="auto">
          <a:xfrm>
            <a:off x="2006274" y="1414465"/>
            <a:ext cx="508473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UAC</a:t>
            </a:r>
            <a:endParaRPr lang="zh-CN" altLang="en-US" sz="120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31" name="TextBox 40"/>
          <p:cNvSpPr txBox="1">
            <a:spLocks noChangeArrowheads="1"/>
          </p:cNvSpPr>
          <p:nvPr/>
        </p:nvSpPr>
        <p:spPr bwMode="auto">
          <a:xfrm>
            <a:off x="7596914" y="1439306"/>
            <a:ext cx="490840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UAS</a:t>
            </a:r>
            <a:endParaRPr lang="zh-CN" altLang="en-US" sz="1200">
              <a:solidFill>
                <a:schemeClr val="tx1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76329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7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1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 animBg="1"/>
      <p:bldP spid="29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87513" y="917575"/>
            <a:ext cx="1133475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6094" y="860268"/>
            <a:ext cx="1133475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4" name="直接连接符 5"/>
          <p:cNvCxnSpPr>
            <a:cxnSpLocks noChangeShapeType="1"/>
          </p:cNvCxnSpPr>
          <p:nvPr/>
        </p:nvCxnSpPr>
        <p:spPr bwMode="auto">
          <a:xfrm>
            <a:off x="2254250" y="1565275"/>
            <a:ext cx="0" cy="3364865"/>
          </a:xfrm>
          <a:prstGeom prst="line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" name="直接连接符 6"/>
          <p:cNvCxnSpPr>
            <a:cxnSpLocks noChangeShapeType="1"/>
          </p:cNvCxnSpPr>
          <p:nvPr/>
        </p:nvCxnSpPr>
        <p:spPr bwMode="auto">
          <a:xfrm>
            <a:off x="4499955" y="1565275"/>
            <a:ext cx="0" cy="1216025"/>
          </a:xfrm>
          <a:prstGeom prst="line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" name="直接连接符 7"/>
          <p:cNvCxnSpPr>
            <a:cxnSpLocks noChangeShapeType="1"/>
          </p:cNvCxnSpPr>
          <p:nvPr/>
        </p:nvCxnSpPr>
        <p:spPr bwMode="auto">
          <a:xfrm>
            <a:off x="6446462" y="1566863"/>
            <a:ext cx="8460" cy="3278441"/>
          </a:xfrm>
          <a:prstGeom prst="line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7" name="直接箭头连接符 6"/>
          <p:cNvCxnSpPr>
            <a:cxnSpLocks noChangeShapeType="1"/>
          </p:cNvCxnSpPr>
          <p:nvPr/>
        </p:nvCxnSpPr>
        <p:spPr bwMode="auto">
          <a:xfrm>
            <a:off x="2263775" y="1854200"/>
            <a:ext cx="2236180" cy="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" name="直接箭头连接符 7"/>
          <p:cNvCxnSpPr>
            <a:cxnSpLocks noChangeShapeType="1"/>
          </p:cNvCxnSpPr>
          <p:nvPr/>
        </p:nvCxnSpPr>
        <p:spPr bwMode="auto">
          <a:xfrm flipH="1">
            <a:off x="2254250" y="2318196"/>
            <a:ext cx="2236180" cy="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9" name="直接箭头连接符 8"/>
          <p:cNvCxnSpPr>
            <a:cxnSpLocks noChangeShapeType="1"/>
          </p:cNvCxnSpPr>
          <p:nvPr/>
        </p:nvCxnSpPr>
        <p:spPr bwMode="auto">
          <a:xfrm>
            <a:off x="2263775" y="2684193"/>
            <a:ext cx="2236180" cy="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0" name="TextBox 11"/>
          <p:cNvSpPr txBox="1">
            <a:spLocks noChangeArrowheads="1"/>
          </p:cNvSpPr>
          <p:nvPr/>
        </p:nvSpPr>
        <p:spPr bwMode="auto">
          <a:xfrm>
            <a:off x="3113219" y="1588135"/>
            <a:ext cx="68159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ea typeface="宋体" panose="02010600030101010101" pitchFamily="2" charset="-122"/>
              </a:rPr>
              <a:t>INVITE</a:t>
            </a:r>
            <a:endParaRPr lang="zh-CN" altLang="en-US" sz="1200">
              <a:solidFill>
                <a:schemeClr val="tx1"/>
              </a:solidFill>
              <a:ea typeface="宋体" panose="02010600030101010101" pitchFamily="2" charset="-122"/>
            </a:endParaRPr>
          </a:p>
        </p:txBody>
      </p:sp>
      <p:sp>
        <p:nvSpPr>
          <p:cNvPr id="11" name="TextBox 12"/>
          <p:cNvSpPr txBox="1">
            <a:spLocks noChangeArrowheads="1"/>
          </p:cNvSpPr>
          <p:nvPr/>
        </p:nvSpPr>
        <p:spPr bwMode="auto">
          <a:xfrm>
            <a:off x="3039428" y="1918086"/>
            <a:ext cx="942887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ea typeface="宋体" panose="02010600030101010101" pitchFamily="2" charset="-122"/>
              </a:rPr>
              <a:t>301 Moved</a:t>
            </a:r>
          </a:p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ea typeface="宋体" panose="02010600030101010101" pitchFamily="2" charset="-122"/>
              </a:rPr>
              <a:t>Permanent</a:t>
            </a:r>
            <a:endParaRPr lang="zh-CN" altLang="en-US" sz="1200">
              <a:solidFill>
                <a:schemeClr val="tx1"/>
              </a:solidFill>
              <a:ea typeface="宋体" panose="02010600030101010101" pitchFamily="2" charset="-122"/>
            </a:endParaRPr>
          </a:p>
        </p:txBody>
      </p:sp>
      <p:sp>
        <p:nvSpPr>
          <p:cNvPr id="12" name="TextBox 13"/>
          <p:cNvSpPr txBox="1">
            <a:spLocks noChangeArrowheads="1"/>
          </p:cNvSpPr>
          <p:nvPr/>
        </p:nvSpPr>
        <p:spPr bwMode="auto">
          <a:xfrm>
            <a:off x="3165476" y="2437972"/>
            <a:ext cx="500458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ea typeface="宋体" panose="02010600030101010101" pitchFamily="2" charset="-122"/>
              </a:rPr>
              <a:t>ACK</a:t>
            </a:r>
            <a:endParaRPr lang="zh-CN" altLang="en-US" sz="1200">
              <a:solidFill>
                <a:schemeClr val="tx1"/>
              </a:solidFill>
              <a:ea typeface="宋体" panose="02010600030101010101" pitchFamily="2" charset="-122"/>
            </a:endParaRPr>
          </a:p>
        </p:txBody>
      </p:sp>
      <p:sp>
        <p:nvSpPr>
          <p:cNvPr id="13" name="左右箭头 12"/>
          <p:cNvSpPr>
            <a:spLocks noChangeArrowheads="1"/>
          </p:cNvSpPr>
          <p:nvPr/>
        </p:nvSpPr>
        <p:spPr bwMode="auto">
          <a:xfrm>
            <a:off x="2254249" y="4435775"/>
            <a:ext cx="4192212" cy="215900"/>
          </a:xfrm>
          <a:prstGeom prst="leftRightArrow">
            <a:avLst>
              <a:gd name="adj1" fmla="val 50000"/>
              <a:gd name="adj2" fmla="val 50017"/>
            </a:avLst>
          </a:prstGeom>
          <a:solidFill>
            <a:schemeClr val="accent1"/>
          </a:solidFill>
          <a:ln w="9525" algn="ctr">
            <a:noFill/>
            <a:round/>
            <a:headEnd/>
            <a:tailEnd/>
          </a:ln>
        </p:spPr>
        <p:txBody>
          <a:bodyPr/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endParaRPr lang="zh-CN" altLang="en-US" sz="1200">
              <a:solidFill>
                <a:schemeClr val="tx1"/>
              </a:solidFill>
              <a:ea typeface="宋体" panose="02010600030101010101" pitchFamily="2" charset="-122"/>
            </a:endParaRPr>
          </a:p>
        </p:txBody>
      </p:sp>
      <p:sp>
        <p:nvSpPr>
          <p:cNvPr id="14" name="TextBox 15"/>
          <p:cNvSpPr txBox="1">
            <a:spLocks noChangeArrowheads="1"/>
          </p:cNvSpPr>
          <p:nvPr/>
        </p:nvSpPr>
        <p:spPr bwMode="auto">
          <a:xfrm>
            <a:off x="4044956" y="4599083"/>
            <a:ext cx="948593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ea typeface="宋体" panose="02010600030101010101" pitchFamily="2" charset="-122"/>
              </a:rPr>
              <a:t>RTP/RTCP</a:t>
            </a:r>
            <a:endParaRPr lang="zh-CN" altLang="en-US" sz="1200">
              <a:solidFill>
                <a:schemeClr val="tx1"/>
              </a:solidFill>
              <a:ea typeface="宋体" panose="02010600030101010101" pitchFamily="2" charset="-122"/>
            </a:endParaRPr>
          </a:p>
        </p:txBody>
      </p:sp>
      <p:sp>
        <p:nvSpPr>
          <p:cNvPr id="15" name="TextBox 16"/>
          <p:cNvSpPr txBox="1">
            <a:spLocks noChangeArrowheads="1"/>
          </p:cNvSpPr>
          <p:nvPr/>
        </p:nvSpPr>
        <p:spPr bwMode="auto">
          <a:xfrm>
            <a:off x="1522413" y="1036638"/>
            <a:ext cx="508473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ea typeface="宋体" panose="02010600030101010101" pitchFamily="2" charset="-122"/>
              </a:rPr>
              <a:t>UAC</a:t>
            </a:r>
            <a:endParaRPr lang="zh-CN" altLang="en-US" sz="1200">
              <a:solidFill>
                <a:schemeClr val="tx1"/>
              </a:solidFill>
              <a:ea typeface="宋体" panose="02010600030101010101" pitchFamily="2" charset="-122"/>
            </a:endParaRPr>
          </a:p>
        </p:txBody>
      </p:sp>
      <p:sp>
        <p:nvSpPr>
          <p:cNvPr id="16" name="TextBox 17"/>
          <p:cNvSpPr txBox="1">
            <a:spLocks noChangeArrowheads="1"/>
          </p:cNvSpPr>
          <p:nvPr/>
        </p:nvSpPr>
        <p:spPr bwMode="auto">
          <a:xfrm>
            <a:off x="6869430" y="997903"/>
            <a:ext cx="500458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ea typeface="宋体" panose="02010600030101010101" pitchFamily="2" charset="-122"/>
              </a:rPr>
              <a:t>UAS</a:t>
            </a:r>
            <a:endParaRPr lang="zh-CN" altLang="en-US" sz="1200">
              <a:solidFill>
                <a:schemeClr val="tx1"/>
              </a:solidFill>
              <a:ea typeface="宋体" panose="02010600030101010101" pitchFamily="2" charset="-122"/>
            </a:endParaRPr>
          </a:p>
        </p:txBody>
      </p:sp>
      <p:pic>
        <p:nvPicPr>
          <p:cNvPr id="17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03481" y="895193"/>
            <a:ext cx="1998663" cy="612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18" name="直接箭头连接符 17"/>
          <p:cNvCxnSpPr>
            <a:cxnSpLocks noChangeShapeType="1"/>
          </p:cNvCxnSpPr>
          <p:nvPr/>
        </p:nvCxnSpPr>
        <p:spPr bwMode="auto">
          <a:xfrm>
            <a:off x="2254249" y="3123092"/>
            <a:ext cx="4192212" cy="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9" name="TextBox 20"/>
          <p:cNvSpPr txBox="1">
            <a:spLocks noChangeArrowheads="1"/>
          </p:cNvSpPr>
          <p:nvPr/>
        </p:nvSpPr>
        <p:spPr bwMode="auto">
          <a:xfrm>
            <a:off x="4200757" y="2877775"/>
            <a:ext cx="68159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ea typeface="宋体" panose="02010600030101010101" pitchFamily="2" charset="-122"/>
              </a:rPr>
              <a:t>INVITE</a:t>
            </a:r>
            <a:endParaRPr lang="zh-CN" altLang="en-US" sz="1200">
              <a:solidFill>
                <a:schemeClr val="tx1"/>
              </a:solidFill>
              <a:ea typeface="宋体" panose="02010600030101010101" pitchFamily="2" charset="-122"/>
            </a:endParaRPr>
          </a:p>
        </p:txBody>
      </p:sp>
      <p:cxnSp>
        <p:nvCxnSpPr>
          <p:cNvPr id="20" name="直接箭头连接符 19"/>
          <p:cNvCxnSpPr>
            <a:cxnSpLocks noChangeShapeType="1"/>
          </p:cNvCxnSpPr>
          <p:nvPr/>
        </p:nvCxnSpPr>
        <p:spPr bwMode="auto">
          <a:xfrm flipH="1">
            <a:off x="2254250" y="3514476"/>
            <a:ext cx="4192211" cy="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1" name="TextBox 22"/>
          <p:cNvSpPr txBox="1">
            <a:spLocks noChangeArrowheads="1"/>
          </p:cNvSpPr>
          <p:nvPr/>
        </p:nvSpPr>
        <p:spPr bwMode="auto">
          <a:xfrm>
            <a:off x="4057288" y="3268255"/>
            <a:ext cx="1000595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ea typeface="宋体" panose="02010600030101010101" pitchFamily="2" charset="-122"/>
              </a:rPr>
              <a:t>180 Ringing</a:t>
            </a:r>
            <a:endParaRPr lang="zh-CN" altLang="en-US" sz="1200">
              <a:solidFill>
                <a:schemeClr val="tx1"/>
              </a:solidFill>
              <a:ea typeface="宋体" panose="02010600030101010101" pitchFamily="2" charset="-122"/>
            </a:endParaRPr>
          </a:p>
        </p:txBody>
      </p:sp>
      <p:cxnSp>
        <p:nvCxnSpPr>
          <p:cNvPr id="22" name="直接箭头连接符 21"/>
          <p:cNvCxnSpPr>
            <a:cxnSpLocks noChangeShapeType="1"/>
          </p:cNvCxnSpPr>
          <p:nvPr/>
        </p:nvCxnSpPr>
        <p:spPr bwMode="auto">
          <a:xfrm flipH="1">
            <a:off x="2263776" y="3905964"/>
            <a:ext cx="4192211" cy="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3" name="TextBox 24"/>
          <p:cNvSpPr txBox="1">
            <a:spLocks noChangeArrowheads="1"/>
          </p:cNvSpPr>
          <p:nvPr/>
        </p:nvSpPr>
        <p:spPr bwMode="auto">
          <a:xfrm>
            <a:off x="4181521" y="3668490"/>
            <a:ext cx="705642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ea typeface="宋体" panose="02010600030101010101" pitchFamily="2" charset="-122"/>
              </a:rPr>
              <a:t>200 OK</a:t>
            </a:r>
            <a:endParaRPr lang="zh-CN" altLang="en-US" sz="1200">
              <a:solidFill>
                <a:schemeClr val="tx1"/>
              </a:solidFill>
              <a:ea typeface="宋体" panose="02010600030101010101" pitchFamily="2" charset="-122"/>
            </a:endParaRPr>
          </a:p>
        </p:txBody>
      </p:sp>
      <p:cxnSp>
        <p:nvCxnSpPr>
          <p:cNvPr id="24" name="直接箭头连接符 23"/>
          <p:cNvCxnSpPr>
            <a:cxnSpLocks noChangeShapeType="1"/>
          </p:cNvCxnSpPr>
          <p:nvPr/>
        </p:nvCxnSpPr>
        <p:spPr bwMode="auto">
          <a:xfrm>
            <a:off x="2254249" y="4273264"/>
            <a:ext cx="4192212" cy="0"/>
          </a:xfrm>
          <a:prstGeom prst="straightConnector1">
            <a:avLst/>
          </a:prstGeom>
          <a:noFill/>
          <a:ln w="9525" algn="ctr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5" name="TextBox 26"/>
          <p:cNvSpPr txBox="1">
            <a:spLocks noChangeArrowheads="1"/>
          </p:cNvSpPr>
          <p:nvPr/>
        </p:nvSpPr>
        <p:spPr bwMode="auto">
          <a:xfrm>
            <a:off x="4234111" y="4038155"/>
            <a:ext cx="500458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lnSpc>
                <a:spcPct val="150000"/>
              </a:lnSpc>
              <a:spcBef>
                <a:spcPct val="20000"/>
              </a:spcBef>
              <a:buChar char="•"/>
              <a:defRPr sz="14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742950" indent="-28575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>
              <a:lnSpc>
                <a:spcPct val="150000"/>
              </a:lnSpc>
              <a:spcBef>
                <a:spcPct val="20000"/>
              </a:spcBef>
              <a:buChar char="•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>
              <a:lnSpc>
                <a:spcPct val="150000"/>
              </a:lnSpc>
              <a:spcBef>
                <a:spcPct val="20000"/>
              </a:spcBef>
              <a:buChar char="–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marL="2057400" indent="-228600">
              <a:lnSpc>
                <a:spcPct val="150000"/>
              </a:lnSpc>
              <a:spcBef>
                <a:spcPct val="20000"/>
              </a:spcBef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»"/>
              <a:defRPr sz="1200">
                <a:solidFill>
                  <a:srgbClr val="333333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200">
                <a:solidFill>
                  <a:schemeClr val="tx1"/>
                </a:solidFill>
                <a:ea typeface="宋体" panose="02010600030101010101" pitchFamily="2" charset="-122"/>
              </a:rPr>
              <a:t>ACK</a:t>
            </a:r>
            <a:endParaRPr lang="zh-CN" altLang="en-US" sz="1200">
              <a:solidFill>
                <a:schemeClr val="tx1"/>
              </a:solidFill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28055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  <p:bldP spid="13" grpId="0" animBg="1"/>
      <p:bldP spid="14" grpId="0"/>
      <p:bldP spid="19" grpId="0"/>
      <p:bldP spid="21" grpId="0"/>
      <p:bldP spid="23" grpId="0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769435" y="1155080"/>
            <a:ext cx="1815016" cy="25391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zh-CN" altLang="en-US" sz="1050" smtClean="0"/>
              <a:t>这个</a:t>
            </a:r>
            <a:r>
              <a:rPr lang="en-US" altLang="zh-CN" sz="1050" smtClean="0"/>
              <a:t>XML</a:t>
            </a:r>
            <a:r>
              <a:rPr lang="zh-CN" altLang="en-US" sz="1050" smtClean="0"/>
              <a:t>携带某个表格信息</a:t>
            </a:r>
            <a:endParaRPr lang="zh-CN" altLang="en-US" sz="1050"/>
          </a:p>
        </p:txBody>
      </p:sp>
      <p:sp>
        <p:nvSpPr>
          <p:cNvPr id="5" name="文本框 4"/>
          <p:cNvSpPr txBox="1"/>
          <p:nvPr/>
        </p:nvSpPr>
        <p:spPr>
          <a:xfrm>
            <a:off x="769435" y="1408996"/>
            <a:ext cx="1815016" cy="10618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zh-CN" sz="1050" smtClean="0"/>
              <a:t>&lt;table&gt;</a:t>
            </a:r>
          </a:p>
          <a:p>
            <a:r>
              <a:rPr lang="en-US" altLang="zh-CN" sz="1050" smtClean="0"/>
              <a:t>   &lt;tr&gt;</a:t>
            </a:r>
          </a:p>
          <a:p>
            <a:r>
              <a:rPr lang="en-US" altLang="zh-CN" sz="1050" smtClean="0"/>
              <a:t>   &lt;td&gt;Apples&lt;/td&gt;</a:t>
            </a:r>
          </a:p>
          <a:p>
            <a:r>
              <a:rPr lang="en-US" altLang="zh-CN" sz="1050" smtClean="0"/>
              <a:t>   &lt;td&gt;Bananas&lt;/td&gt;</a:t>
            </a:r>
          </a:p>
          <a:p>
            <a:r>
              <a:rPr lang="en-US" altLang="zh-CN" sz="1050" smtClean="0"/>
              <a:t>   &lt;/tr&gt;</a:t>
            </a:r>
          </a:p>
          <a:p>
            <a:r>
              <a:rPr lang="en-US" altLang="zh-CN" sz="1050" smtClean="0"/>
              <a:t>&lt;/table&gt;</a:t>
            </a:r>
            <a:endParaRPr lang="zh-CN" altLang="en-US" sz="1050"/>
          </a:p>
        </p:txBody>
      </p:sp>
      <p:sp>
        <p:nvSpPr>
          <p:cNvPr id="7" name="文本框 6"/>
          <p:cNvSpPr txBox="1"/>
          <p:nvPr/>
        </p:nvSpPr>
        <p:spPr>
          <a:xfrm>
            <a:off x="2972884" y="1160810"/>
            <a:ext cx="1986465" cy="25391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 sz="1050"/>
            </a:lvl1pPr>
          </a:lstStyle>
          <a:p>
            <a:r>
              <a:rPr lang="zh-CN" altLang="en-US"/>
              <a:t>这个</a:t>
            </a:r>
            <a:r>
              <a:rPr lang="en-US" altLang="zh-CN"/>
              <a:t>XML</a:t>
            </a:r>
            <a:r>
              <a:rPr lang="zh-CN" altLang="en-US"/>
              <a:t>携带有关桌子信息</a:t>
            </a:r>
          </a:p>
        </p:txBody>
      </p:sp>
      <p:sp>
        <p:nvSpPr>
          <p:cNvPr id="8" name="文本框 7"/>
          <p:cNvSpPr txBox="1"/>
          <p:nvPr/>
        </p:nvSpPr>
        <p:spPr>
          <a:xfrm>
            <a:off x="2972885" y="1408995"/>
            <a:ext cx="1986464" cy="9002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zh-CN" sz="1050" smtClean="0"/>
              <a:t>&lt;table&gt;</a:t>
            </a:r>
          </a:p>
          <a:p>
            <a:r>
              <a:rPr lang="en-US" altLang="zh-CN" sz="1050" smtClean="0"/>
              <a:t>   &lt;name&gt;Tea Table&lt;/name&gt;</a:t>
            </a:r>
          </a:p>
          <a:p>
            <a:r>
              <a:rPr lang="en-US" altLang="zh-CN" sz="1050" smtClean="0"/>
              <a:t>   &lt;width&gt;80&lt;/width&gt;</a:t>
            </a:r>
          </a:p>
          <a:p>
            <a:r>
              <a:rPr lang="en-US" altLang="zh-CN" sz="1050" smtClean="0"/>
              <a:t>   &lt;length&gt;120&lt;/length&gt;</a:t>
            </a:r>
          </a:p>
          <a:p>
            <a:r>
              <a:rPr lang="en-US" altLang="zh-CN" sz="1050" smtClean="0"/>
              <a:t>&lt;/table&gt;</a:t>
            </a:r>
            <a:endParaRPr lang="zh-CN" altLang="en-US" sz="1050"/>
          </a:p>
        </p:txBody>
      </p:sp>
      <p:sp>
        <p:nvSpPr>
          <p:cNvPr id="9" name="上弧形箭头 8"/>
          <p:cNvSpPr/>
          <p:nvPr/>
        </p:nvSpPr>
        <p:spPr>
          <a:xfrm>
            <a:off x="1727200" y="787667"/>
            <a:ext cx="2190750" cy="329580"/>
          </a:xfrm>
          <a:prstGeom prst="curvedDown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1506034" y="350388"/>
            <a:ext cx="2762250" cy="41549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 sz="1050"/>
            </a:lvl1pPr>
          </a:lstStyle>
          <a:p>
            <a:r>
              <a:rPr lang="zh-CN" altLang="en-US"/>
              <a:t>命名冲突，如果两个这</a:t>
            </a:r>
            <a:r>
              <a:rPr lang="en-US" altLang="zh-CN"/>
              <a:t>XML</a:t>
            </a:r>
            <a:r>
              <a:rPr lang="zh-CN" altLang="en-US"/>
              <a:t>文档一起使用，</a:t>
            </a:r>
            <a:r>
              <a:rPr lang="en-US" altLang="zh-CN"/>
              <a:t>XML</a:t>
            </a:r>
            <a:r>
              <a:rPr lang="zh-CN" altLang="en-US"/>
              <a:t>解析器无法处理</a:t>
            </a:r>
          </a:p>
        </p:txBody>
      </p:sp>
      <p:sp>
        <p:nvSpPr>
          <p:cNvPr id="11" name="文本框 10"/>
          <p:cNvSpPr txBox="1"/>
          <p:nvPr/>
        </p:nvSpPr>
        <p:spPr>
          <a:xfrm>
            <a:off x="990601" y="3460130"/>
            <a:ext cx="1815016" cy="25391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zh-CN" altLang="en-US" sz="1050" smtClean="0"/>
              <a:t>这个</a:t>
            </a:r>
            <a:r>
              <a:rPr lang="en-US" altLang="zh-CN" sz="1050" smtClean="0"/>
              <a:t>XML</a:t>
            </a:r>
            <a:r>
              <a:rPr lang="zh-CN" altLang="en-US" sz="1050" smtClean="0"/>
              <a:t>携带某个表格信息</a:t>
            </a:r>
            <a:endParaRPr lang="zh-CN" altLang="en-US" sz="1050"/>
          </a:p>
        </p:txBody>
      </p:sp>
      <p:sp>
        <p:nvSpPr>
          <p:cNvPr id="12" name="文本框 11"/>
          <p:cNvSpPr txBox="1"/>
          <p:nvPr/>
        </p:nvSpPr>
        <p:spPr>
          <a:xfrm>
            <a:off x="990601" y="3714046"/>
            <a:ext cx="1815016" cy="10618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zh-CN" sz="1050" smtClean="0"/>
              <a:t>&lt;h:table&gt;</a:t>
            </a:r>
          </a:p>
          <a:p>
            <a:r>
              <a:rPr lang="en-US" altLang="zh-CN" sz="1050" smtClean="0"/>
              <a:t>   &lt;h:tr&gt;</a:t>
            </a:r>
          </a:p>
          <a:p>
            <a:r>
              <a:rPr lang="en-US" altLang="zh-CN" sz="1050" smtClean="0"/>
              <a:t>   &lt;h:td&gt;Apples&lt;/h:td&gt;</a:t>
            </a:r>
          </a:p>
          <a:p>
            <a:r>
              <a:rPr lang="en-US" altLang="zh-CN" sz="1050" smtClean="0"/>
              <a:t>   &lt;h:td&gt;Bananas&lt;/h:td&gt;</a:t>
            </a:r>
          </a:p>
          <a:p>
            <a:r>
              <a:rPr lang="en-US" altLang="zh-CN" sz="1050" smtClean="0"/>
              <a:t>   &lt;/h:tr&gt;</a:t>
            </a:r>
          </a:p>
          <a:p>
            <a:r>
              <a:rPr lang="en-US" altLang="zh-CN" sz="1050" smtClean="0"/>
              <a:t>&lt;/h:table&gt;</a:t>
            </a:r>
            <a:endParaRPr lang="zh-CN" altLang="en-US" sz="1050"/>
          </a:p>
        </p:txBody>
      </p:sp>
      <p:sp>
        <p:nvSpPr>
          <p:cNvPr id="13" name="文本框 12"/>
          <p:cNvSpPr txBox="1"/>
          <p:nvPr/>
        </p:nvSpPr>
        <p:spPr>
          <a:xfrm>
            <a:off x="3194050" y="3465860"/>
            <a:ext cx="2032001" cy="25391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 sz="1050"/>
            </a:lvl1pPr>
          </a:lstStyle>
          <a:p>
            <a:r>
              <a:rPr lang="zh-CN" altLang="en-US"/>
              <a:t>这个</a:t>
            </a:r>
            <a:r>
              <a:rPr lang="en-US" altLang="zh-CN"/>
              <a:t>XML</a:t>
            </a:r>
            <a:r>
              <a:rPr lang="zh-CN" altLang="en-US"/>
              <a:t>携带有关桌子信息</a:t>
            </a:r>
          </a:p>
        </p:txBody>
      </p:sp>
      <p:sp>
        <p:nvSpPr>
          <p:cNvPr id="14" name="文本框 13"/>
          <p:cNvSpPr txBox="1"/>
          <p:nvPr/>
        </p:nvSpPr>
        <p:spPr>
          <a:xfrm>
            <a:off x="3194051" y="3714045"/>
            <a:ext cx="2032000" cy="9002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zh-CN" sz="1050" smtClean="0"/>
              <a:t>&lt;f:table&gt;</a:t>
            </a:r>
          </a:p>
          <a:p>
            <a:r>
              <a:rPr lang="en-US" altLang="zh-CN" sz="1050" smtClean="0"/>
              <a:t>   &lt;f:name&gt;Tea Table&lt;/f:name&gt;</a:t>
            </a:r>
          </a:p>
          <a:p>
            <a:r>
              <a:rPr lang="en-US" altLang="zh-CN" sz="1050" smtClean="0"/>
              <a:t>   &lt;f:width&gt;80&lt;/f:width&gt;</a:t>
            </a:r>
          </a:p>
          <a:p>
            <a:r>
              <a:rPr lang="en-US" altLang="zh-CN" sz="1050" smtClean="0"/>
              <a:t>   &lt;f:length&gt;120&lt;/f:length&gt;</a:t>
            </a:r>
          </a:p>
          <a:p>
            <a:r>
              <a:rPr lang="en-US" altLang="zh-CN" sz="1050" smtClean="0"/>
              <a:t>&lt;/f:table&gt;</a:t>
            </a:r>
            <a:endParaRPr lang="zh-CN" altLang="en-US" sz="1050"/>
          </a:p>
        </p:txBody>
      </p:sp>
      <p:sp>
        <p:nvSpPr>
          <p:cNvPr id="15" name="上弧形箭头 14"/>
          <p:cNvSpPr/>
          <p:nvPr/>
        </p:nvSpPr>
        <p:spPr>
          <a:xfrm>
            <a:off x="1948366" y="3092717"/>
            <a:ext cx="2190750" cy="329580"/>
          </a:xfrm>
          <a:prstGeom prst="curvedDown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1676943" y="2655438"/>
            <a:ext cx="2844800" cy="41549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 sz="1050"/>
            </a:lvl1pPr>
          </a:lstStyle>
          <a:p>
            <a:r>
              <a:rPr lang="zh-CN" altLang="en-US" smtClean="0"/>
              <a:t>使用了前缀，避免命名冲突，此时</a:t>
            </a:r>
            <a:r>
              <a:rPr lang="en-US" altLang="zh-CN" smtClean="0"/>
              <a:t>&lt;table&gt;</a:t>
            </a:r>
            <a:r>
              <a:rPr lang="zh-CN" altLang="en-US" smtClean="0"/>
              <a:t>元素的名称已经不同（</a:t>
            </a:r>
            <a:r>
              <a:rPr lang="en-US" altLang="zh-CN" smtClean="0"/>
              <a:t>&lt;h:table&gt; ≠</a:t>
            </a:r>
            <a:r>
              <a:rPr lang="zh-CN" altLang="en-US" smtClean="0"/>
              <a:t> </a:t>
            </a:r>
            <a:r>
              <a:rPr lang="en-US" altLang="zh-CN" smtClean="0"/>
              <a:t>&lt;f:table&gt;</a:t>
            </a:r>
            <a:r>
              <a:rPr lang="zh-CN" altLang="en-US" smtClean="0"/>
              <a:t>）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501452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框 10"/>
          <p:cNvSpPr txBox="1"/>
          <p:nvPr/>
        </p:nvSpPr>
        <p:spPr>
          <a:xfrm>
            <a:off x="177800" y="1561479"/>
            <a:ext cx="2851150" cy="25391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50" smtClean="0"/>
              <a:t>这个</a:t>
            </a:r>
            <a:r>
              <a:rPr lang="en-US" altLang="zh-CN" sz="1050" smtClean="0"/>
              <a:t>XML</a:t>
            </a:r>
            <a:r>
              <a:rPr lang="zh-CN" altLang="en-US" sz="1050" smtClean="0"/>
              <a:t>携带某个表格信息</a:t>
            </a:r>
            <a:endParaRPr lang="zh-CN" altLang="en-US" sz="1050"/>
          </a:p>
        </p:txBody>
      </p:sp>
      <p:sp>
        <p:nvSpPr>
          <p:cNvPr id="12" name="文本框 11"/>
          <p:cNvSpPr txBox="1"/>
          <p:nvPr/>
        </p:nvSpPr>
        <p:spPr>
          <a:xfrm>
            <a:off x="177800" y="1815395"/>
            <a:ext cx="2851150" cy="10618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zh-CN" sz="1050" smtClean="0"/>
              <a:t>&lt;h:table xmlns:h=“https://www.baidu.com/”&gt;</a:t>
            </a:r>
          </a:p>
          <a:p>
            <a:r>
              <a:rPr lang="en-US" altLang="zh-CN" sz="1050" smtClean="0"/>
              <a:t>   &lt;h:tr&gt;</a:t>
            </a:r>
          </a:p>
          <a:p>
            <a:r>
              <a:rPr lang="en-US" altLang="zh-CN" sz="1050" smtClean="0"/>
              <a:t>   &lt;h:td&gt;Apples&lt;/h:td&gt;</a:t>
            </a:r>
          </a:p>
          <a:p>
            <a:r>
              <a:rPr lang="en-US" altLang="zh-CN" sz="1050" smtClean="0"/>
              <a:t>   &lt;h:td&gt;Bananas&lt;/h:td&gt;</a:t>
            </a:r>
          </a:p>
          <a:p>
            <a:r>
              <a:rPr lang="en-US" altLang="zh-CN" sz="1050" smtClean="0"/>
              <a:t>   &lt;/h:tr&gt;</a:t>
            </a:r>
          </a:p>
          <a:p>
            <a:r>
              <a:rPr lang="en-US" altLang="zh-CN" sz="1050" smtClean="0"/>
              <a:t>&lt;/h:table&gt;</a:t>
            </a:r>
            <a:endParaRPr lang="zh-CN" altLang="en-US" sz="1050"/>
          </a:p>
        </p:txBody>
      </p:sp>
      <p:sp>
        <p:nvSpPr>
          <p:cNvPr id="13" name="文本框 12"/>
          <p:cNvSpPr txBox="1"/>
          <p:nvPr/>
        </p:nvSpPr>
        <p:spPr>
          <a:xfrm>
            <a:off x="3092450" y="1567210"/>
            <a:ext cx="2857500" cy="25391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 sz="1050"/>
            </a:lvl1pPr>
          </a:lstStyle>
          <a:p>
            <a:pPr algn="ctr"/>
            <a:r>
              <a:rPr lang="zh-CN" altLang="en-US"/>
              <a:t>这个</a:t>
            </a:r>
            <a:r>
              <a:rPr lang="en-US" altLang="zh-CN"/>
              <a:t>XML</a:t>
            </a:r>
            <a:r>
              <a:rPr lang="zh-CN" altLang="en-US"/>
              <a:t>携带有关桌子信息</a:t>
            </a:r>
          </a:p>
        </p:txBody>
      </p:sp>
      <p:sp>
        <p:nvSpPr>
          <p:cNvPr id="14" name="文本框 13"/>
          <p:cNvSpPr txBox="1"/>
          <p:nvPr/>
        </p:nvSpPr>
        <p:spPr>
          <a:xfrm>
            <a:off x="3092450" y="1815395"/>
            <a:ext cx="2857500" cy="9002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zh-CN" sz="1050" smtClean="0"/>
              <a:t>&lt;f:table xmlns:f=“https://www.google.com/”&gt;</a:t>
            </a:r>
          </a:p>
          <a:p>
            <a:r>
              <a:rPr lang="en-US" altLang="zh-CN" sz="1050" smtClean="0"/>
              <a:t>   &lt;f:name&gt;Tea Table&lt;/f:name&gt;</a:t>
            </a:r>
          </a:p>
          <a:p>
            <a:r>
              <a:rPr lang="en-US" altLang="zh-CN" sz="1050" smtClean="0"/>
              <a:t>   &lt;f:width&gt;80&lt;/f:width&gt;</a:t>
            </a:r>
          </a:p>
          <a:p>
            <a:r>
              <a:rPr lang="en-US" altLang="zh-CN" sz="1050" smtClean="0"/>
              <a:t>   &lt;f:length&gt;120&lt;/f:length&gt;</a:t>
            </a:r>
          </a:p>
          <a:p>
            <a:r>
              <a:rPr lang="en-US" altLang="zh-CN" sz="1050" smtClean="0"/>
              <a:t>&lt;/f:table&gt;</a:t>
            </a:r>
            <a:endParaRPr lang="zh-CN" altLang="en-US" sz="1050"/>
          </a:p>
        </p:txBody>
      </p:sp>
      <p:sp>
        <p:nvSpPr>
          <p:cNvPr id="15" name="上弧形箭头 14"/>
          <p:cNvSpPr/>
          <p:nvPr/>
        </p:nvSpPr>
        <p:spPr>
          <a:xfrm>
            <a:off x="1339849" y="1194067"/>
            <a:ext cx="3126019" cy="367412"/>
          </a:xfrm>
          <a:prstGeom prst="curvedDown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1359170" y="778569"/>
            <a:ext cx="3047457" cy="41549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 sz="1050"/>
            </a:lvl1pPr>
          </a:lstStyle>
          <a:p>
            <a:r>
              <a:rPr lang="zh-CN" altLang="en-US" smtClean="0"/>
              <a:t>不仅使用了前缀，两个</a:t>
            </a:r>
            <a:r>
              <a:rPr lang="en-US" altLang="zh-CN" smtClean="0"/>
              <a:t>table</a:t>
            </a:r>
            <a:r>
              <a:rPr lang="zh-CN" altLang="en-US" smtClean="0"/>
              <a:t>元素还都使用了</a:t>
            </a:r>
            <a:r>
              <a:rPr lang="en-US" altLang="zh-CN" smtClean="0"/>
              <a:t>xmlns</a:t>
            </a:r>
            <a:r>
              <a:rPr lang="zh-CN" altLang="en-US" smtClean="0"/>
              <a:t>属性，使元素和不同的命名空间相关联</a:t>
            </a:r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723900" y="3974479"/>
            <a:ext cx="2616200" cy="25391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50" smtClean="0"/>
              <a:t>这个</a:t>
            </a:r>
            <a:r>
              <a:rPr lang="en-US" altLang="zh-CN" sz="1050" smtClean="0"/>
              <a:t>XML</a:t>
            </a:r>
            <a:r>
              <a:rPr lang="zh-CN" altLang="en-US" sz="1050" smtClean="0"/>
              <a:t>携带某个表格信息</a:t>
            </a:r>
            <a:endParaRPr lang="zh-CN" altLang="en-US" sz="1050"/>
          </a:p>
        </p:txBody>
      </p:sp>
      <p:sp>
        <p:nvSpPr>
          <p:cNvPr id="18" name="文本框 17"/>
          <p:cNvSpPr txBox="1"/>
          <p:nvPr/>
        </p:nvSpPr>
        <p:spPr>
          <a:xfrm>
            <a:off x="723900" y="4228395"/>
            <a:ext cx="2616200" cy="10618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zh-CN" sz="1050" smtClean="0"/>
              <a:t>&lt;table xmlns=“https://www.baidu.com/”&gt;</a:t>
            </a:r>
          </a:p>
          <a:p>
            <a:r>
              <a:rPr lang="en-US" altLang="zh-CN" sz="1050" smtClean="0"/>
              <a:t>   &lt;tr&gt;</a:t>
            </a:r>
          </a:p>
          <a:p>
            <a:r>
              <a:rPr lang="en-US" altLang="zh-CN" sz="1050" smtClean="0"/>
              <a:t>   &lt;td&gt;Apples&lt;/td&gt;</a:t>
            </a:r>
          </a:p>
          <a:p>
            <a:r>
              <a:rPr lang="en-US" altLang="zh-CN" sz="1050" smtClean="0"/>
              <a:t>   &lt;td&gt;Bananas&lt;/td&gt;</a:t>
            </a:r>
          </a:p>
          <a:p>
            <a:r>
              <a:rPr lang="en-US" altLang="zh-CN" sz="1050" smtClean="0"/>
              <a:t>   &lt;/tr&gt;</a:t>
            </a:r>
          </a:p>
          <a:p>
            <a:r>
              <a:rPr lang="en-US" altLang="zh-CN" sz="1050" smtClean="0"/>
              <a:t>&lt;/table&gt;</a:t>
            </a:r>
            <a:endParaRPr lang="zh-CN" altLang="en-US" sz="1050"/>
          </a:p>
        </p:txBody>
      </p:sp>
      <p:sp>
        <p:nvSpPr>
          <p:cNvPr id="19" name="文本框 18"/>
          <p:cNvSpPr txBox="1"/>
          <p:nvPr/>
        </p:nvSpPr>
        <p:spPr>
          <a:xfrm>
            <a:off x="3638550" y="3980210"/>
            <a:ext cx="2717800" cy="25391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 sz="1050"/>
            </a:lvl1pPr>
          </a:lstStyle>
          <a:p>
            <a:pPr algn="ctr"/>
            <a:r>
              <a:rPr lang="zh-CN" altLang="en-US"/>
              <a:t>这个</a:t>
            </a:r>
            <a:r>
              <a:rPr lang="en-US" altLang="zh-CN"/>
              <a:t>XML</a:t>
            </a:r>
            <a:r>
              <a:rPr lang="zh-CN" altLang="en-US"/>
              <a:t>携带有关桌子信息</a:t>
            </a:r>
          </a:p>
        </p:txBody>
      </p:sp>
      <p:sp>
        <p:nvSpPr>
          <p:cNvPr id="20" name="文本框 19"/>
          <p:cNvSpPr txBox="1"/>
          <p:nvPr/>
        </p:nvSpPr>
        <p:spPr>
          <a:xfrm>
            <a:off x="3638550" y="4228395"/>
            <a:ext cx="2717800" cy="9002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zh-CN" sz="1050" smtClean="0"/>
              <a:t>&lt;table xmlns=“https://www.google.com/”&gt;</a:t>
            </a:r>
          </a:p>
          <a:p>
            <a:r>
              <a:rPr lang="en-US" altLang="zh-CN" sz="1050" smtClean="0"/>
              <a:t>   &lt;name&gt;Tea Table&lt;/name&gt;</a:t>
            </a:r>
          </a:p>
          <a:p>
            <a:r>
              <a:rPr lang="en-US" altLang="zh-CN" sz="1050" smtClean="0"/>
              <a:t>   &lt;width&gt;80&lt;/width&gt;</a:t>
            </a:r>
          </a:p>
          <a:p>
            <a:r>
              <a:rPr lang="en-US" altLang="zh-CN" sz="1050" smtClean="0"/>
              <a:t>   &lt;length&gt;120&lt;/length&gt;</a:t>
            </a:r>
          </a:p>
          <a:p>
            <a:r>
              <a:rPr lang="en-US" altLang="zh-CN" sz="1050" smtClean="0"/>
              <a:t>&lt;/table&gt;</a:t>
            </a:r>
            <a:endParaRPr lang="zh-CN" altLang="en-US" sz="1050"/>
          </a:p>
        </p:txBody>
      </p:sp>
      <p:sp>
        <p:nvSpPr>
          <p:cNvPr id="21" name="上弧形箭头 20"/>
          <p:cNvSpPr/>
          <p:nvPr/>
        </p:nvSpPr>
        <p:spPr>
          <a:xfrm>
            <a:off x="1885949" y="3607067"/>
            <a:ext cx="3126019" cy="367412"/>
          </a:xfrm>
          <a:prstGeom prst="curvedDown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1905270" y="3191569"/>
            <a:ext cx="3047457" cy="41549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 sz="1050"/>
            </a:lvl1pPr>
          </a:lstStyle>
          <a:p>
            <a:r>
              <a:rPr lang="zh-CN" altLang="en-US" smtClean="0"/>
              <a:t>默认命名空间，省去在所有的子元素中使用前缀的工作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885351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文本框 19"/>
          <p:cNvSpPr txBox="1"/>
          <p:nvPr/>
        </p:nvSpPr>
        <p:spPr>
          <a:xfrm>
            <a:off x="5328211" y="2512844"/>
            <a:ext cx="788948" cy="415498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zh-CN"/>
            </a:defPPr>
            <a:lvl1pPr>
              <a:defRPr sz="1050"/>
            </a:lvl1pPr>
          </a:lstStyle>
          <a:p>
            <a:pPr algn="ctr"/>
            <a:r>
              <a:rPr lang="zh-CN" altLang="en-US" smtClean="0"/>
              <a:t>虚拟内存系统</a:t>
            </a:r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2712853" y="2666732"/>
            <a:ext cx="875757" cy="26161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zh-CN"/>
            </a:defPPr>
            <a:lvl1pPr>
              <a:defRPr sz="1050"/>
            </a:lvl1pPr>
          </a:lstStyle>
          <a:p>
            <a:r>
              <a:rPr lang="zh-CN" altLang="en-US" smtClean="0"/>
              <a:t>文件映射</a:t>
            </a:r>
            <a:endParaRPr lang="zh-CN" altLang="en-US"/>
          </a:p>
        </p:txBody>
      </p:sp>
      <p:sp>
        <p:nvSpPr>
          <p:cNvPr id="12" name="矩形 11"/>
          <p:cNvSpPr/>
          <p:nvPr/>
        </p:nvSpPr>
        <p:spPr>
          <a:xfrm>
            <a:off x="3512820" y="2257782"/>
            <a:ext cx="1783080" cy="135409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  <a:shade val="30000"/>
                  <a:satMod val="115000"/>
                </a:schemeClr>
              </a:gs>
              <a:gs pos="50000">
                <a:schemeClr val="accent1">
                  <a:lumMod val="20000"/>
                  <a:lumOff val="80000"/>
                  <a:shade val="67500"/>
                  <a:satMod val="115000"/>
                </a:schemeClr>
              </a:gs>
              <a:gs pos="100000">
                <a:schemeClr val="accent1">
                  <a:lumMod val="20000"/>
                  <a:lumOff val="80000"/>
                  <a:shade val="100000"/>
                  <a:satMod val="115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/>
          <p:cNvSpPr txBox="1"/>
          <p:nvPr/>
        </p:nvSpPr>
        <p:spPr>
          <a:xfrm>
            <a:off x="3674673" y="2655436"/>
            <a:ext cx="1480459" cy="57708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 sz="1050"/>
            </a:lvl1pPr>
          </a:lstStyle>
          <a:p>
            <a:pPr algn="ctr"/>
            <a:r>
              <a:rPr lang="zh-CN" altLang="en-US" smtClean="0"/>
              <a:t>文件视图</a:t>
            </a:r>
            <a:endParaRPr lang="en-US" altLang="zh-CN" smtClean="0"/>
          </a:p>
          <a:p>
            <a:pPr algn="ctr"/>
            <a:r>
              <a:rPr lang="zh-CN" altLang="en-US" smtClean="0"/>
              <a:t>（文件视图即进程虚拟内存空间的一部分）</a:t>
            </a:r>
            <a:endParaRPr lang="zh-CN" altLang="en-US"/>
          </a:p>
        </p:txBody>
      </p:sp>
      <p:cxnSp>
        <p:nvCxnSpPr>
          <p:cNvPr id="7" name="直接箭头连接符 6"/>
          <p:cNvCxnSpPr>
            <a:endCxn id="5" idx="1"/>
          </p:cNvCxnSpPr>
          <p:nvPr/>
        </p:nvCxnSpPr>
        <p:spPr>
          <a:xfrm flipV="1">
            <a:off x="2552699" y="2943977"/>
            <a:ext cx="1121974" cy="1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矩形 14"/>
          <p:cNvSpPr/>
          <p:nvPr/>
        </p:nvSpPr>
        <p:spPr>
          <a:xfrm>
            <a:off x="6095867" y="2387322"/>
            <a:ext cx="1642519" cy="108204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  <a:shade val="30000"/>
                  <a:satMod val="115000"/>
                </a:schemeClr>
              </a:gs>
              <a:gs pos="50000">
                <a:schemeClr val="accent1">
                  <a:lumMod val="20000"/>
                  <a:lumOff val="80000"/>
                  <a:shade val="67500"/>
                  <a:satMod val="115000"/>
                </a:schemeClr>
              </a:gs>
              <a:gs pos="100000">
                <a:schemeClr val="accent1">
                  <a:lumMod val="20000"/>
                  <a:lumOff val="80000"/>
                  <a:shade val="100000"/>
                  <a:satMod val="115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50">
                <a:solidFill>
                  <a:schemeClr val="tx1"/>
                </a:solidFill>
              </a:rPr>
              <a:t>物理内存</a:t>
            </a:r>
          </a:p>
        </p:txBody>
      </p:sp>
      <p:cxnSp>
        <p:nvCxnSpPr>
          <p:cNvPr id="19" name="直接箭头连接符 18"/>
          <p:cNvCxnSpPr>
            <a:stCxn id="12" idx="3"/>
            <a:endCxn id="15" idx="1"/>
          </p:cNvCxnSpPr>
          <p:nvPr/>
        </p:nvCxnSpPr>
        <p:spPr>
          <a:xfrm flipV="1">
            <a:off x="5295900" y="2928342"/>
            <a:ext cx="799967" cy="648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文本框 20"/>
          <p:cNvSpPr txBox="1"/>
          <p:nvPr/>
        </p:nvSpPr>
        <p:spPr>
          <a:xfrm>
            <a:off x="3750192" y="3295240"/>
            <a:ext cx="1329419" cy="253916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zh-CN"/>
            </a:defPPr>
            <a:lvl1pPr>
              <a:defRPr sz="1050"/>
            </a:lvl1pPr>
          </a:lstStyle>
          <a:p>
            <a:r>
              <a:rPr lang="zh-CN" altLang="en-US" smtClean="0"/>
              <a:t>进程虚拟内存空间</a:t>
            </a:r>
            <a:endParaRPr lang="zh-CN" altLang="en-US"/>
          </a:p>
        </p:txBody>
      </p:sp>
      <p:sp>
        <p:nvSpPr>
          <p:cNvPr id="28" name="文本框 27"/>
          <p:cNvSpPr txBox="1"/>
          <p:nvPr/>
        </p:nvSpPr>
        <p:spPr>
          <a:xfrm>
            <a:off x="1091626" y="2666732"/>
            <a:ext cx="1480459" cy="577081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  <a:shade val="30000"/>
                  <a:satMod val="115000"/>
                </a:schemeClr>
              </a:gs>
              <a:gs pos="50000">
                <a:schemeClr val="accent1">
                  <a:lumMod val="20000"/>
                  <a:lumOff val="80000"/>
                  <a:shade val="67500"/>
                  <a:satMod val="115000"/>
                </a:schemeClr>
              </a:gs>
              <a:gs pos="100000">
                <a:schemeClr val="accent1">
                  <a:lumMod val="20000"/>
                  <a:lumOff val="80000"/>
                  <a:shade val="100000"/>
                  <a:satMod val="115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zh-CN"/>
            </a:defPPr>
            <a:lvl1pPr algn="ctr">
              <a:defRPr sz="1050"/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endParaRPr lang="en-US" altLang="zh-CN"/>
          </a:p>
          <a:p>
            <a:r>
              <a:rPr lang="zh-CN" altLang="en-US">
                <a:solidFill>
                  <a:schemeClr val="tx1"/>
                </a:solidFill>
              </a:rPr>
              <a:t>磁盘文件</a:t>
            </a:r>
            <a:endParaRPr lang="en-US" altLang="zh-CN">
              <a:solidFill>
                <a:schemeClr val="tx1"/>
              </a:solidFill>
            </a:endParaRPr>
          </a:p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6383616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8238317"/>
              </p:ext>
            </p:extLst>
          </p:nvPr>
        </p:nvGraphicFramePr>
        <p:xfrm>
          <a:off x="1472276" y="731780"/>
          <a:ext cx="4503074" cy="275431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34787">
                  <a:extLst>
                    <a:ext uri="{9D8B030D-6E8A-4147-A177-3AD203B41FA5}">
                      <a16:colId xmlns:a16="http://schemas.microsoft.com/office/drawing/2014/main" val="2672957971"/>
                    </a:ext>
                  </a:extLst>
                </a:gridCol>
                <a:gridCol w="2768287">
                  <a:extLst>
                    <a:ext uri="{9D8B030D-6E8A-4147-A177-3AD203B41FA5}">
                      <a16:colId xmlns:a16="http://schemas.microsoft.com/office/drawing/2014/main" val="425931253"/>
                    </a:ext>
                  </a:extLst>
                </a:gridCol>
              </a:tblGrid>
              <a:tr h="342212">
                <a:tc>
                  <a:txBody>
                    <a:bodyPr/>
                    <a:lstStyle/>
                    <a:p>
                      <a:r>
                        <a:rPr lang="zh-CN" altLang="en-US" sz="110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内存地址</a:t>
                      </a:r>
                      <a:endParaRPr lang="zh-CN" altLang="en-US"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gradFill flip="none" rotWithShape="1">
                      <a:gsLst>
                        <a:gs pos="0">
                          <a:schemeClr val="accent1">
                            <a:tint val="66000"/>
                            <a:satMod val="160000"/>
                          </a:schemeClr>
                        </a:gs>
                        <a:gs pos="50000">
                          <a:schemeClr val="accent1">
                            <a:tint val="44500"/>
                            <a:satMod val="160000"/>
                          </a:schemeClr>
                        </a:gs>
                        <a:gs pos="100000">
                          <a:schemeClr val="accent1">
                            <a:tint val="23500"/>
                            <a:satMod val="160000"/>
                          </a:schemeClr>
                        </a:gs>
                      </a:gsLst>
                      <a:lin ang="18900000" scaled="1"/>
                      <a:tileRect/>
                    </a:gra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10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页面状态</a:t>
                      </a:r>
                      <a:endParaRPr lang="zh-CN" altLang="en-US"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gradFill flip="none" rotWithShape="1">
                      <a:gsLst>
                        <a:gs pos="0">
                          <a:schemeClr val="accent1">
                            <a:tint val="66000"/>
                            <a:satMod val="160000"/>
                          </a:schemeClr>
                        </a:gs>
                        <a:gs pos="50000">
                          <a:schemeClr val="accent1">
                            <a:tint val="44500"/>
                            <a:satMod val="160000"/>
                          </a:schemeClr>
                        </a:gs>
                        <a:gs pos="100000">
                          <a:schemeClr val="accent1">
                            <a:tint val="23500"/>
                            <a:satMod val="160000"/>
                          </a:schemeClr>
                        </a:gs>
                      </a:gsLst>
                      <a:lin ang="18900000" scaled="1"/>
                      <a:tileRect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889628359"/>
                  </a:ext>
                </a:extLst>
              </a:tr>
              <a:tr h="342212">
                <a:tc>
                  <a:txBody>
                    <a:bodyPr/>
                    <a:lstStyle/>
                    <a:p>
                      <a:r>
                        <a:rPr lang="zh-CN" altLang="en-US" sz="110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第一个页面</a:t>
                      </a:r>
                      <a:r>
                        <a:rPr lang="en-US" altLang="zh-CN" sz="110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4KB</a:t>
                      </a:r>
                      <a:endParaRPr lang="zh-CN" altLang="en-US"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gradFill flip="none" rotWithShape="1">
                      <a:gsLst>
                        <a:gs pos="0">
                          <a:schemeClr val="accent1">
                            <a:tint val="66000"/>
                            <a:satMod val="160000"/>
                          </a:schemeClr>
                        </a:gs>
                        <a:gs pos="50000">
                          <a:schemeClr val="accent1">
                            <a:tint val="44500"/>
                            <a:satMod val="160000"/>
                          </a:schemeClr>
                        </a:gs>
                        <a:gs pos="100000">
                          <a:schemeClr val="accent1">
                            <a:tint val="23500"/>
                            <a:satMod val="160000"/>
                          </a:schemeClr>
                        </a:gs>
                      </a:gsLst>
                      <a:lin ang="18900000" scaled="1"/>
                      <a:tileRect/>
                    </a:gra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10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（栈顶）已缓存页面 </a:t>
                      </a:r>
                      <a:r>
                        <a:rPr lang="en-US" altLang="zh-CN" sz="110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PAGE_READWRITE</a:t>
                      </a:r>
                      <a:endParaRPr lang="zh-CN" altLang="en-US"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gradFill flip="none" rotWithShape="1">
                      <a:gsLst>
                        <a:gs pos="0">
                          <a:schemeClr val="accent1">
                            <a:tint val="66000"/>
                            <a:satMod val="160000"/>
                          </a:schemeClr>
                        </a:gs>
                        <a:gs pos="50000">
                          <a:schemeClr val="accent1">
                            <a:tint val="44500"/>
                            <a:satMod val="160000"/>
                          </a:schemeClr>
                        </a:gs>
                        <a:gs pos="100000">
                          <a:schemeClr val="accent1">
                            <a:tint val="23500"/>
                            <a:satMod val="160000"/>
                          </a:schemeClr>
                        </a:gs>
                      </a:gsLst>
                      <a:lin ang="18900000" scaled="1"/>
                      <a:tileRect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816113316"/>
                  </a:ext>
                </a:extLst>
              </a:tr>
              <a:tr h="342212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10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第二个页面</a:t>
                      </a:r>
                      <a:r>
                        <a:rPr lang="en-US" altLang="zh-CN" sz="110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4KB</a:t>
                      </a:r>
                      <a:endParaRPr lang="zh-CN" altLang="en-US" sz="1100" smtClean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gradFill flip="none" rotWithShape="1">
                      <a:gsLst>
                        <a:gs pos="0">
                          <a:schemeClr val="accent1">
                            <a:tint val="66000"/>
                            <a:satMod val="160000"/>
                          </a:schemeClr>
                        </a:gs>
                        <a:gs pos="50000">
                          <a:schemeClr val="accent1">
                            <a:tint val="44500"/>
                            <a:satMod val="160000"/>
                          </a:schemeClr>
                        </a:gs>
                        <a:gs pos="100000">
                          <a:schemeClr val="accent1">
                            <a:tint val="23500"/>
                            <a:satMod val="160000"/>
                          </a:schemeClr>
                        </a:gs>
                      </a:gsLst>
                      <a:lin ang="18900000" scaled="1"/>
                      <a:tileRect/>
                    </a:gra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10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已缓存页面 </a:t>
                      </a:r>
                      <a:r>
                        <a:rPr lang="en-US" altLang="zh-CN" sz="110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PAGE_GUARD</a:t>
                      </a:r>
                      <a:endParaRPr lang="zh-CN" altLang="en-US"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gradFill flip="none" rotWithShape="1">
                      <a:gsLst>
                        <a:gs pos="0">
                          <a:schemeClr val="accent1">
                            <a:tint val="66000"/>
                            <a:satMod val="160000"/>
                          </a:schemeClr>
                        </a:gs>
                        <a:gs pos="50000">
                          <a:schemeClr val="accent1">
                            <a:tint val="44500"/>
                            <a:satMod val="160000"/>
                          </a:schemeClr>
                        </a:gs>
                        <a:gs pos="100000">
                          <a:schemeClr val="accent1">
                            <a:tint val="23500"/>
                            <a:satMod val="160000"/>
                          </a:schemeClr>
                        </a:gs>
                      </a:gsLst>
                      <a:lin ang="18900000" scaled="1"/>
                      <a:tileRect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418997161"/>
                  </a:ext>
                </a:extLst>
              </a:tr>
              <a:tr h="342212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10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第三个页面</a:t>
                      </a:r>
                      <a:r>
                        <a:rPr lang="en-US" altLang="zh-CN" sz="110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4KB</a:t>
                      </a:r>
                      <a:endParaRPr lang="zh-CN" altLang="en-US" sz="1100" smtClean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gradFill flip="none" rotWithShape="1">
                      <a:gsLst>
                        <a:gs pos="0">
                          <a:schemeClr val="accent1">
                            <a:tint val="66000"/>
                            <a:satMod val="160000"/>
                          </a:schemeClr>
                        </a:gs>
                        <a:gs pos="50000">
                          <a:schemeClr val="accent1">
                            <a:tint val="44500"/>
                            <a:satMod val="160000"/>
                          </a:schemeClr>
                        </a:gs>
                        <a:gs pos="100000">
                          <a:schemeClr val="accent1">
                            <a:tint val="23500"/>
                            <a:satMod val="160000"/>
                          </a:schemeClr>
                        </a:gs>
                      </a:gsLst>
                      <a:lin ang="18900000" scaled="1"/>
                      <a:tileRect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10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已分配页面 </a:t>
                      </a:r>
                      <a:r>
                        <a:rPr lang="en-US" altLang="zh-CN" sz="110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PAGE_GUARD</a:t>
                      </a:r>
                      <a:endParaRPr lang="zh-CN" altLang="en-US" sz="1100" smtClean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gradFill flip="none" rotWithShape="1">
                      <a:gsLst>
                        <a:gs pos="0">
                          <a:schemeClr val="accent1">
                            <a:tint val="66000"/>
                            <a:satMod val="160000"/>
                          </a:schemeClr>
                        </a:gs>
                        <a:gs pos="50000">
                          <a:schemeClr val="accent1">
                            <a:tint val="44500"/>
                            <a:satMod val="160000"/>
                          </a:schemeClr>
                        </a:gs>
                        <a:gs pos="100000">
                          <a:schemeClr val="accent1">
                            <a:tint val="23500"/>
                            <a:satMod val="160000"/>
                          </a:schemeClr>
                        </a:gs>
                      </a:gsLst>
                      <a:lin ang="18900000" scaled="1"/>
                      <a:tileRect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948322033"/>
                  </a:ext>
                </a:extLst>
              </a:tr>
              <a:tr h="669349"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400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……</a:t>
                      </a:r>
                      <a:endParaRPr lang="zh-CN" altLang="en-US" sz="4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gradFill flip="none" rotWithShape="1">
                      <a:gsLst>
                        <a:gs pos="0">
                          <a:schemeClr val="accent1">
                            <a:tint val="66000"/>
                            <a:satMod val="160000"/>
                          </a:schemeClr>
                        </a:gs>
                        <a:gs pos="50000">
                          <a:schemeClr val="accent1">
                            <a:tint val="44500"/>
                            <a:satMod val="160000"/>
                          </a:schemeClr>
                        </a:gs>
                        <a:gs pos="100000">
                          <a:schemeClr val="accent1">
                            <a:tint val="23500"/>
                            <a:satMod val="160000"/>
                          </a:schemeClr>
                        </a:gs>
                      </a:gsLst>
                      <a:lin ang="18900000" scaled="1"/>
                      <a:tileRect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1946313"/>
                  </a:ext>
                </a:extLst>
              </a:tr>
              <a:tr h="342212">
                <a:tc>
                  <a:txBody>
                    <a:bodyPr/>
                    <a:lstStyle/>
                    <a:p>
                      <a:r>
                        <a:rPr lang="zh-CN" altLang="en-US" sz="110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倒数第二个页面</a:t>
                      </a:r>
                      <a:r>
                        <a:rPr lang="en-US" altLang="zh-CN" sz="110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4KB</a:t>
                      </a:r>
                      <a:endParaRPr lang="zh-CN" altLang="en-US"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gradFill flip="none" rotWithShape="1">
                      <a:gsLst>
                        <a:gs pos="0">
                          <a:schemeClr val="accent1">
                            <a:tint val="66000"/>
                            <a:satMod val="160000"/>
                          </a:schemeClr>
                        </a:gs>
                        <a:gs pos="50000">
                          <a:schemeClr val="accent1">
                            <a:tint val="44500"/>
                            <a:satMod val="160000"/>
                          </a:schemeClr>
                        </a:gs>
                        <a:gs pos="100000">
                          <a:schemeClr val="accent1">
                            <a:tint val="23500"/>
                            <a:satMod val="160000"/>
                          </a:schemeClr>
                        </a:gs>
                      </a:gsLst>
                      <a:lin ang="18900000" scaled="1"/>
                      <a:tileRect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10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已分配页面</a:t>
                      </a:r>
                      <a:r>
                        <a:rPr lang="en-US" altLang="zh-CN" sz="110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PAGE_GUARD</a:t>
                      </a:r>
                      <a:endParaRPr lang="zh-CN" altLang="en-US" sz="1100" smtClean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gradFill flip="none" rotWithShape="1">
                      <a:gsLst>
                        <a:gs pos="0">
                          <a:schemeClr val="accent1">
                            <a:tint val="66000"/>
                            <a:satMod val="160000"/>
                          </a:schemeClr>
                        </a:gs>
                        <a:gs pos="50000">
                          <a:schemeClr val="accent1">
                            <a:tint val="44500"/>
                            <a:satMod val="160000"/>
                          </a:schemeClr>
                        </a:gs>
                        <a:gs pos="100000">
                          <a:schemeClr val="accent1">
                            <a:tint val="23500"/>
                            <a:satMod val="160000"/>
                          </a:schemeClr>
                        </a:gs>
                      </a:gsLst>
                      <a:lin ang="18900000" scaled="1"/>
                      <a:tileRect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2824714129"/>
                  </a:ext>
                </a:extLst>
              </a:tr>
              <a:tr h="342212">
                <a:tc>
                  <a:txBody>
                    <a:bodyPr/>
                    <a:lstStyle/>
                    <a:p>
                      <a:r>
                        <a:rPr lang="zh-CN" altLang="en-US" sz="110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倒数第一个页面</a:t>
                      </a:r>
                      <a:r>
                        <a:rPr lang="en-US" altLang="zh-CN" sz="110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4KB</a:t>
                      </a:r>
                      <a:endParaRPr lang="zh-CN" altLang="en-US" sz="1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gradFill flip="none" rotWithShape="1">
                      <a:gsLst>
                        <a:gs pos="0">
                          <a:schemeClr val="accent1">
                            <a:tint val="66000"/>
                            <a:satMod val="160000"/>
                          </a:schemeClr>
                        </a:gs>
                        <a:gs pos="50000">
                          <a:schemeClr val="accent1">
                            <a:tint val="44500"/>
                            <a:satMod val="160000"/>
                          </a:schemeClr>
                        </a:gs>
                        <a:gs pos="100000">
                          <a:schemeClr val="accent1">
                            <a:tint val="23500"/>
                            <a:satMod val="160000"/>
                          </a:schemeClr>
                        </a:gs>
                      </a:gsLst>
                      <a:lin ang="18900000" scaled="1"/>
                      <a:tileRect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10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（栈底）已分配页面 </a:t>
                      </a:r>
                      <a:r>
                        <a:rPr lang="en-US" altLang="zh-CN" sz="110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PAGE_GUARD</a:t>
                      </a:r>
                      <a:endParaRPr lang="zh-CN" altLang="en-US" sz="1100" smtClean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gradFill flip="none" rotWithShape="1">
                      <a:gsLst>
                        <a:gs pos="0">
                          <a:schemeClr val="accent1">
                            <a:tint val="66000"/>
                            <a:satMod val="160000"/>
                          </a:schemeClr>
                        </a:gs>
                        <a:gs pos="50000">
                          <a:schemeClr val="accent1">
                            <a:tint val="44500"/>
                            <a:satMod val="160000"/>
                          </a:schemeClr>
                        </a:gs>
                        <a:gs pos="100000">
                          <a:schemeClr val="accent1">
                            <a:tint val="23500"/>
                            <a:satMod val="160000"/>
                          </a:schemeClr>
                        </a:gs>
                      </a:gsLst>
                      <a:lin ang="18900000" scaled="1"/>
                      <a:tileRect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2534401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4136938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93" y="1700944"/>
            <a:ext cx="7000875" cy="2066925"/>
          </a:xfrm>
          <a:prstGeom prst="rect">
            <a:avLst/>
          </a:prstGeom>
        </p:spPr>
      </p:pic>
      <p:sp>
        <p:nvSpPr>
          <p:cNvPr id="5" name="矩形 4"/>
          <p:cNvSpPr/>
          <p:nvPr/>
        </p:nvSpPr>
        <p:spPr>
          <a:xfrm>
            <a:off x="1881554" y="1987061"/>
            <a:ext cx="369276" cy="316521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标注 5"/>
          <p:cNvSpPr/>
          <p:nvPr/>
        </p:nvSpPr>
        <p:spPr>
          <a:xfrm>
            <a:off x="2000249" y="1405299"/>
            <a:ext cx="883628" cy="286117"/>
          </a:xfrm>
          <a:prstGeom prst="wedgeRectCallout">
            <a:avLst>
              <a:gd name="adj1" fmla="val -50458"/>
              <a:gd name="adj2" fmla="val 160835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smtClean="0">
                <a:solidFill>
                  <a:schemeClr val="tx1"/>
                </a:solidFill>
              </a:rPr>
              <a:t>窗口标题</a:t>
            </a:r>
            <a:endParaRPr lang="zh-CN" altLang="en-US" sz="1200">
              <a:solidFill>
                <a:schemeClr val="tx1"/>
              </a:solidFill>
            </a:endParaRPr>
          </a:p>
        </p:txBody>
      </p:sp>
      <p:sp>
        <p:nvSpPr>
          <p:cNvPr id="7" name="矩形 6"/>
          <p:cNvSpPr/>
          <p:nvPr/>
        </p:nvSpPr>
        <p:spPr>
          <a:xfrm>
            <a:off x="2362933" y="1987060"/>
            <a:ext cx="520944" cy="316521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标注 7"/>
          <p:cNvSpPr/>
          <p:nvPr/>
        </p:nvSpPr>
        <p:spPr>
          <a:xfrm>
            <a:off x="3071812" y="1414827"/>
            <a:ext cx="1166079" cy="286117"/>
          </a:xfrm>
          <a:prstGeom prst="wedgeRectCallout">
            <a:avLst>
              <a:gd name="adj1" fmla="val -89591"/>
              <a:gd name="adj2" fmla="val 145470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200" smtClean="0">
                <a:solidFill>
                  <a:schemeClr val="tx1"/>
                </a:solidFill>
              </a:rPr>
              <a:t>ui</a:t>
            </a:r>
            <a:r>
              <a:rPr lang="zh-CN" altLang="en-US" sz="1200" smtClean="0">
                <a:solidFill>
                  <a:schemeClr val="tx1"/>
                </a:solidFill>
              </a:rPr>
              <a:t>文件的名字</a:t>
            </a:r>
            <a:endParaRPr lang="zh-CN" altLang="en-US" sz="1200">
              <a:solidFill>
                <a:schemeClr val="tx1"/>
              </a:solidFill>
            </a:endParaRPr>
          </a:p>
        </p:txBody>
      </p:sp>
      <p:sp>
        <p:nvSpPr>
          <p:cNvPr id="9" name="矩形 8"/>
          <p:cNvSpPr/>
          <p:nvPr/>
        </p:nvSpPr>
        <p:spPr>
          <a:xfrm>
            <a:off x="1645992" y="1987060"/>
            <a:ext cx="235561" cy="29893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2455075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685801" y="1546141"/>
            <a:ext cx="2038350" cy="25391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zh-CN"/>
            </a:defPPr>
            <a:lvl1pPr>
              <a:defRPr sz="1050"/>
            </a:lvl1pPr>
          </a:lstStyle>
          <a:p>
            <a:r>
              <a:rPr lang="en-US" altLang="zh-CN" smtClean="0"/>
              <a:t>avformat_write_header(s,options)</a:t>
            </a:r>
            <a:endParaRPr lang="zh-CN" altLang="en-US"/>
          </a:p>
        </p:txBody>
      </p:sp>
      <p:sp>
        <p:nvSpPr>
          <p:cNvPr id="5" name="文本框 4"/>
          <p:cNvSpPr txBox="1"/>
          <p:nvPr/>
        </p:nvSpPr>
        <p:spPr>
          <a:xfrm>
            <a:off x="3060319" y="1546141"/>
            <a:ext cx="1962531" cy="25391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zh-CN"/>
            </a:defPPr>
            <a:lvl1pPr>
              <a:defRPr sz="1050">
                <a:solidFill>
                  <a:schemeClr val="dk1"/>
                </a:solidFill>
              </a:defRPr>
            </a:lvl1pPr>
            <a:lvl2pPr>
              <a:defRPr>
                <a:solidFill>
                  <a:schemeClr val="dk1"/>
                </a:solidFill>
              </a:defRPr>
            </a:lvl2pPr>
            <a:lvl3pPr>
              <a:defRPr>
                <a:solidFill>
                  <a:schemeClr val="dk1"/>
                </a:solidFill>
              </a:defRPr>
            </a:lvl3pPr>
            <a:lvl4pPr>
              <a:defRPr>
                <a:solidFill>
                  <a:schemeClr val="dk1"/>
                </a:solidFill>
              </a:defRPr>
            </a:lvl4pPr>
            <a:lvl5pPr>
              <a:defRPr>
                <a:solidFill>
                  <a:schemeClr val="dk1"/>
                </a:solidFill>
              </a:defRPr>
            </a:lvl5pPr>
            <a:lvl6pPr>
              <a:defRPr>
                <a:solidFill>
                  <a:schemeClr val="dk1"/>
                </a:solidFill>
              </a:defRPr>
            </a:lvl6pPr>
            <a:lvl7pPr>
              <a:defRPr>
                <a:solidFill>
                  <a:schemeClr val="dk1"/>
                </a:solidFill>
              </a:defRPr>
            </a:lvl7pPr>
            <a:lvl8pPr>
              <a:defRPr>
                <a:solidFill>
                  <a:schemeClr val="dk1"/>
                </a:solidFill>
              </a:defRPr>
            </a:lvl8pPr>
            <a:lvl9pPr>
              <a:defRPr>
                <a:solidFill>
                  <a:schemeClr val="dk1"/>
                </a:solidFill>
              </a:defRPr>
            </a:lvl9pPr>
          </a:lstStyle>
          <a:p>
            <a:r>
              <a:rPr lang="en-US" altLang="zh-CN"/>
              <a:t>avformat_init_output(s,options)</a:t>
            </a:r>
          </a:p>
        </p:txBody>
      </p:sp>
      <p:sp>
        <p:nvSpPr>
          <p:cNvPr id="6" name="文本框 5"/>
          <p:cNvSpPr txBox="1"/>
          <p:nvPr/>
        </p:nvSpPr>
        <p:spPr>
          <a:xfrm>
            <a:off x="5359019" y="1551980"/>
            <a:ext cx="1543431" cy="25391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zh-CN"/>
            </a:defPPr>
            <a:lvl1pPr>
              <a:defRPr sz="1050">
                <a:solidFill>
                  <a:schemeClr val="dk1"/>
                </a:solidFill>
              </a:defRPr>
            </a:lvl1pPr>
            <a:lvl2pPr>
              <a:defRPr>
                <a:solidFill>
                  <a:schemeClr val="dk1"/>
                </a:solidFill>
              </a:defRPr>
            </a:lvl2pPr>
            <a:lvl3pPr>
              <a:defRPr>
                <a:solidFill>
                  <a:schemeClr val="dk1"/>
                </a:solidFill>
              </a:defRPr>
            </a:lvl3pPr>
            <a:lvl4pPr>
              <a:defRPr>
                <a:solidFill>
                  <a:schemeClr val="dk1"/>
                </a:solidFill>
              </a:defRPr>
            </a:lvl4pPr>
            <a:lvl5pPr>
              <a:defRPr>
                <a:solidFill>
                  <a:schemeClr val="dk1"/>
                </a:solidFill>
              </a:defRPr>
            </a:lvl5pPr>
            <a:lvl6pPr>
              <a:defRPr>
                <a:solidFill>
                  <a:schemeClr val="dk1"/>
                </a:solidFill>
              </a:defRPr>
            </a:lvl6pPr>
            <a:lvl7pPr>
              <a:defRPr>
                <a:solidFill>
                  <a:schemeClr val="dk1"/>
                </a:solidFill>
              </a:defRPr>
            </a:lvl7pPr>
            <a:lvl8pPr>
              <a:defRPr>
                <a:solidFill>
                  <a:schemeClr val="dk1"/>
                </a:solidFill>
              </a:defRPr>
            </a:lvl8pPr>
            <a:lvl9pPr>
              <a:defRPr>
                <a:solidFill>
                  <a:schemeClr val="dk1"/>
                </a:solidFill>
              </a:defRPr>
            </a:lvl9pPr>
          </a:lstStyle>
          <a:p>
            <a:r>
              <a:rPr lang="en-US" altLang="zh-CN"/>
              <a:t>init_muxer(</a:t>
            </a:r>
            <a:r>
              <a:rPr lang="en-US" altLang="zh-CN"/>
              <a:t>s, options</a:t>
            </a:r>
            <a:r>
              <a:rPr lang="en-US" altLang="zh-CN"/>
              <a:t>)</a:t>
            </a:r>
          </a:p>
        </p:txBody>
      </p:sp>
      <p:sp>
        <p:nvSpPr>
          <p:cNvPr id="7" name="文本框 6"/>
          <p:cNvSpPr txBox="1"/>
          <p:nvPr/>
        </p:nvSpPr>
        <p:spPr>
          <a:xfrm>
            <a:off x="3060316" y="1925807"/>
            <a:ext cx="1962531" cy="577081"/>
          </a:xfrm>
          <a:prstGeom prst="rect">
            <a:avLst/>
          </a:prstGeom>
          <a:ln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zh-CN"/>
            </a:defPPr>
            <a:lvl1pPr>
              <a:defRPr sz="1050"/>
            </a:lvl1pPr>
          </a:lstStyle>
          <a:p>
            <a:pPr algn="ctr"/>
            <a:endParaRPr lang="en-US" altLang="zh-CN" smtClean="0"/>
          </a:p>
          <a:p>
            <a:pPr algn="ctr"/>
            <a:r>
              <a:rPr lang="en-US" altLang="zh-CN" smtClean="0"/>
              <a:t>s-</a:t>
            </a:r>
            <a:r>
              <a:rPr lang="en-US" altLang="zh-CN"/>
              <a:t>&gt;oformat-&gt;</a:t>
            </a:r>
            <a:r>
              <a:rPr lang="en-US" altLang="zh-CN"/>
              <a:t>write_header(s</a:t>
            </a:r>
            <a:r>
              <a:rPr lang="en-US" altLang="zh-CN" smtClean="0"/>
              <a:t>)</a:t>
            </a:r>
          </a:p>
          <a:p>
            <a:pPr algn="ctr"/>
            <a:endParaRPr lang="en-US" altLang="zh-CN" smtClean="0"/>
          </a:p>
        </p:txBody>
      </p:sp>
      <p:sp>
        <p:nvSpPr>
          <p:cNvPr id="8" name="文本框 7"/>
          <p:cNvSpPr txBox="1"/>
          <p:nvPr/>
        </p:nvSpPr>
        <p:spPr>
          <a:xfrm>
            <a:off x="3060316" y="2622754"/>
            <a:ext cx="1962531" cy="25391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zh-CN"/>
            </a:defPPr>
            <a:lvl1pPr>
              <a:defRPr sz="1050">
                <a:solidFill>
                  <a:schemeClr val="dk1"/>
                </a:solidFill>
              </a:defRPr>
            </a:lvl1pPr>
            <a:lvl2pPr>
              <a:defRPr>
                <a:solidFill>
                  <a:schemeClr val="dk1"/>
                </a:solidFill>
              </a:defRPr>
            </a:lvl2pPr>
            <a:lvl3pPr>
              <a:defRPr>
                <a:solidFill>
                  <a:schemeClr val="dk1"/>
                </a:solidFill>
              </a:defRPr>
            </a:lvl3pPr>
            <a:lvl4pPr>
              <a:defRPr>
                <a:solidFill>
                  <a:schemeClr val="dk1"/>
                </a:solidFill>
              </a:defRPr>
            </a:lvl4pPr>
            <a:lvl5pPr>
              <a:defRPr>
                <a:solidFill>
                  <a:schemeClr val="dk1"/>
                </a:solidFill>
              </a:defRPr>
            </a:lvl5pPr>
            <a:lvl6pPr>
              <a:defRPr>
                <a:solidFill>
                  <a:schemeClr val="dk1"/>
                </a:solidFill>
              </a:defRPr>
            </a:lvl6pPr>
            <a:lvl7pPr>
              <a:defRPr>
                <a:solidFill>
                  <a:schemeClr val="dk1"/>
                </a:solidFill>
              </a:defRPr>
            </a:lvl7pPr>
            <a:lvl8pPr>
              <a:defRPr>
                <a:solidFill>
                  <a:schemeClr val="dk1"/>
                </a:solidFill>
              </a:defRPr>
            </a:lvl8pPr>
            <a:lvl9pPr>
              <a:defRPr>
                <a:solidFill>
                  <a:schemeClr val="dk1"/>
                </a:solidFill>
              </a:defRPr>
            </a:lvl9pPr>
          </a:lstStyle>
          <a:p>
            <a:r>
              <a:rPr lang="en-US" altLang="zh-CN"/>
              <a:t>flush_if_needed(s)</a:t>
            </a:r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3060315" y="3071951"/>
            <a:ext cx="1962531" cy="25391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zh-CN"/>
            </a:defPPr>
            <a:lvl1pPr>
              <a:defRPr sz="1050">
                <a:solidFill>
                  <a:schemeClr val="dk1"/>
                </a:solidFill>
              </a:defRPr>
            </a:lvl1pPr>
            <a:lvl2pPr>
              <a:defRPr>
                <a:solidFill>
                  <a:schemeClr val="dk1"/>
                </a:solidFill>
              </a:defRPr>
            </a:lvl2pPr>
            <a:lvl3pPr>
              <a:defRPr>
                <a:solidFill>
                  <a:schemeClr val="dk1"/>
                </a:solidFill>
              </a:defRPr>
            </a:lvl3pPr>
            <a:lvl4pPr>
              <a:defRPr>
                <a:solidFill>
                  <a:schemeClr val="dk1"/>
                </a:solidFill>
              </a:defRPr>
            </a:lvl4pPr>
            <a:lvl5pPr>
              <a:defRPr>
                <a:solidFill>
                  <a:schemeClr val="dk1"/>
                </a:solidFill>
              </a:defRPr>
            </a:lvl5pPr>
            <a:lvl6pPr>
              <a:defRPr>
                <a:solidFill>
                  <a:schemeClr val="dk1"/>
                </a:solidFill>
              </a:defRPr>
            </a:lvl6pPr>
            <a:lvl7pPr>
              <a:defRPr>
                <a:solidFill>
                  <a:schemeClr val="dk1"/>
                </a:solidFill>
              </a:defRPr>
            </a:lvl7pPr>
            <a:lvl8pPr>
              <a:defRPr>
                <a:solidFill>
                  <a:schemeClr val="dk1"/>
                </a:solidFill>
              </a:defRPr>
            </a:lvl8pPr>
            <a:lvl9pPr>
              <a:defRPr>
                <a:solidFill>
                  <a:schemeClr val="dk1"/>
                </a:solidFill>
              </a:defRPr>
            </a:lvl9pPr>
          </a:lstStyle>
          <a:p>
            <a:r>
              <a:rPr lang="en-US" altLang="zh-CN"/>
              <a:t>init_pts(s)</a:t>
            </a:r>
            <a:endParaRPr lang="zh-CN" altLang="en-US"/>
          </a:p>
        </p:txBody>
      </p:sp>
      <p:cxnSp>
        <p:nvCxnSpPr>
          <p:cNvPr id="11" name="直接箭头连接符 10"/>
          <p:cNvCxnSpPr>
            <a:stCxn id="4" idx="3"/>
            <a:endCxn id="5" idx="1"/>
          </p:cNvCxnSpPr>
          <p:nvPr/>
        </p:nvCxnSpPr>
        <p:spPr>
          <a:xfrm>
            <a:off x="2724151" y="1673099"/>
            <a:ext cx="33616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箭头连接符 12"/>
          <p:cNvCxnSpPr>
            <a:stCxn id="5" idx="3"/>
            <a:endCxn id="6" idx="1"/>
          </p:cNvCxnSpPr>
          <p:nvPr/>
        </p:nvCxnSpPr>
        <p:spPr>
          <a:xfrm>
            <a:off x="5022850" y="1673099"/>
            <a:ext cx="336169" cy="58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肘形连接符 14"/>
          <p:cNvCxnSpPr>
            <a:stCxn id="4" idx="3"/>
            <a:endCxn id="7" idx="1"/>
          </p:cNvCxnSpPr>
          <p:nvPr/>
        </p:nvCxnSpPr>
        <p:spPr>
          <a:xfrm>
            <a:off x="2724151" y="1673099"/>
            <a:ext cx="336165" cy="541249"/>
          </a:xfrm>
          <a:prstGeom prst="bentConnector3">
            <a:avLst/>
          </a:prstGeom>
          <a:ln w="190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肘形连接符 20"/>
          <p:cNvCxnSpPr>
            <a:stCxn id="4" idx="3"/>
            <a:endCxn id="8" idx="1"/>
          </p:cNvCxnSpPr>
          <p:nvPr/>
        </p:nvCxnSpPr>
        <p:spPr>
          <a:xfrm>
            <a:off x="2724151" y="1673099"/>
            <a:ext cx="336165" cy="1076613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肘形连接符 22"/>
          <p:cNvCxnSpPr>
            <a:stCxn id="4" idx="3"/>
            <a:endCxn id="9" idx="1"/>
          </p:cNvCxnSpPr>
          <p:nvPr/>
        </p:nvCxnSpPr>
        <p:spPr>
          <a:xfrm>
            <a:off x="2724151" y="1673099"/>
            <a:ext cx="336164" cy="152581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408882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11773</TotalTime>
  <Words>1207</Words>
  <Application>Microsoft Office PowerPoint</Application>
  <PresentationFormat>宽屏</PresentationFormat>
  <Paragraphs>416</Paragraphs>
  <Slides>21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21</vt:i4>
      </vt:variant>
    </vt:vector>
  </HeadingPairs>
  <TitlesOfParts>
    <vt:vector size="27" baseType="lpstr">
      <vt:lpstr>等线</vt:lpstr>
      <vt:lpstr>等线 Light</vt:lpstr>
      <vt:lpstr>宋体</vt:lpstr>
      <vt:lpstr>Arial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Myth</dc:creator>
  <cp:lastModifiedBy>Myth</cp:lastModifiedBy>
  <cp:revision>72</cp:revision>
  <dcterms:created xsi:type="dcterms:W3CDTF">2019-01-14T11:49:30Z</dcterms:created>
  <dcterms:modified xsi:type="dcterms:W3CDTF">2019-08-29T15:29:11Z</dcterms:modified>
</cp:coreProperties>
</file>